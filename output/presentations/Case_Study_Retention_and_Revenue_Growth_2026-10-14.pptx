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6.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7.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8e03fb834384464" /><Relationship Type="http://schemas.openxmlformats.org/officeDocument/2006/relationships/extended-properties" Target="/docProps/app.xml" Id="R9b414fbbaba144a1" /><Relationship Type="http://schemas.openxmlformats.org/officeDocument/2006/relationships/officeDocument" Target="/ppt/presentation.xml" Id="Rcea41b69562240d9" /></Relationships>
</file>

<file path=ppt/presentation.xml><?xml version="1.0" encoding="utf-8"?>
<p:presentation xmlns:p="http://schemas.openxmlformats.org/presentationml/2006/main">
  <p:sldMasterIdLst>
    <p:sldMasterId xmlns:r="http://schemas.openxmlformats.org/officeDocument/2006/relationships" id="2147483648" r:id="Raa8e13d6fdc847d6"/>
  </p:sldMasterIdLst>
  <p:notesMasterIdLst>
    <p:notesMasterId xmlns:r="http://schemas.openxmlformats.org/officeDocument/2006/relationships" r:id="R9b18348bc6dd453f"/>
  </p:notesMasterIdLst>
  <p:sldIdLst>
    <p:sldId xmlns:r="http://schemas.openxmlformats.org/officeDocument/2006/relationships" id="256" r:id="R70de2f309ab749b0"/>
    <p:sldId xmlns:r="http://schemas.openxmlformats.org/officeDocument/2006/relationships" id="257" r:id="R077f3466cc24442e"/>
    <p:sldId xmlns:r="http://schemas.openxmlformats.org/officeDocument/2006/relationships" id="258" r:id="Rcadd43207d97450d"/>
    <p:sldId xmlns:r="http://schemas.openxmlformats.org/officeDocument/2006/relationships" id="259" r:id="R845b941cbdf941ff"/>
    <p:sldId xmlns:r="http://schemas.openxmlformats.org/officeDocument/2006/relationships" id="260" r:id="Ref72870eabeb4e30"/>
    <p:sldId xmlns:r="http://schemas.openxmlformats.org/officeDocument/2006/relationships" id="261" r:id="R73955e9eb81c4529"/>
    <p:sldId xmlns:r="http://schemas.openxmlformats.org/officeDocument/2006/relationships" id="262" r:id="Rec7be01f6ae74b27"/>
    <p:sldId xmlns:r="http://schemas.openxmlformats.org/officeDocument/2006/relationships" id="263" r:id="Re1ad73e4bfc24e45"/>
    <p:sldId xmlns:r="http://schemas.openxmlformats.org/officeDocument/2006/relationships" id="264" r:id="R521c673d04594828"/>
    <p:sldId xmlns:r="http://schemas.openxmlformats.org/officeDocument/2006/relationships" id="265" r:id="R71c35957a0824018"/>
    <p:sldId xmlns:r="http://schemas.openxmlformats.org/officeDocument/2006/relationships" id="266" r:id="R6c352d1954a446cd"/>
    <p:sldId xmlns:r="http://schemas.openxmlformats.org/officeDocument/2006/relationships" id="267" r:id="Rbfea59d583284d26"/>
    <p:sldId xmlns:r="http://schemas.openxmlformats.org/officeDocument/2006/relationships" id="268" r:id="R226846676024409e"/>
    <p:sldId xmlns:r="http://schemas.openxmlformats.org/officeDocument/2006/relationships" id="269" r:id="R7f9e4639e0974187"/>
    <p:sldId xmlns:r="http://schemas.openxmlformats.org/officeDocument/2006/relationships" id="270" r:id="R09ece12d0f4d47bc"/>
    <p:sldId xmlns:r="http://schemas.openxmlformats.org/officeDocument/2006/relationships" id="271" r:id="R98eb37d714c744cc"/>
    <p:sldId xmlns:r="http://schemas.openxmlformats.org/officeDocument/2006/relationships" id="272" r:id="R85ead3ed9d0143f6"/>
    <p:sldId xmlns:r="http://schemas.openxmlformats.org/officeDocument/2006/relationships" id="273" r:id="Rf4afcb90f4884450"/>
    <p:sldId xmlns:r="http://schemas.openxmlformats.org/officeDocument/2006/relationships" id="274" r:id="Rae61c12acf5d4b3b"/>
    <p:sldId xmlns:r="http://schemas.openxmlformats.org/officeDocument/2006/relationships" id="275" r:id="R83cf0bd58c034805"/>
    <p:sldId xmlns:r="http://schemas.openxmlformats.org/officeDocument/2006/relationships" id="276" r:id="R1e86135fa1a848dd"/>
    <p:sldId xmlns:r="http://schemas.openxmlformats.org/officeDocument/2006/relationships" id="277" r:id="Rf784fb8460d54028"/>
    <p:sldId xmlns:r="http://schemas.openxmlformats.org/officeDocument/2006/relationships" id="278" r:id="Ra3375d109cbe4ea8"/>
    <p:sldId xmlns:r="http://schemas.openxmlformats.org/officeDocument/2006/relationships" id="279" r:id="Rdde2ec7b09694b0e"/>
    <p:sldId xmlns:r="http://schemas.openxmlformats.org/officeDocument/2006/relationships" id="280" r:id="Re1e21cf931244681"/>
    <p:sldId xmlns:r="http://schemas.openxmlformats.org/officeDocument/2006/relationships" id="281" r:id="Rfac36777d9e0426e"/>
    <p:sldId xmlns:r="http://schemas.openxmlformats.org/officeDocument/2006/relationships" id="282" r:id="R7dea13bef0794384"/>
    <p:sldId xmlns:r="http://schemas.openxmlformats.org/officeDocument/2006/relationships" id="283" r:id="R978f5fadca924b18"/>
    <p:sldId xmlns:r="http://schemas.openxmlformats.org/officeDocument/2006/relationships" id="284" r:id="Re13e02aff92043d3"/>
    <p:sldId xmlns:r="http://schemas.openxmlformats.org/officeDocument/2006/relationships" id="285" r:id="Rb8be855f024f4985"/>
    <p:sldId xmlns:r="http://schemas.openxmlformats.org/officeDocument/2006/relationships" id="286" r:id="Ra5ebb6335f5741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85630e3db74977" /><Relationship Type="http://schemas.openxmlformats.org/officeDocument/2006/relationships/slideMaster" Target="/ppt/slideMasters/slideMaster1.xml" Id="Raa8e13d6fdc847d6" /><Relationship Type="http://schemas.openxmlformats.org/officeDocument/2006/relationships/notesMaster" Target="/ppt/notesMasters/notesMaster1.xml" Id="R9b18348bc6dd453f" /><Relationship Type="http://schemas.openxmlformats.org/officeDocument/2006/relationships/presProps" Target="/ppt/presProps.xml" Id="Rd8e863ff33914994" /><Relationship Type="http://schemas.openxmlformats.org/officeDocument/2006/relationships/tableStyles" Target="/ppt/tableStyles.xml" Id="R3d304cf2ddce42d0" /><Relationship Type="http://schemas.openxmlformats.org/officeDocument/2006/relationships/slide" Target="/ppt/slides/slide1.xml" Id="R70de2f309ab749b0" /><Relationship Type="http://schemas.openxmlformats.org/officeDocument/2006/relationships/slide" Target="/ppt/slides/slide2.xml" Id="R077f3466cc24442e" /><Relationship Type="http://schemas.openxmlformats.org/officeDocument/2006/relationships/slide" Target="/ppt/slides/slide3.xml" Id="Rcadd43207d97450d" /><Relationship Type="http://schemas.openxmlformats.org/officeDocument/2006/relationships/slide" Target="/ppt/slides/slide4.xml" Id="R845b941cbdf941ff" /><Relationship Type="http://schemas.openxmlformats.org/officeDocument/2006/relationships/slide" Target="/ppt/slides/slide5.xml" Id="Ref72870eabeb4e30" /><Relationship Type="http://schemas.openxmlformats.org/officeDocument/2006/relationships/slide" Target="/ppt/slides/slide6.xml" Id="R73955e9eb81c4529" /><Relationship Type="http://schemas.openxmlformats.org/officeDocument/2006/relationships/slide" Target="/ppt/slides/slide7.xml" Id="Rec7be01f6ae74b27" /><Relationship Type="http://schemas.openxmlformats.org/officeDocument/2006/relationships/slide" Target="/ppt/slides/slide8.xml" Id="Re1ad73e4bfc24e45" /><Relationship Type="http://schemas.openxmlformats.org/officeDocument/2006/relationships/slide" Target="/ppt/slides/slide9.xml" Id="R521c673d04594828" /><Relationship Type="http://schemas.openxmlformats.org/officeDocument/2006/relationships/slide" Target="/ppt/slides/slide10.xml" Id="R71c35957a0824018" /><Relationship Type="http://schemas.openxmlformats.org/officeDocument/2006/relationships/slide" Target="/ppt/slides/slide11.xml" Id="R6c352d1954a446cd" /><Relationship Type="http://schemas.openxmlformats.org/officeDocument/2006/relationships/slide" Target="/ppt/slides/slide12.xml" Id="Rbfea59d583284d26" /><Relationship Type="http://schemas.openxmlformats.org/officeDocument/2006/relationships/slide" Target="/ppt/slides/slide13.xml" Id="R226846676024409e" /><Relationship Type="http://schemas.openxmlformats.org/officeDocument/2006/relationships/slide" Target="/ppt/slides/slide14.xml" Id="R7f9e4639e0974187" /><Relationship Type="http://schemas.openxmlformats.org/officeDocument/2006/relationships/slide" Target="/ppt/slides/slide15.xml" Id="R09ece12d0f4d47bc" /><Relationship Type="http://schemas.openxmlformats.org/officeDocument/2006/relationships/slide" Target="/ppt/slides/slide16.xml" Id="R98eb37d714c744cc" /><Relationship Type="http://schemas.openxmlformats.org/officeDocument/2006/relationships/slide" Target="/ppt/slides/slide17.xml" Id="R85ead3ed9d0143f6" /><Relationship Type="http://schemas.openxmlformats.org/officeDocument/2006/relationships/slide" Target="/ppt/slides/slide18.xml" Id="Rf4afcb90f4884450" /><Relationship Type="http://schemas.openxmlformats.org/officeDocument/2006/relationships/slide" Target="/ppt/slides/slide19.xml" Id="Rae61c12acf5d4b3b" /><Relationship Type="http://schemas.openxmlformats.org/officeDocument/2006/relationships/slide" Target="/ppt/slides/slide20.xml" Id="R83cf0bd58c034805" /><Relationship Type="http://schemas.openxmlformats.org/officeDocument/2006/relationships/slide" Target="/ppt/slides/slide21.xml" Id="R1e86135fa1a848dd" /><Relationship Type="http://schemas.openxmlformats.org/officeDocument/2006/relationships/slide" Target="/ppt/slides/slide22.xml" Id="Rf784fb8460d54028" /><Relationship Type="http://schemas.openxmlformats.org/officeDocument/2006/relationships/slide" Target="/ppt/slides/slide23.xml" Id="Ra3375d109cbe4ea8" /><Relationship Type="http://schemas.openxmlformats.org/officeDocument/2006/relationships/slide" Target="/ppt/slides/slide24.xml" Id="Rdde2ec7b09694b0e" /><Relationship Type="http://schemas.openxmlformats.org/officeDocument/2006/relationships/slide" Target="/ppt/slides/slide25.xml" Id="Re1e21cf931244681" /><Relationship Type="http://schemas.openxmlformats.org/officeDocument/2006/relationships/slide" Target="/ppt/slides/slide26.xml" Id="Rfac36777d9e0426e" /><Relationship Type="http://schemas.openxmlformats.org/officeDocument/2006/relationships/slide" Target="/ppt/slides/slide27.xml" Id="R7dea13bef0794384" /><Relationship Type="http://schemas.openxmlformats.org/officeDocument/2006/relationships/slide" Target="/ppt/slides/slide28.xml" Id="R978f5fadca924b18" /><Relationship Type="http://schemas.openxmlformats.org/officeDocument/2006/relationships/slide" Target="/ppt/slides/slide29.xml" Id="Re13e02aff92043d3" /><Relationship Type="http://schemas.openxmlformats.org/officeDocument/2006/relationships/slide" Target="/ppt/slides/slide30.xml" Id="Rb8be855f024f4985" /><Relationship Type="http://schemas.openxmlformats.org/officeDocument/2006/relationships/slide" Target="/ppt/slides/slide31.xml" Id="Ra5ebb6335f5741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820958d62742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ecb683eeed4f49" /><Relationship Type="http://schemas.openxmlformats.org/officeDocument/2006/relationships/notesMaster" Target="/ppt/notesMasters/notesMaster1.xml" Id="R833bdf24e0c049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02864262f548c3" /><Relationship Type="http://schemas.openxmlformats.org/officeDocument/2006/relationships/notesMaster" Target="/ppt/notesMasters/notesMaster1.xml" Id="Rb7c5fcd273754a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6e7bcb81cd45d0" /><Relationship Type="http://schemas.openxmlformats.org/officeDocument/2006/relationships/notesMaster" Target="/ppt/notesMasters/notesMaster1.xml" Id="R8a42bca3ef2546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64841b9f994d1e" /><Relationship Type="http://schemas.openxmlformats.org/officeDocument/2006/relationships/notesMaster" Target="/ppt/notesMasters/notesMaster1.xml" Id="R3b70d33d88534d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8640fad0b64027" /><Relationship Type="http://schemas.openxmlformats.org/officeDocument/2006/relationships/notesMaster" Target="/ppt/notesMasters/notesMaster1.xml" Id="Rf8bf2e1ebd5246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2e2063e2594ba2" /><Relationship Type="http://schemas.openxmlformats.org/officeDocument/2006/relationships/notesMaster" Target="/ppt/notesMasters/notesMaster1.xml" Id="Ra3b0090d17d442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c39ff78953473b" /><Relationship Type="http://schemas.openxmlformats.org/officeDocument/2006/relationships/notesMaster" Target="/ppt/notesMasters/notesMaster1.xml" Id="R9a2c1f09f61a43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14b02faf0449bf" /><Relationship Type="http://schemas.openxmlformats.org/officeDocument/2006/relationships/notesMaster" Target="/ppt/notesMasters/notesMaster1.xml" Id="Rb2d96ffe4c774c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3100b6badc42b5" /><Relationship Type="http://schemas.openxmlformats.org/officeDocument/2006/relationships/notesMaster" Target="/ppt/notesMasters/notesMaster1.xml" Id="R94669a11e5014d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95c280eb8648c1" /><Relationship Type="http://schemas.openxmlformats.org/officeDocument/2006/relationships/notesMaster" Target="/ppt/notesMasters/notesMaster1.xml" Id="R809fa716769e45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16ffc010f7478f" /><Relationship Type="http://schemas.openxmlformats.org/officeDocument/2006/relationships/notesMaster" Target="/ppt/notesMasters/notesMaster1.xml" Id="R590573da38b641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4219ff25ad4d31" /><Relationship Type="http://schemas.openxmlformats.org/officeDocument/2006/relationships/notesMaster" Target="/ppt/notesMasters/notesMaster1.xml" Id="Rd220a3617da84e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1be722fa4c4d9c" /><Relationship Type="http://schemas.openxmlformats.org/officeDocument/2006/relationships/notesMaster" Target="/ppt/notesMasters/notesMaster1.xml" Id="R97262b29ec5442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5f448766b84e1f" /><Relationship Type="http://schemas.openxmlformats.org/officeDocument/2006/relationships/notesMaster" Target="/ppt/notesMasters/notesMaster1.xml" Id="R055412079b0842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e5268218944522" /><Relationship Type="http://schemas.openxmlformats.org/officeDocument/2006/relationships/notesMaster" Target="/ppt/notesMasters/notesMaster1.xml" Id="R28d3bcbc644941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f6b5746bfc418a" /><Relationship Type="http://schemas.openxmlformats.org/officeDocument/2006/relationships/notesMaster" Target="/ppt/notesMasters/notesMaster1.xml" Id="R560087db797e41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b9229648bf4bb0" /><Relationship Type="http://schemas.openxmlformats.org/officeDocument/2006/relationships/notesMaster" Target="/ppt/notesMasters/notesMaster1.xml" Id="R7f33bf0560ca45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dce09547fa4118" /><Relationship Type="http://schemas.openxmlformats.org/officeDocument/2006/relationships/notesMaster" Target="/ppt/notesMasters/notesMaster1.xml" Id="R57920c754c7948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90a48955ea34dfa" /><Relationship Type="http://schemas.openxmlformats.org/officeDocument/2006/relationships/notesMaster" Target="/ppt/notesMasters/notesMaster1.xml" Id="R636496cc3b944b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2bc4c32e204861" /><Relationship Type="http://schemas.openxmlformats.org/officeDocument/2006/relationships/notesMaster" Target="/ppt/notesMasters/notesMaster1.xml" Id="Rb9cc3089e549414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4c192788cf84a0d" /><Relationship Type="http://schemas.openxmlformats.org/officeDocument/2006/relationships/notesMaster" Target="/ppt/notesMasters/notesMaster1.xml" Id="R626567e667eb4ab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8a84571aba145d6" /><Relationship Type="http://schemas.openxmlformats.org/officeDocument/2006/relationships/notesMaster" Target="/ppt/notesMasters/notesMaster1.xml" Id="R69a74d52d11149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811ba49b37d4ecd" /><Relationship Type="http://schemas.openxmlformats.org/officeDocument/2006/relationships/notesMaster" Target="/ppt/notesMasters/notesMaster1.xml" Id="R98315866458641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ab6c014d75478b" /><Relationship Type="http://schemas.openxmlformats.org/officeDocument/2006/relationships/notesMaster" Target="/ppt/notesMasters/notesMaster1.xml" Id="Ra931e3ebcd9143e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26f3c5d58794f89" /><Relationship Type="http://schemas.openxmlformats.org/officeDocument/2006/relationships/notesMaster" Target="/ppt/notesMasters/notesMaster1.xml" Id="R9a61e9d69c4d45c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72b7ac5bd6846ba" /><Relationship Type="http://schemas.openxmlformats.org/officeDocument/2006/relationships/notesMaster" Target="/ppt/notesMasters/notesMaster1.xml" Id="Ra881f37febe0413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f54bfa231b744b1" /><Relationship Type="http://schemas.openxmlformats.org/officeDocument/2006/relationships/notesMaster" Target="/ppt/notesMasters/notesMaster1.xml" Id="R005cf5e007a048e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16f3fc142494bf7" /><Relationship Type="http://schemas.openxmlformats.org/officeDocument/2006/relationships/notesMaster" Target="/ppt/notesMasters/notesMaster1.xml" Id="Ra6399df5466040b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61c3b5dc4224706" /><Relationship Type="http://schemas.openxmlformats.org/officeDocument/2006/relationships/notesMaster" Target="/ppt/notesMasters/notesMaster1.xml" Id="R5dcbca2739bb457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1b639d92d6b49e8" /><Relationship Type="http://schemas.openxmlformats.org/officeDocument/2006/relationships/notesMaster" Target="/ppt/notesMasters/notesMaster1.xml" Id="R23b1f822b5974b3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9e9aef0ba7b4e11" /><Relationship Type="http://schemas.openxmlformats.org/officeDocument/2006/relationships/notesMaster" Target="/ppt/notesMasters/notesMaster1.xml" Id="R6c183100a7124e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business problem: customer-success teams have limited time to review renewals. I use synthetic cybersecurity subscription histories to test whether customer-experience signals can identify cancellations and help decide whom to contact. The presentation distinguishes cancellation identification, financial exposure and actual intervention impact. All prices, company histories and outcomes are simulated. </a:t>
            </a:r>
          </a:p>
          <a:p xmlns:a="http://schemas.openxmlformats.org/drawingml/2006/main">
            <a:r>
              <a:t>Source: Case-study brief; customer_management_scope.md</a:t>
            </a:r>
          </a:p>
          <a:p xmlns:a="http://schemas.openxmlformats.org/drawingml/2006/main">
            <a:r>
              <a:t>Suggested delivery: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prediction describes one subscription product for one purchasing account and one contract term. The positive outcome requires an actual cancellation event. A mature zero means no such event was recorded, and does not establish renewal. A company may cancel one product and keep others. At the prediction date, I use only available history. Ninety days later the contract expires. I wait a further 90 days to observe the outcome. This follow-up assumption is separate from any product entitlement grace period. The meeting accepted multi-year terms if I stated these definitions. </a:t>
            </a:r>
          </a:p>
          <a:p xmlns:a="http://schemas.openxmlformats.org/drawingml/2006/main">
            <a:r>
              <a:t>Source: part2/src/build_features.py; transcript 02:34 to 06:17</a:t>
            </a:r>
          </a:p>
          <a:p xmlns:a="http://schemas.openxmlformats.org/drawingml/2006/main">
            <a:r>
              <a:t>Suggested delivery: 90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Parent organizations group related purchasing accounts. Purchasing accounts make commercial purchases. Each account can hold multiple product-subscription lines, with renewal terms recorded separately. Teams use products through deployments, which are operating installations. Teams are not independent cancellation labels in this dataset. We predict at contract level and select one lead contract per account when assigning reviews. A lead is the contract with the highest score under the chosen policy. The same account can therefore have a different lead under a different ranking. All accounts are assumed directly managed for the case study. </a:t>
            </a:r>
          </a:p>
          <a:p xmlns:a="http://schemas.openxmlformats.org/drawingml/2006/main">
            <a:r>
              <a:t>Source: data/raw/parent_orgs.csv; companies.csv; order_item_fact.csv; customer_management_scope.md; transcript 02:01 to 04:56</a:t>
            </a:r>
          </a:p>
          <a:p xmlns:a="http://schemas.openxmlformats.org/drawingml/2006/main">
            <a:r>
              <a:t>Suggested delivery: 75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customer CSVs were supplied, so I generated connected B2B cybersecurity records. Random draws create variation in customer size, initial product ownership, contract terms and quantities. Hidden customer-experience conditions influence both observable product behavior and renewal risk, with noise and independent outcome draws. Renewals run in calendar order across products so a future cancellation cannot change a past portfolio. Telemetry, support and relationship records follow valid contract and deployment lifetimes. Finally I inject declared source errors to exercise cleaning. The simulator truth labels and risk probabilities never enter model inputs. Company sizes and terms use categorical draws. Budgets are lognormal. Ticket counts use a Poisson process scaled by exposure and onboarding. Successful workflows use binomial draws and cancellation is sampled as a Bernoulli outcome. Gaussian noise varies the shared experience measurements. These distribution choices are assumptions. A fixed seed makes the process reproducible. The observations imitate plausible mechanisms rather than representing PANW measurements. </a:t>
            </a:r>
          </a:p>
          <a:p xmlns:a="http://schemas.openxmlformats.org/drawingml/2006/main">
            <a:r>
              <a:t>Source: src/generate_data.py; config/simulation.yaml; transcript 00:31 to 01:43</a:t>
            </a:r>
          </a:p>
          <a:p xmlns:a="http://schemas.openxmlformats.org/drawingml/2006/main">
            <a:r>
              <a:t>Suggested delivery: 100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annual cancellation risk anchors are assumptions: 8% for small and medium businesses, 5% midmarket, 2.5% enterprise and 1% large enterprise. They do not mean size itself causes churn. Experience and commercial conditions adjust individual risk. The simulator converts annual risk to the contract term, so unchanged 8% annual risk becomes 1 minus 0.92 cubed, about 22.13%, over three years. Realized contract cancellation percentages need not equal annual anchors. Main instrumentation is reliable. Missing or inapplicable product histories remain distinguishable from confirmed zero use. The observation period is October 2021 to October 2026, with opening histories back to October 2018. Prices and customer mix are not calibrated to PANW financials. No intervention effect is simulated. </a:t>
            </a:r>
          </a:p>
          <a:p xmlns:a="http://schemas.openxmlformats.org/drawingml/2006/main">
            <a:r>
              <a:t>Source: config/simulation.yaml; docs/simulation_assumptions.md; transcript 05:01 to 09:25</a:t>
            </a:r>
          </a:p>
          <a:p xmlns:a="http://schemas.openxmlformats.org/drawingml/2006/main">
            <a:r>
              <a:t>Suggested delivery: 90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simulation deliberately includes interactions: two problems together can raise risk more than the sum of separate warning signs. These are chosen mechanisms, not empirical findings about Palo Alto Networks. Deployment gap above 45 percent with value deterioration above 35 percent adds 3.2 to log odds. Value deterioration above 55 percent with deployment gap above 15 percent adds 2.2. Commercial pressure above 60 percent with value deterioration above 20 percent adds 1.2. Service problems above 20 percent with deployment gap above 30 percent add 0.8. Smooth main effects also contribute. A separate fixed reference population of 20,000 latent customers per segment sets intercepts to the annual risk anchors without using outcome labels. Term conversion and caps follow afterward. Coverage blends 75 percent shared experience with 25 percent deployment trajectory and weekly noise. Workflow success has mean 0.90 minus 0.80 times value deterioration, plus noise. A probabilistic draw determines cancellation. The learned model receives noisy observed history, not those latent states or the generator formula. These strengths were fixed before generating the reported populations. Explain the mechanism, not every coefficient.</a:t>
            </a:r>
          </a:p>
          <a:p xmlns:a="http://schemas.openxmlformats.org/drawingml/2006/main">
            <a:r>
              <a:t>Source: config/simulation.yaml experience_scenario; src/generate_data.py; simulation_assumptions.md SA-011</a:t>
            </a:r>
          </a:p>
          <a:p xmlns:a="http://schemas.openxmlformats.org/drawingml/2006/main">
            <a:r>
              <a:t>Suggested delivery: 110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required relational tables are users, orders, order_items and products. Users are business contacts rather than the unit of retention. Order items link product quantities and values to orders. Additional records describe company hierarchy, teams, deployments, entitlements, operating observations, support cases, CRM interactions and renewal quotes. A foreign-key check means that an identifier must point to a real record. A join-cardinality check prevents combining tables from multiplying transactions. Recoverable duplicates keep their valid dated copy. Irrecoverable rows go to quarantine with reasons. The final renewal feature row contains only facts available by its prediction date. Part 1 passed 35 checks on the saved data. </a:t>
            </a:r>
          </a:p>
          <a:p xmlns:a="http://schemas.openxmlformats.org/drawingml/2006/main">
            <a:r>
              <a:t>Source: outputs/quality_report.json; src/ingest_clean.py; src/integrate.py</a:t>
            </a:r>
          </a:p>
          <a:p xmlns:a="http://schemas.openxmlformats.org/drawingml/2006/main">
            <a:r>
              <a:t>Suggested delivery: 90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EDA means exploring the data before modeling. The chart counts distinct eligible orders containing each product, not incompatible license quantities. Support purchases can accompany product purchases and renewals. Average order value is total eligible order value divided by eligible order count. The highest AOV account is Richardson, Wood and Durham, at 20.07 million across 1 order. Its largest product contribution is Prisma Cloud CWP. The highest AOV repeat buyer is Williams, Hull and Chan, at 11.08 million across 3 orders. These large amounts arise from invented prices, quantities and terms. They are not PANW pricing estimates or evidence of customer loyalty.</a:t>
            </a:r>
          </a:p>
          <a:p xmlns:a="http://schemas.openxmlformats.org/drawingml/2006/main">
            <a:r>
              <a:t>Source: outputs/eda_top20_ordered_items.csv; outputs/eda_summary.json</a:t>
            </a:r>
          </a:p>
          <a:p xmlns:a="http://schemas.openxmlformats.org/drawingml/2006/main">
            <a:r>
              <a:t>Suggested delivery: 90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Cybersecurity products can protect customers without frequent administrator logins. Coverage measures the share of intended scope actually protected, for example protected endpoints out of eligible endpoints. Productive use means that the relevant workflow succeeds, such as successful scans or automated response. For an endpoint example the intended and eligible pools can be the same. In the feature table, average coverage specifically uses active divided by eligible deployment units, while deployment reach compares deployed targets with the intended environment, which can be broader. Neither ratio is a measured percentage of attacks prevented. I consider both level and change over time. Stable high protection can be healthy with little manual activity. Stable low coverage may mean persistent under-adoption. Falling coverage is a different signal. Recovery may follow resolved issues. The curves are illustrative explanations, not measured estimates or model thresholds. Missing required measurements need investigation rather than automatically meaning customer disengagement. </a:t>
            </a:r>
          </a:p>
          <a:p xmlns:a="http://schemas.openxmlformats.org/drawingml/2006/main">
            <a:r>
              <a:t>Source: src/generate_data.py; part2/src/build_features.py; transcript 08:31 to 09:25</a:t>
            </a:r>
          </a:p>
          <a:p xmlns:a="http://schemas.openxmlformats.org/drawingml/2006/main">
            <a:r>
              <a:t>Suggested delivery: 90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feature is a measurable fact supplied to a model. These slides list every selected input, not merely examples. There are 45 total inputs: 41 numeric and 4 categorical. Deployment reach and workflow success use 30 days; other operating measures generally use 90 days. Missing indicators are yes/no fields showing that an input was unavailable. They preserve the distinction between unknown and confirmed zero. Average coverage uses active units divided by eligible deployment units, averaged across weekly observations. Deployment reach uses deployed targets divided by the intended target environment. For infrastructure products, intended scope can be larger than the eligible capacity. A scan measure only applies to products that perform scans. No future commercial outcome or simulator truth is eligible. Explain the groups rather than reading every field. 5 minutes.</a:t>
            </a:r>
          </a:p>
          <a:p xmlns:a="http://schemas.openxmlformats.org/drawingml/2006/main">
            <a:r>
              <a:t>Source: part2/src/_features.py; model_selection_record.json</a:t>
            </a:r>
          </a:p>
          <a:p xmlns:a="http://schemas.openxmlformats.org/drawingml/2006/main">
            <a:r>
              <a:t>Deployment:</a:t>
            </a:r>
          </a:p>
          <a:p xmlns:a="http://schemas.openxmlformats.org/drawingml/2006/main">
            <a:r>
              <a:t>deployment_reach_30d = Share of intended scope deployed</a:t>
            </a:r>
          </a:p>
          <a:p xmlns:a="http://schemas.openxmlformats.org/drawingml/2006/main">
            <a:r>
              <a:t>onboarding_delay_days = Days the initial-value milestone is overdue</a:t>
            </a:r>
          </a:p>
          <a:p xmlns:a="http://schemas.openxmlformats.org/drawingml/2006/main">
            <a:r>
              <a:t>deployment_reach_30d_missing = Deployment reach unavailable (indicator)</a:t>
            </a:r>
          </a:p>
          <a:p xmlns:a="http://schemas.openxmlformats.org/drawingml/2006/main">
            <a:r>
              <a:t>Product use and operating results:</a:t>
            </a:r>
          </a:p>
          <a:p xmlns:a="http://schemas.openxmlformats.org/drawingml/2006/main">
            <a:r>
              <a:t>workflow_success_30d = Share of attempted workflows that succeed</a:t>
            </a:r>
          </a:p>
          <a:p xmlns:a="http://schemas.openxmlformats.org/drawingml/2006/main">
            <a:r>
              <a:t>productive_use_delta_30d = Recent change in workflow success</a:t>
            </a:r>
          </a:p>
          <a:p xmlns:a="http://schemas.openxmlformats.org/drawingml/2006/main">
            <a:r>
              <a:t>avg_coverage_90d = Average coverage of eligible deployment units</a:t>
            </a:r>
          </a:p>
          <a:p xmlns:a="http://schemas.openxmlformats.org/drawingml/2006/main">
            <a:r>
              <a:t>coverage_trend_90d = Change in coverage over time</a:t>
            </a:r>
          </a:p>
          <a:p xmlns:a="http://schemas.openxmlformats.org/drawingml/2006/main">
            <a:r>
              <a:t>obs_completeness_90d = Share of expected observations received</a:t>
            </a:r>
          </a:p>
          <a:p xmlns:a="http://schemas.openxmlformats.org/drawingml/2006/main">
            <a:r>
              <a:t>policy_events_per_unit_90d = Policy activity per eligible unit</a:t>
            </a:r>
          </a:p>
          <a:p xmlns:a="http://schemas.openxmlformats.org/drawingml/2006/main">
            <a:r>
              <a:t>remediation_velocity_90d = Speed of fixing recorded issues</a:t>
            </a:r>
          </a:p>
          <a:p xmlns:a="http://schemas.openxmlformats.org/drawingml/2006/main">
            <a:r>
              <a:t>automation_adoption_90d = Share of relevant work using automation</a:t>
            </a:r>
          </a:p>
          <a:p xmlns:a="http://schemas.openxmlformats.org/drawingml/2006/main">
            <a:r>
              <a:t>scan_success_rate_90d = Share of product scans that succeed</a:t>
            </a:r>
          </a:p>
          <a:p xmlns:a="http://schemas.openxmlformats.org/drawingml/2006/main">
            <a:r>
              <a:t>workflow_success_30d_missing = Workflow success unavailable (indicator)</a:t>
            </a:r>
          </a:p>
          <a:p xmlns:a="http://schemas.openxmlformats.org/drawingml/2006/main">
            <a:r>
              <a:t>Suggested delivery: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support group records unresolved problems, their severity and how long they persist. A service-level agreement, or SLA, is a promised service target. The breached-case feature counts open cases that have breached that target at prediction, rather than every historical breach. P1 means a critical support ticket. Relationship inputs capture executive interactions, marketing activity, recorded follow-up and recency. They are candidate signals, not proof that additional marketing would prevent cancellation. The owner-bearing interaction field is a proxy for relationship recency, not proof that nobody owns the account. Explain the groups rather than reading every field. 5 minutes.</a:t>
            </a:r>
          </a:p>
          <a:p xmlns:a="http://schemas.openxmlformats.org/drawingml/2006/main">
            <a:r>
              <a:t>Source: part2/src/_features.py; build_features.py; transcript 07:28 to 08:30</a:t>
            </a:r>
          </a:p>
          <a:p xmlns:a="http://schemas.openxmlformats.org/drawingml/2006/main">
            <a:r>
              <a:t>Support experience:</a:t>
            </a:r>
          </a:p>
          <a:p xmlns:a="http://schemas.openxmlformats.org/drawingml/2006/main">
            <a:r>
              <a:t>unresolved_customer_impact_hours_90d = Hours of unresolved customer impact</a:t>
            </a:r>
          </a:p>
          <a:p xmlns:a="http://schemas.openxmlformats.org/drawingml/2006/main">
            <a:r>
              <a:t>repeat_sla_breaches_90d = Open cases breaching the service target</a:t>
            </a:r>
          </a:p>
          <a:p xmlns:a="http://schemas.openxmlformats.org/drawingml/2006/main">
            <a:r>
              <a:t>p1_tickets_90d = Critical support tickets</a:t>
            </a:r>
          </a:p>
          <a:p xmlns:a="http://schemas.openxmlformats.org/drawingml/2006/main">
            <a:r>
              <a:t>open_tickets_90d = Cases still open at prediction</a:t>
            </a:r>
          </a:p>
          <a:p xmlns:a="http://schemas.openxmlformats.org/drawingml/2006/main">
            <a:r>
              <a:t>avg_open_age_hrs_90d = Average age of open cases</a:t>
            </a:r>
          </a:p>
          <a:p xmlns:a="http://schemas.openxmlformats.org/drawingml/2006/main">
            <a:r>
              <a:t>avg_resolution_hrs_90d = Average time to resolve completed cases</a:t>
            </a:r>
          </a:p>
          <a:p xmlns:a="http://schemas.openxmlformats.org/drawingml/2006/main">
            <a:r>
              <a:t>avg_resolution_hrs_90d_missing = Resolution time unavailable (indicator)</a:t>
            </a:r>
          </a:p>
          <a:p xmlns:a="http://schemas.openxmlformats.org/drawingml/2006/main">
            <a:r>
              <a:t>tickets_90d = Total recent support tickets</a:t>
            </a:r>
          </a:p>
          <a:p xmlns:a="http://schemas.openxmlformats.org/drawingml/2006/main">
            <a:r>
              <a:t>Customer relationship:</a:t>
            </a:r>
          </a:p>
          <a:p xmlns:a="http://schemas.openxmlformats.org/drawingml/2006/main">
            <a:r>
              <a:t>days_without_confirmed_owner = Days since a recorded owner interaction</a:t>
            </a:r>
          </a:p>
          <a:p xmlns:a="http://schemas.openxmlformats.org/drawingml/2006/main">
            <a:r>
              <a:t>overdue_agreed_actions = Agreed follow-up actions overdue</a:t>
            </a:r>
          </a:p>
          <a:p xmlns:a="http://schemas.openxmlformats.org/drawingml/2006/main">
            <a:r>
              <a:t>executive_interactions_180d = Recorded executive interactions</a:t>
            </a:r>
          </a:p>
          <a:p xmlns:a="http://schemas.openxmlformats.org/drawingml/2006/main">
            <a:r>
              <a:t>marketing_engagements_180d = Recorded marketing and event engagements</a:t>
            </a:r>
          </a:p>
          <a:p xmlns:a="http://schemas.openxmlformats.org/drawingml/2006/main">
            <a:r>
              <a:t>days_since_last_interaction = Days since the last recorded interaction</a:t>
            </a:r>
          </a:p>
          <a:p xmlns:a="http://schemas.openxmlformats.org/drawingml/2006/main">
            <a:r>
              <a:t>days_since_last_interaction_missing = Interaction recency unavailable (indicator)</a:t>
            </a:r>
          </a:p>
          <a:p xmlns:a="http://schemas.openxmlformats.org/drawingml/2006/main">
            <a:r>
              <a:t>Suggested delivery: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Annual contract value expresses a subscription value per year. Portfolio features summarize what is owned or renewing. Family catalog ownership is not evidence that every product is well deployed. The prior transition-gap code name says median, but the implementation currently measures the immediate previous transition gap, not a median across the full history. Days to renewal is always 90 in this design and does not add variation. Company size and tenure are contextual, not causes or intervention targets by themselves. Four categorical inputs describe product family, customer size, industry and region. Explain the groups rather than reading every field. 5 minutes.</a:t>
            </a:r>
          </a:p>
          <a:p xmlns:a="http://schemas.openxmlformats.org/drawingml/2006/main">
            <a:r>
              <a:t>Source: part2/src/_features.py; build_features.py; model_selection_record.json</a:t>
            </a:r>
          </a:p>
          <a:p xmlns:a="http://schemas.openxmlformats.org/drawingml/2006/main">
            <a:r>
              <a:t>Commercial and renewal context:</a:t>
            </a:r>
          </a:p>
          <a:p xmlns:a="http://schemas.openxmlformats.org/drawingml/2006/main">
            <a:r>
              <a:t>quoted_unit_price_change_pct = Quoted unit-price change</a:t>
            </a:r>
          </a:p>
          <a:p xmlns:a="http://schemas.openxmlformats.org/drawingml/2006/main">
            <a:r>
              <a:t>dated_budget_concern = A recorded budget concern</a:t>
            </a:r>
          </a:p>
          <a:p xmlns:a="http://schemas.openxmlformats.org/drawingml/2006/main">
            <a:r>
              <a:t>days_to_renewal = Days until expiry (fixed at 90 in this design)</a:t>
            </a:r>
          </a:p>
          <a:p xmlns:a="http://schemas.openxmlformats.org/drawingml/2006/main">
            <a:r>
              <a:t>tenure_days = Age of the purchasing relationship</a:t>
            </a:r>
          </a:p>
          <a:p xmlns:a="http://schemas.openxmlformats.org/drawingml/2006/main">
            <a:r>
              <a:t>employee_count = Customer employee count</a:t>
            </a:r>
          </a:p>
          <a:p xmlns:a="http://schemas.openxmlformats.org/drawingml/2006/main">
            <a:r>
              <a:t>acv = Annual value of this contract</a:t>
            </a:r>
          </a:p>
          <a:p xmlns:a="http://schemas.openxmlformats.org/drawingml/2006/main">
            <a:r>
              <a:t>total_acv_in_window = Annual value in the renewal window</a:t>
            </a:r>
          </a:p>
          <a:p xmlns:a="http://schemas.openxmlformats.org/drawingml/2006/main">
            <a:r>
              <a:t>median_prior_renewal_delay_days = Immediate prior subscription transition gap</a:t>
            </a:r>
          </a:p>
          <a:p xmlns:a="http://schemas.openxmlformats.org/drawingml/2006/main">
            <a:r>
              <a:t>median_prior_renewal_delay_missing = Prior transition gap unavailable (indicator)</a:t>
            </a:r>
          </a:p>
          <a:p xmlns:a="http://schemas.openxmlformats.org/drawingml/2006/main">
            <a:r>
              <a:t>Product portfolio:</a:t>
            </a:r>
          </a:p>
          <a:p xmlns:a="http://schemas.openxmlformats.org/drawingml/2006/main">
            <a:r>
              <a:t>n_products_in_window = Product count in the renewal window</a:t>
            </a:r>
          </a:p>
          <a:p xmlns:a="http://schemas.openxmlformats.org/drawingml/2006/main">
            <a:r>
              <a:t>n_families_in_window = Product-family count in the renewal window</a:t>
            </a:r>
          </a:p>
          <a:p xmlns:a="http://schemas.openxmlformats.org/drawingml/2006/main">
            <a:r>
              <a:t>n_active_products_in_family = Active products in the same family</a:t>
            </a:r>
          </a:p>
          <a:p xmlns:a="http://schemas.openxmlformats.org/drawingml/2006/main">
            <a:r>
              <a:t>family_sibling_cancellations_1yr = Other family-product cancellations in the past year</a:t>
            </a:r>
          </a:p>
          <a:p xmlns:a="http://schemas.openxmlformats.org/drawingml/2006/main">
            <a:r>
              <a:t>family_adoption_completeness = Share of the available family catalog owned</a:t>
            </a:r>
          </a:p>
          <a:p xmlns:a="http://schemas.openxmlformats.org/drawingml/2006/main">
            <a:r>
              <a:t>Category inputs:</a:t>
            </a:r>
          </a:p>
          <a:p xmlns:a="http://schemas.openxmlformats.org/drawingml/2006/main">
            <a:r>
              <a:t>product_family = Product family</a:t>
            </a:r>
          </a:p>
          <a:p xmlns:a="http://schemas.openxmlformats.org/drawingml/2006/main">
            <a:r>
              <a:t>size_segment = Customer-size group</a:t>
            </a:r>
          </a:p>
          <a:p xmlns:a="http://schemas.openxmlformats.org/drawingml/2006/main">
            <a:r>
              <a:t>industry = Customer industry</a:t>
            </a:r>
          </a:p>
          <a:p xmlns:a="http://schemas.openxmlformats.org/drawingml/2006/main">
            <a:r>
              <a:t>region = Customer region</a:t>
            </a:r>
          </a:p>
          <a:p xmlns:a="http://schemas.openxmlformats.org/drawingml/2006/main">
            <a:r>
              <a:t>Suggested delivery: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approaches are a constant prevalence reference, a fixed health score, regularized logistic regression and histogram gradient boosting. The learned models use three feature sets: experience signals, size/value context, and full context. Historic model-selection average precision chooses the model. Class-weighted and unweighted candidates are tested without oversampling. The selected HGB uses no class weights, 100 trees and depth three. Refit combines training and selection only, yielding 7,004 rows and 402 cancellations. Later labels never enter fitting. Prediction occurs 90 days before expiry and label maturity 90 days after expiry, so training needs a 180-day maturity lag. Boundary rows are purged to ensure each fitting date only uses known outcomes. The reported synthetic populations are generated after the scenario assumptions are fixed. Real customer performance remains unknown.</a:t>
            </a:r>
          </a:p>
          <a:p xmlns:a="http://schemas.openxmlformats.org/drawingml/2006/main">
            <a:r>
              <a:t>Source: part2/src/train.py; part2/src/make_splits.py; model_selection_record.json; transcript 10:22 to 10:50 and 13:23 to 13:45</a:t>
            </a:r>
          </a:p>
          <a:p xmlns:a="http://schemas.openxmlformats.org/drawingml/2006/main">
            <a:r>
              <a:t>Suggested delivery: 120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Average precision summarizes precision as the ranked list recovers more cancellations. The left chart is the historical model-selection period and determines the selected model. The selected boosted-tree model has AP 0.3282. The right values describe the refitted model on a later synthetic period. Later AP is 0.2464 versus 0.1315 for health rules. Later prevalence is 4.49 percent, with 141 cancellations among 3,139 contracts. AP does not guarantee superiority at every cutoff. Precision among the top 30 account reviews is therefore checked separately. The scenario intentionally encodes experience interactions. A successful model demonstrates recovery of those assumptions, not independent proof of actual customer drivers.</a:t>
            </a:r>
          </a:p>
          <a:p xmlns:a="http://schemas.openxmlformats.org/drawingml/2006/main">
            <a:r>
              <a:t>Source: part2/outputs/metrics.json; model_selection_record.json</a:t>
            </a:r>
          </a:p>
          <a:p xmlns:a="http://schemas.openxmlformats.org/drawingml/2006/main">
            <a:r>
              <a:t>Suggested delivery: 110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Permutation importance measures the fall in selection-set average precision when one input is shuffled. Workflow success and average coverage dominate in this scenario. Low successful use and poor protection jointly represent unrealized product value in the declared generator. Employee count provides context for the assumed segment risk anchors and is not a causal reason to cancel. The 30-day change in workflow success describes recovery or deterioration. Deployment reach overlaps with average coverage. The smaller inputs have greater uncertainty relative to their importance, so do not present five equally robust causal drivers. Importance does not itself establish effect direction. The large top-two importances are expected because the simulator deliberately links these experiences to cancellation.</a:t>
            </a:r>
          </a:p>
          <a:p xmlns:a="http://schemas.openxmlformats.org/drawingml/2006/main">
            <a:r>
              <a:t>Source: part2/outputs/feature_importance.csv; config/simulation.yaml</a:t>
            </a:r>
          </a:p>
          <a:p xmlns:a="http://schemas.openxmlformats.org/drawingml/2006/main">
            <a:r>
              <a:t>Suggested delivery: 120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history enters the selected trained model. It combines learned patterns from 100 shallow trees and returns a score between zero and one. Training learns those tree splits and values from historic labels. I do not manually weight the top five features or copy the simulator cancellation formula into the ML model. The score orders contracts by modeled cancellation tendency. Because it is uncalibrated, 0.4 should not be presented as a validated 40 percent chance. ACV means annual contract value: a 300-thousand-dollar subscription over three years has ACV of 100 thousand dollars, assuming equal annual value. Multiplying score by ACV creates a priority index. In the illustrative example, A has higher modeled risk, while B has higher value-weighted priority. Rank contracts using the chosen policy, then keep one lead contract per purchasing account. This heuristic is useful to test; it is not predicted revenue loss or savings. </a:t>
            </a:r>
          </a:p>
          <a:p xmlns:a="http://schemas.openxmlformats.org/drawingml/2006/main">
            <a:r>
              <a:t>Source: part2/src/train.py; part2/src/build_review_cohort.py; transcript 11:49 to 12:21</a:t>
            </a:r>
          </a:p>
          <a:p xmlns:a="http://schemas.openxmlformats.org/drawingml/2006/main">
            <a:r>
              <a:t>Suggested delivery: 120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April first review, I gather subscriptions expiring April second through June thirtieth. All purchasing accounts are treated as directly managed in this scenario. Existing contract, history and decision-known checks remain. Model scores were computed at each contract’s own expiry-minus-90 date, so stored scores can be zero to 89 days old at review. This is a retrospective demonstration, not a refreshed April model or a live outreach queue. The outcome becomes observable after each expiry plus 90 days. The entire latest cohort has completed follow-up by September 28. Manual contact checks still cover prior contact history, measurement quality, active escalation and urgency. The same review pool is used by every policy. 5 minutes.</a:t>
            </a:r>
          </a:p>
          <a:p xmlns:a="http://schemas.openxmlformats.org/drawingml/2006/main">
            <a:r>
              <a:t>Source: part2/outputs/cohort_eligibility_waterfall.csv; timing_audit.json; customer_management_scope.md</a:t>
            </a:r>
          </a:p>
          <a:p xmlns:a="http://schemas.openxmlformats.org/drawingml/2006/main">
            <a:r>
              <a:t>Suggested delivery: 70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policies receive the same eligible pool and exactly 30 account reviews. Each policy selects its highest-ranked contract per account. Precision is selected lead contracts later cancelled divided by 30. The model identifies 13 cancelled leads, versus 3 for the fixed health rules. Score times ACV identifies 11 cancelled leads but captures 34.1 percent of cancelled contract value. That is a financial-priority trade-off, not the best precision. Captured cancelled value is observed afterward and is not revenue saved. The paired parent-bootstrap 90 percent interval for model-minus-rule precision is 16.669999999999998 to 53.33 percentage points. This describes uncertainty in this synthetic population, not real-world validation.</a:t>
            </a:r>
          </a:p>
          <a:p xmlns:a="http://schemas.openxmlformats.org/drawingml/2006/main">
            <a:r>
              <a:t>Source: part2/outputs/renewal_review_policy_comparison.csv; renewal_review_policy_diffs.csv</a:t>
            </a:r>
          </a:p>
          <a:p xmlns:a="http://schemas.openxmlformats.org/drawingml/2006/main">
            <a:r>
              <a:t>Suggested delivery: 150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primary fitted model and preprocessing score every population. Seed 137 is the primary dataset. Seeds 991 and 2027 generate separate 10,000-account populations under the same frozen mechanisms. No model refit or seed selection occurs on the replications. At 30 reviews, model versus rules finds 13 versus 3 cancelled leads in the primary population, 16 versus 8 in replication one, and 9 versus 7 in replication two. All predeclared populations are shown. The smaller advantage in the second replication demonstrates variation. All three use the same chosen mechanisms, so this tests recovery of the simulation rather than transfer to real Palo Alto Networks customers. It does not establish that the model wins in every future cohort.</a:t>
            </a:r>
          </a:p>
          <a:p xmlns:a="http://schemas.openxmlformats.org/drawingml/2006/main">
            <a:r>
              <a:t>Source: output/model_demo_revision/all_seed_policy_results.csv; all_seed_test_metrics.csv; replication_receipt.json</a:t>
            </a:r>
          </a:p>
          <a:p xmlns:a="http://schemas.openxmlformats.org/drawingml/2006/main">
            <a:r>
              <a:t>Suggested delivery: 110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first-ranked lead under model score, selected without filtering on its outcome. Account CA00009456 holds Prisma Access Remote Networks, with expiry 24 June 2026. Only 5 percent of intended scope is deployed and 45.2 percent of workflow attempts succeed. There are 0 recent critical tickets and the recorded budget concern is 0. Do not invent a service or budget problem when these are absent. The combined adoption and successful-use evidence motivates a deployment-recovery conversation. Confirm that the measurements still describe the account, identify implementation barriers, agree a named owner and a measurable pre-expiry milestone. At the April review the stored score is 6 days old, with 84 days until expiry. The retrospective outcome is recorded cancellation. No intervention or saved revenue is simulated.</a:t>
            </a:r>
          </a:p>
          <a:p xmlns:a="http://schemas.openxmlformats.org/drawingml/2006/main">
            <a:r>
              <a:t>Source: part2/outputs/renewal_review_contracts.csv; renewal_review_accounts.csv; account CA00009456</a:t>
            </a:r>
          </a:p>
          <a:p xmlns:a="http://schemas.openxmlformats.org/drawingml/2006/main">
            <a:r>
              <a:t>Suggested delivery: 100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ranks subscription cancellation risk. Financial retention separately measures annualized value from opening customers. Opening annual recurring value is 850 million and closing value 957.1 million. Gross retention is 95.95 percent and net retention 98.58 percent. Closing total can grow while opening customers contract because new business adds 115.6 million. This bridge covers October 2024 through September 2025 and is not PANW fiscal reporting or recognized revenue. Full-history expansion is 54.1 million, contraction 17.2 million. Quantity-dominant event categories account for 88.5 percent of expansion. These descriptive patterns motivate capacity reviews among healthy adopters. They do not come from the churn model and do not prove a causal growth lever. All amounts are synthetic.</a:t>
            </a:r>
          </a:p>
          <a:p xmlns:a="http://schemas.openxmlformats.org/drawingml/2006/main">
            <a:r>
              <a:t>Source: part2/outputs/arr_bridge.csv; analyze_growth_summary.json</a:t>
            </a:r>
          </a:p>
          <a:p xmlns:a="http://schemas.openxmlformats.org/drawingml/2006/main">
            <a:r>
              <a:t>Suggested delivery: 90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actions supported by patterns in synthetic evidence, not proven retention levers. First, examine delayed initial value, poor protection and failed workflows before asking the customer to buy more. Agree milestones and measure recovery. Second, benchmark any model ranking against simple health rules at the actual capacity. Under the current results, Model score has the highest observed cancellation count at 30 reviews; the frozen model is also checked on two fresh synthetic populations. Real-data validation is still needed. Third, review adoption and unused capacity before expansion conversations because quantity-dominant events account for most historical expansion value. A qualified customer should experience a useful action, not merely receive a high risk label. Measure incremental value and cancellation outcomes in a controlled pilot. </a:t>
            </a:r>
          </a:p>
          <a:p xmlns:a="http://schemas.openxmlformats.org/drawingml/2006/main">
            <a:r>
              <a:t>Source: feature_importance.csv; renewal_review_policy_comparison.csv; analyze_growth_summary.json; transcript 00:31 to 01:43 and 10:51 to 12:21</a:t>
            </a:r>
          </a:p>
          <a:p xmlns:a="http://schemas.openxmlformats.org/drawingml/2006/main">
            <a:r>
              <a:t>Suggested delivery: 90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prediction quality from intervention effectiveness. The frozen model performs better than health rules on all three reported synthetic populations. Next validate the assumptions and ranking on real untreated customer data before deployment. Next test whether the customer-success team can deliver the agreed recovery actions. Screen every candidate before assignment, coordinate or randomize by parent organization, freeze the lead contract and record usual care. Follow cancellation through expiry plus 90 days and distinguish verified renewal value from no cancellation event. A small pilot mainly tests feasibility. A powered effect claim requires an enrolled baseline rate, plausible effect size and allowance for parent clustering. The appendix gives an illustrative sample-size calculation. Close by asking about actual review capacity, preferred business objective and feasible interventions. </a:t>
            </a:r>
          </a:p>
          <a:p xmlns:a="http://schemas.openxmlformats.org/drawingml/2006/main">
            <a:r>
              <a:t>Source: part2/docs/pilot_protocol.md; transcript 10:51 to 12:21 and 13:23 to 13:45</a:t>
            </a:r>
          </a:p>
          <a:p xmlns:a="http://schemas.openxmlformats.org/drawingml/2006/main">
            <a:r>
              <a:t>Suggested delivery: 100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audience and invite questions. The main presentation ends here. Use the appendix for deeper questions about simulation assumptions, model evaluation, financial definitions and pilot design.</a:t>
            </a:r>
          </a:p>
          <a:p xmlns:a="http://schemas.openxmlformats.org/drawingml/2006/main">
            <a:r>
              <a:t>Source: Closing discussion</a:t>
            </a:r>
          </a:p>
          <a:p xmlns:a="http://schemas.openxmlformats.org/drawingml/2006/main">
            <a:r>
              <a:t>Suggested delivery: 15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simulation validation check, not an independently discovered driver. Higher baseline risk for smaller accounts is a declared generation assumption. This chart uses actual mature contract observations retained in temporal splits. It differs from the annual rate assumption chart because it mixes term lengths, customer experiences and years. There are 12,808 labeled observations and 663 recorded cancellations. An always-no-cancellation classifier would look accurate but miss every cancellation. That is why I report ranking quality and results at a fixed review capacity. Size is useful context under the declared simulator assumptions. It is not a reason to contact a customer without checking their product experience. The large-enterprise group has very few cancellations, so its rate is especially uncertain. </a:t>
            </a:r>
          </a:p>
          <a:p xmlns:a="http://schemas.openxmlformats.org/drawingml/2006/main">
            <a:r>
              <a:t>Source: part2/outputs/split_cohort_full.csv; extra_evidence.json</a:t>
            </a:r>
          </a:p>
          <a:p xmlns:a="http://schemas.openxmlformats.org/drawingml/2006/main">
            <a:r>
              <a:t>Suggested delivery: Appendix for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Ranks use distinct eligible orders containing each product. Companies means distinct purchasing accounts in the source output. Support, hardware and services remain in purchasing EDA even though the churn model focuses on security subscriptions. Units differ by product, so these counts should not be compared with license quantities.</a:t>
            </a:r>
          </a:p>
          <a:p xmlns:a="http://schemas.openxmlformats.org/drawingml/2006/main">
            <a:r>
              <a:t>Source: outputs/eda_top20_ordered_items.csv</a:t>
            </a:r>
          </a:p>
          <a:p xmlns:a="http://schemas.openxmlformats.org/drawingml/2006/main">
            <a:r>
              <a:t>Suggested delivery: Appendix for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is a manually weighted health score. It is separate from the selected trained model. Deployment gap equals one minus deployment reach, clipped between zero and one. Poor workflow results equal one minus workflow success. Service pain combines normalized unresolved impact hours at 60 percent and breached tickets at 40 percent. The hour normalization caps at 720 and the breach normalization at three. Budget concern is the recorded binary flag. The four rule weights are fixed and fixed across every reported population. The generator includes additional declared interactions, while this additive comparator remains a transparent benchmark. The current implementation fills missing deployment reach with zero before subtracting from one, which yields maximum gap, while missing workflow success gets neutral 0.5. Do not claim missing deployment reach gets zero penalty. The learned HGB uses data-fitted tree rules, not these four weights. Its output is a logistic transformation of its additive tree score. </a:t>
            </a:r>
          </a:p>
          <a:p xmlns:a="http://schemas.openxmlformats.org/drawingml/2006/main">
            <a:r>
              <a:t>Source: part2/src/_rule_baseline.py; model_selection_record.json For boosted trees, F(x) = b + 0.05 × sum of 100 learned tree outputs, with score = 1 / (1 + exp(−F(x))). The intercept and tree rules are fitted from historical labels. The separately defined health score uses the manual weights above.</a:t>
            </a:r>
          </a:p>
          <a:p xmlns:a="http://schemas.openxmlformats.org/drawingml/2006/main">
            <a:r>
              <a:t>Suggested delivery: Appendix for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Ablation means retraining with one group of inputs removed while holding classifier settings and population fixed. A positive change here means the simpler model improved AP in this development period. Correlated inputs can substitute for one another. None of these tests prove causal business importance. The unseen-parent sensitivity excludes parents already represented in both training and selection, which is the appropriate comparison for the refitted artifact. A more favorable sensitivity AP is not evidence of performance on real customers. Paired bootstrap comparisons resample parent groups and preserve repeated draws, with the same draw across policies. The primary model-versus-rule precision interval is positive in this synthetic review. This does not quantify uncertainty about real customer behavior.</a:t>
            </a:r>
          </a:p>
          <a:p xmlns:a="http://schemas.openxmlformats.org/drawingml/2006/main">
            <a:r>
              <a:t>Source: part2/outputs/ablation.csv; metrics.json; renewal_review_policy_diffs.csv</a:t>
            </a:r>
          </a:p>
          <a:p xmlns:a="http://schemas.openxmlformats.org/drawingml/2006/main">
            <a:r>
              <a:t>Suggested delivery: Appendix for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reconciles opening annualized subscription value to closing value for 1 October 2024 through 30 September 2025. Account loss means no active closing subscriptions, which is a snapshot definition and need not equal confirmed cancellation events. Partial loss means absent opening product value while the account stays active. Contraction is a separate lower-value renewal effect. Renewal gaps and unresolved lineage remain explicit rather than relabeled as verified new purchases. The bridge reconciles to zero using unrounded source values. Displayed millions may differ by rounding. This reporting window is not PANW’s fiscal year. GRR and NRR describe financial retention, distinct from the cancellation target.</a:t>
            </a:r>
          </a:p>
          <a:p xmlns:a="http://schemas.openxmlformats.org/drawingml/2006/main">
            <a:r>
              <a:t>Source: part2/outputs/arr_bridge.csv; lineage_reconciliation.csv</a:t>
            </a:r>
          </a:p>
          <a:p xmlns:a="http://schemas.openxmlformats.org/drawingml/2006/main">
            <a:r>
              <a:t>Suggested delivery: Appendix for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 a prospective pilot with a fresh cohort. Screen all candidates before treatment assignment and freeze one lead contract per account. Randomize by parent if related accounts could share customer-success work. Compare the agreed action with usual care and analyze assignment as allocated. For urgent renewals within 30 days, contact by day three and agree an action before expiry minus seven days. The standard track contacts by day 14 and completes the agreed action by day 21 to 28. Measure delivery first. Under illustrative independent-unit assumptions, 15 percent cancellation reduced to 9 percent requires approximately 460 accounts per arm at two-sided 5 percent significance and 80 percent power. Actual enrollment, effect size, clustering and attrition determine feasibility; a smaller pilot cannot claim that level of statistical power. No treatment effect is simulated.</a:t>
            </a:r>
          </a:p>
          <a:p xmlns:a="http://schemas.openxmlformats.org/drawingml/2006/main">
            <a:r>
              <a:t>Source: part2/docs/pilot_protocol.md; presentation_data_bundle.json pilot_power</a:t>
            </a:r>
          </a:p>
          <a:p xmlns:a="http://schemas.openxmlformats.org/drawingml/2006/main">
            <a:r>
              <a:t>Suggested delivery: Appendix for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definitions are intended for a mixed technical and business audience. P1 here refers to a critical support ticket. Account review capacity is specified as 30 reviews, not as a P1 label. Precision and recall answer different questions. F1 combines both at a chosen threshold but does not encode review capacity or contract value. AP summarizes ranking across many cutoffs. A customer-success manager owns a proposed action, subject to real operating responsibilities. A lead is a contract chosen to represent one account under a specific ranking, not a sales prospect.</a:t>
            </a:r>
          </a:p>
          <a:p xmlns:a="http://schemas.openxmlformats.org/drawingml/2006/main">
            <a:r>
              <a:t>Source: Case-study metric and feature contracts</a:t>
            </a:r>
          </a:p>
          <a:p xmlns:a="http://schemas.openxmlformats.org/drawingml/2006/main">
            <a:r>
              <a:t>Suggested delivery: Appendix for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5f3032381748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780faeb0a0a4d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0346eceb264b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f8bcdcbf1f43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5fc923007a46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48b45b1d354d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DFE98B-DE03-48BE-92A2-5586CF3132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AE8D729-249B-42BF-8AE5-044FF9A037A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AE93589-406E-4F15-B5D1-9FF7A91253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666AB6-7737-4C42-B6AF-7033857053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A16F2E9-922A-478B-8B5A-DF0F2E33AC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0FC28A-1DD7-48F2-A4C9-D9652F0F2E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07BBB1-2FD3-4709-945F-A748D8146F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159220-E3D5-462A-B390-D8E72632609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6E4CF8-0A60-4728-AC6E-779B844257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31BD9B-AC89-49A0-8AAD-3B4714EEF8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ac73e9aaa44b1e" /><Relationship Type="http://schemas.openxmlformats.org/officeDocument/2006/relationships/slideLayout" Target="/ppt/slideLayouts/slideLayout1.xml" Id="Reda4e99774004d75" /><Relationship Type="http://schemas.openxmlformats.org/officeDocument/2006/relationships/slideLayout" Target="/ppt/slideLayouts/slideLayout2.xml" Id="Rfe013b935a694baa" /><Relationship Type="http://schemas.openxmlformats.org/officeDocument/2006/relationships/slideLayout" Target="/ppt/slideLayouts/slideLayout3.xml" Id="R87856e1c7e3d4cc1" /><Relationship Type="http://schemas.openxmlformats.org/officeDocument/2006/relationships/slideLayout" Target="/ppt/slideLayouts/slideLayout4.xml" Id="R533ab8b2fd3842c0" /><Relationship Type="http://schemas.openxmlformats.org/officeDocument/2006/relationships/slideLayout" Target="/ppt/slideLayouts/slideLayout5.xml" Id="Rca587a5671604696" /><Relationship Type="http://schemas.openxmlformats.org/officeDocument/2006/relationships/slideLayout" Target="/ppt/slideLayouts/slideLayout6.xml" Id="Re3bd8ba10e2f4f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a4e99774004d75"/>
    <p:sldLayoutId xmlns:r="http://schemas.openxmlformats.org/officeDocument/2006/relationships" id="2147483650" r:id="Rfe013b935a694baa"/>
    <p:sldLayoutId xmlns:r="http://schemas.openxmlformats.org/officeDocument/2006/relationships" id="2147483651" r:id="R87856e1c7e3d4cc1"/>
    <p:sldLayoutId xmlns:r="http://schemas.openxmlformats.org/officeDocument/2006/relationships" id="2147483652" r:id="R533ab8b2fd3842c0"/>
    <p:sldLayoutId xmlns:r="http://schemas.openxmlformats.org/officeDocument/2006/relationships" id="2147483653" r:id="Rca587a5671604696"/>
    <p:sldLayoutId xmlns:r="http://schemas.openxmlformats.org/officeDocument/2006/relationships" id="2147483654" r:id="Re3bd8ba10e2f4f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1e5336a7dd4736" /><Relationship Type="http://schemas.openxmlformats.org/officeDocument/2006/relationships/notesSlide" Target="/ppt/notesSlides/notesSlide1.xml" Id="Rf00380c4222743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af7212fa9b24cbd" /><Relationship Type="http://schemas.openxmlformats.org/officeDocument/2006/relationships/notesSlide" Target="/ppt/notesSlides/notesSlide2.xml" Id="R41992c37a1184c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77b8e989204e6e" /><Relationship Type="http://schemas.openxmlformats.org/officeDocument/2006/relationships/notesSlide" Target="/ppt/notesSlides/notesSlide3.xml" Id="R960268ad901c4b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c4fb59df074dd8" /><Relationship Type="http://schemas.openxmlformats.org/officeDocument/2006/relationships/notesSlide" Target="/ppt/notesSlides/notesSlide4.xml" Id="Re42af4fbd99546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34a4592aaa345f6" /><Relationship Type="http://schemas.openxmlformats.org/officeDocument/2006/relationships/chart" Target="/ppt/slides/charts/chart1.xml" Id="R417ddb64b58e4e33" /><Relationship Type="http://schemas.openxmlformats.org/officeDocument/2006/relationships/notesSlide" Target="/ppt/notesSlides/notesSlide5.xml" Id="R84e6931742d64e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8d04a4c543c4faf" /><Relationship Type="http://schemas.openxmlformats.org/officeDocument/2006/relationships/notesSlide" Target="/ppt/notesSlides/notesSlide6.xml" Id="Rd2e258f0147549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d0f558287524444" /><Relationship Type="http://schemas.openxmlformats.org/officeDocument/2006/relationships/notesSlide" Target="/ppt/notesSlides/notesSlide7.xml" Id="R024435c6aed644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2ab28519e3d43d8" /><Relationship Type="http://schemas.openxmlformats.org/officeDocument/2006/relationships/chart" Target="/ppt/slides/charts/chart2.xml" Id="R4df685f9a4e94e29" /><Relationship Type="http://schemas.openxmlformats.org/officeDocument/2006/relationships/notesSlide" Target="/ppt/notesSlides/notesSlide8.xml" Id="R0153304d45d74c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3cb0c96f9834f93" /><Relationship Type="http://schemas.openxmlformats.org/officeDocument/2006/relationships/chart" Target="/ppt/slides/charts/chart3.xml" Id="R5bf3f84bc3b64cac" /><Relationship Type="http://schemas.openxmlformats.org/officeDocument/2006/relationships/notesSlide" Target="/ppt/notesSlides/notesSlide9.xml" Id="R7258e668d1314a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be1ab80102f4839" /><Relationship Type="http://schemas.openxmlformats.org/officeDocument/2006/relationships/notesSlide" Target="/ppt/notesSlides/notesSlide10.xml" Id="Rfd4af7acfd314a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c7b3ebf23124367" /><Relationship Type="http://schemas.openxmlformats.org/officeDocument/2006/relationships/notesSlide" Target="/ppt/notesSlides/notesSlide11.xml" Id="R209dc090327d49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8a346664ae34c04" /><Relationship Type="http://schemas.openxmlformats.org/officeDocument/2006/relationships/notesSlide" Target="/ppt/notesSlides/notesSlide12.xml" Id="Rf6d106183cd242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5a7a14cf81a4cf3" /><Relationship Type="http://schemas.openxmlformats.org/officeDocument/2006/relationships/notesSlide" Target="/ppt/notesSlides/notesSlide13.xml" Id="R17dcee82ef0a4f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754d37a840d49b9" /><Relationship Type="http://schemas.openxmlformats.org/officeDocument/2006/relationships/chart" Target="/ppt/slides/charts/chart4.xml" Id="R0dc195da555c4f77" /><Relationship Type="http://schemas.openxmlformats.org/officeDocument/2006/relationships/notesSlide" Target="/ppt/notesSlides/notesSlide14.xml" Id="R33b3e82a63c745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c0af5a6ef7440d4" /><Relationship Type="http://schemas.openxmlformats.org/officeDocument/2006/relationships/chart" Target="/ppt/slides/charts/chart5.xml" Id="Rb1b9742c1b14498e" /><Relationship Type="http://schemas.openxmlformats.org/officeDocument/2006/relationships/notesSlide" Target="/ppt/notesSlides/notesSlide15.xml" Id="R04830807aa444b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5ed806f4d32411f" /><Relationship Type="http://schemas.openxmlformats.org/officeDocument/2006/relationships/notesSlide" Target="/ppt/notesSlides/notesSlide16.xml" Id="R23885b787f3845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7ccf0fc3fd14b9f" /><Relationship Type="http://schemas.openxmlformats.org/officeDocument/2006/relationships/notesSlide" Target="/ppt/notesSlides/notesSlide17.xml" Id="Rf19088a782dc42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91161bbc5674e1c" /><Relationship Type="http://schemas.openxmlformats.org/officeDocument/2006/relationships/notesSlide" Target="/ppt/notesSlides/notesSlide18.xml" Id="R799c91306ae040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cdb14eb7f0b4dd7" /><Relationship Type="http://schemas.openxmlformats.org/officeDocument/2006/relationships/chart" Target="/ppt/slides/charts/chart6.xml" Id="R6bb413c39d344531" /><Relationship Type="http://schemas.openxmlformats.org/officeDocument/2006/relationships/notesSlide" Target="/ppt/notesSlides/notesSlide19.xml" Id="Ra3b9cef3bb6d4b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f4975f41b0349d6" /><Relationship Type="http://schemas.openxmlformats.org/officeDocument/2006/relationships/notesSlide" Target="/ppt/notesSlides/notesSlide20.xml" Id="R5fa2ff551ebf44e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0c30da2a1274822" /><Relationship Type="http://schemas.openxmlformats.org/officeDocument/2006/relationships/notesSlide" Target="/ppt/notesSlides/notesSlide21.xml" Id="R6073438c58674c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8e753f2d629423c" /><Relationship Type="http://schemas.openxmlformats.org/officeDocument/2006/relationships/notesSlide" Target="/ppt/notesSlides/notesSlide22.xml" Id="R6982069b958f497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0ba411a627d445e" /><Relationship Type="http://schemas.openxmlformats.org/officeDocument/2006/relationships/notesSlide" Target="/ppt/notesSlides/notesSlide23.xml" Id="Rd3089ca794f648a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3f8981f298e42ae" /><Relationship Type="http://schemas.openxmlformats.org/officeDocument/2006/relationships/notesSlide" Target="/ppt/notesSlides/notesSlide24.xml" Id="R63a23ce3febe4e2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a446e26c7374acc" /><Relationship Type="http://schemas.openxmlformats.org/officeDocument/2006/relationships/chart" Target="/ppt/slides/charts/chart7.xml" Id="R06de5fb0bc124656" /><Relationship Type="http://schemas.openxmlformats.org/officeDocument/2006/relationships/notesSlide" Target="/ppt/notesSlides/notesSlide25.xml" Id="R2e1c6b267256493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26455d7bde74cf8" /><Relationship Type="http://schemas.openxmlformats.org/officeDocument/2006/relationships/notesSlide" Target="/ppt/notesSlides/notesSlide26.xml" Id="R0198d345e8f04eb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699aca4367d46fb" /><Relationship Type="http://schemas.openxmlformats.org/officeDocument/2006/relationships/notesSlide" Target="/ppt/notesSlides/notesSlide27.xml" Id="R3e6ad75c34b548d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95774a0709e4fd8" /><Relationship Type="http://schemas.openxmlformats.org/officeDocument/2006/relationships/notesSlide" Target="/ppt/notesSlides/notesSlide28.xml" Id="R0ba06c0826cf4bc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ffae72b03824e9e" /><Relationship Type="http://schemas.openxmlformats.org/officeDocument/2006/relationships/notesSlide" Target="/ppt/notesSlides/notesSlide29.xml" Id="Rf1a47a55545b43a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37258fd571e4abe" /><Relationship Type="http://schemas.openxmlformats.org/officeDocument/2006/relationships/notesSlide" Target="/ppt/notesSlides/notesSlide30.xml" Id="R8dec7f90e9a54d5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d184c8a399b4714" /><Relationship Type="http://schemas.openxmlformats.org/officeDocument/2006/relationships/notesSlide" Target="/ppt/notesSlides/notesSlide31.xml" Id="R74133117198f422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23313D"/>
                </a:solidFill>
                <a:latin typeface="Calibri"/>
                <a:ea typeface="Calibri"/>
                <a:cs typeface="Calibri"/>
              </a:rPr>
              <a:t>Assumed annual cancellation risk</a:t>
            </a:r>
          </a:p>
        </c:rich>
      </c:tx>
      <c:overlay val="0"/>
      <c:txPr>
        <a:bodyPr xmlns:a="http://schemas.openxmlformats.org/drawingml/2006/main" anchorCtr="1"/>
        <a:lstStyle xmlns:a="http://schemas.openxmlformats.org/drawingml/2006/main"/>
        <a:p xmlns:a="http://schemas.openxmlformats.org/drawingml/2006/main">
          <a:pPr>
            <a:defRPr sz="1650">
              <a:solidFill>
                <a:srgbClr val="23313D"/>
              </a:solidFill>
              <a:latin typeface="Calibri"/>
              <a:ea typeface="Calibri"/>
              <a:cs typeface="Calibri"/>
            </a:defRPr>
          </a:pPr>
        </a:p>
      </c:txPr>
    </c:title>
    <c:plotArea>
      <c:barChart>
        <c:barDir val="bar"/>
        <c:grouping val="clustered"/>
        <c:varyColors val="0"/>
        <c:ser>
          <c:idx val="0"/>
          <c:order val="0"/>
          <c:tx>
            <c:v>Assumed annual cancellation risk</c:v>
          </c:tx>
          <c:spPr>
            <a:solidFill xmlns:a="http://schemas.openxmlformats.org/drawingml/2006/main">
              <a:srgbClr val="008C95"/>
            </a:solidFill>
          </c:spPr>
          <c:invertIfNegative val="0"/>
          <c:cat>
            <c:strRef>
              <c:f>'Chart Data'!$A$2:$A$5</c:f>
              <c:strCache>
                <c:ptCount val="4"/>
                <c:pt idx="0">
                  <c:v>Large enterprise</c:v>
                </c:pt>
                <c:pt idx="1">
                  <c:v>Enterprise</c:v>
                </c:pt>
                <c:pt idx="2">
                  <c:v>Midmarket</c:v>
                </c:pt>
                <c:pt idx="3">
                  <c:v>Small and medium business</c:v>
                </c:pt>
              </c:strCache>
            </c:strRef>
          </c:cat>
          <c:val>
            <c:numRef>
              <c:f>'Chart Data'!$B$2:$B$5</c:f>
              <c:numCache>
                <c:formatCode>0.0%</c:formatCode>
                <c:ptCount val="4"/>
                <c:pt idx="0">
                  <c:v>0.01</c:v>
                </c:pt>
                <c:pt idx="1">
                  <c:v>0.025</c:v>
                </c:pt>
                <c:pt idx="2">
                  <c:v>0.05</c:v>
                </c:pt>
                <c:pt idx="3">
                  <c:v>0.08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b="1">
                  <a:solidFill>
                    <a:srgbClr val="23313D"/>
                  </a:solidFill>
                  <a:latin typeface="Calibri"/>
                  <a:ea typeface="Calibri"/>
                  <a:cs typeface="Calibri"/>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271"/>
                </a:solidFill>
                <a:latin typeface="Calibri"/>
                <a:ea typeface="Calibri"/>
                <a:cs typeface="Calibri"/>
              </a:defRPr>
            </a:pPr>
          </a:p>
        </c:txPr>
        <c:crossAx val="48672768"/>
      </c:catAx>
      <c:valAx>
        <c:axId val="48672768"/>
        <c:scaling>
          <c:orientation val="minMax"/>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3313D"/>
                </a:solidFill>
                <a:latin typeface="Calibri"/>
                <a:ea typeface="Calibri"/>
                <a:cs typeface="Calibri"/>
              </a:defRPr>
            </a:pPr>
          </a:p>
        </c:txPr>
        <c:crossAx val="48650112"/>
        <c:crossBetween val="between"/>
        <c:majorUnit val="0.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23313D"/>
                </a:solidFill>
                <a:latin typeface="Calibri"/>
                <a:ea typeface="Calibri"/>
                <a:cs typeface="Calibri"/>
              </a:rPr>
              <a:t>Distinct orders containing each product</a:t>
            </a:r>
          </a:p>
        </c:rich>
      </c:tx>
      <c:overlay val="0"/>
      <c:txPr>
        <a:bodyPr xmlns:a="http://schemas.openxmlformats.org/drawingml/2006/main" anchorCtr="1"/>
        <a:lstStyle xmlns:a="http://schemas.openxmlformats.org/drawingml/2006/main"/>
        <a:p xmlns:a="http://schemas.openxmlformats.org/drawingml/2006/main">
          <a:pPr>
            <a:defRPr sz="1650">
              <a:solidFill>
                <a:srgbClr val="23313D"/>
              </a:solidFill>
              <a:latin typeface="Calibri"/>
              <a:ea typeface="Calibri"/>
              <a:cs typeface="Calibri"/>
            </a:defRPr>
          </a:pPr>
        </a:p>
      </c:txPr>
    </c:title>
    <c:plotArea>
      <c:barChart>
        <c:barDir val="bar"/>
        <c:grouping val="clustered"/>
        <c:varyColors val="0"/>
        <c:ser>
          <c:idx val="0"/>
          <c:order val="0"/>
          <c:tx>
            <c:v>Distinct orders containing each product</c:v>
          </c:tx>
          <c:spPr>
            <a:solidFill xmlns:a="http://schemas.openxmlformats.org/drawingml/2006/main">
              <a:srgbClr val="008C95"/>
            </a:solidFill>
          </c:spPr>
          <c:invertIfNegative val="0"/>
          <c:cat>
            <c:strRef>
              <c:f>'Chart Data'!$A$2:$A$6</c:f>
              <c:strCache>
                <c:ptCount val="5"/>
                <c:pt idx="0">
                  <c:v>Cortex XDR</c:v>
                </c:pt>
                <c:pt idx="1">
                  <c:v>Premium Support</c:v>
                </c:pt>
                <c:pt idx="2">
                  <c:v>VM-Series vNGFW</c:v>
                </c:pt>
                <c:pt idx="3">
                  <c:v>CN-Series Container NGFW</c:v>
                </c:pt>
                <c:pt idx="4">
                  <c:v>Enhanced Support</c:v>
                </c:pt>
              </c:strCache>
            </c:strRef>
          </c:cat>
          <c:val>
            <c:numRef>
              <c:f>'Chart Data'!$B$2:$B$6</c:f>
              <c:numCache>
                <c:formatCode>#,##0</c:formatCode>
                <c:ptCount val="5"/>
                <c:pt idx="0">
                  <c:v>3379</c:v>
                </c:pt>
                <c:pt idx="1">
                  <c:v>3764</c:v>
                </c:pt>
                <c:pt idx="2">
                  <c:v>5949</c:v>
                </c:pt>
                <c:pt idx="3">
                  <c:v>7560</c:v>
                </c:pt>
                <c:pt idx="4">
                  <c:v>12713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b="1">
                  <a:solidFill>
                    <a:srgbClr val="23313D"/>
                  </a:solidFill>
                  <a:latin typeface="Calibri"/>
                  <a:ea typeface="Calibri"/>
                  <a:cs typeface="Calibri"/>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271"/>
                </a:solidFill>
                <a:latin typeface="Calibri"/>
                <a:ea typeface="Calibri"/>
                <a:cs typeface="Calibri"/>
              </a:defRPr>
            </a:pPr>
          </a:p>
        </c:txPr>
        <c:crossAx val="48672768"/>
      </c:catAx>
      <c:valAx>
        <c:axId val="48672768"/>
        <c:scaling>
          <c:orientation val="minMax"/>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3313D"/>
                </a:solidFill>
                <a:latin typeface="Calibri"/>
                <a:ea typeface="Calibri"/>
                <a:cs typeface="Calibri"/>
              </a:defRPr>
            </a:pPr>
          </a:p>
        </c:txPr>
        <c:crossAx val="48650112"/>
        <c:crossBetween val="between"/>
        <c:majorUnit val="5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Calibri"/>
                <a:ea typeface="Calibri"/>
                <a:cs typeface="Calibri"/>
              </a:rPr>
              <a:t>Illustrative protection patterns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plotArea>
      <c:lineChart>
        <c:grouping val="standard"/>
        <c:varyColors val="0"/>
        <c:ser>
          <c:idx val="0"/>
          <c:order val="0"/>
          <c:tx>
            <c:v>Healthy operation</c:v>
          </c:tx>
          <c:spPr>
            <a:ln xmlns:a="http://schemas.openxmlformats.org/drawingml/2006/main" w="28575">
              <a:solidFill>
                <a:srgbClr val="1A7C51"/>
              </a:solidFill>
            </a:ln>
          </c:spPr>
          <c:marker>
            <c:symbol val="none"/>
          </c:marker>
          <c:cat>
            <c:strRef>
              <c:f>'Chart Data'!$A$2:$A$4</c:f>
              <c:strCache>
                <c:ptCount val="3"/>
                <c:pt idx="0">
                  <c:v>Earlier</c:v>
                </c:pt>
                <c:pt idx="1">
                  <c:v>Middle</c:v>
                </c:pt>
                <c:pt idx="2">
                  <c:v>Recent</c:v>
                </c:pt>
              </c:strCache>
            </c:strRef>
          </c:cat>
          <c:val>
            <c:numRef>
              <c:f>'Chart Data'!$B$2:$B$4</c:f>
              <c:numCache>
                <c:formatCode>0%</c:formatCode>
                <c:ptCount val="3"/>
                <c:pt idx="0">
                  <c:v>0.85</c:v>
                </c:pt>
                <c:pt idx="1">
                  <c:v>0.86</c:v>
                </c:pt>
                <c:pt idx="2">
                  <c:v>0.85</c:v>
                </c:pt>
              </c:numCache>
            </c:numRef>
          </c:val>
        </c:ser>
        <c:ser>
          <c:idx val="1"/>
          <c:order val="1"/>
          <c:tx>
            <c:v>Persistent under-adoption</c:v>
          </c:tx>
          <c:spPr>
            <a:ln xmlns:a="http://schemas.openxmlformats.org/drawingml/2006/main" w="28575">
              <a:solidFill>
                <a:srgbClr val="9A6A15"/>
              </a:solidFill>
            </a:ln>
          </c:spPr>
          <c:marker>
            <c:symbol val="none"/>
          </c:marker>
          <c:cat>
            <c:strRef>
              <c:f>'Chart Data'!$C$2:$C$4</c:f>
              <c:strCache>
                <c:ptCount val="3"/>
                <c:pt idx="0">
                  <c:v>Earlier</c:v>
                </c:pt>
                <c:pt idx="1">
                  <c:v>Middle</c:v>
                </c:pt>
                <c:pt idx="2">
                  <c:v>Recent</c:v>
                </c:pt>
              </c:strCache>
            </c:strRef>
          </c:cat>
          <c:val>
            <c:numRef>
              <c:f>'Chart Data'!$D$2:$D$4</c:f>
              <c:numCache>
                <c:formatCode>0%</c:formatCode>
                <c:ptCount val="3"/>
                <c:pt idx="0">
                  <c:v>0.25</c:v>
                </c:pt>
                <c:pt idx="1">
                  <c:v>0.26</c:v>
                </c:pt>
                <c:pt idx="2">
                  <c:v>0.24</c:v>
                </c:pt>
              </c:numCache>
            </c:numRef>
          </c:val>
        </c:ser>
        <c:ser>
          <c:idx val="2"/>
          <c:order val="2"/>
          <c:tx>
            <c:v>Declining adoption</c:v>
          </c:tx>
          <c:spPr>
            <a:ln xmlns:a="http://schemas.openxmlformats.org/drawingml/2006/main" w="28575">
              <a:solidFill>
                <a:srgbClr val="FF5A1F"/>
              </a:solidFill>
            </a:ln>
          </c:spPr>
          <c:marker>
            <c:symbol val="none"/>
          </c:marker>
          <c:cat>
            <c:strRef>
              <c:f>'Chart Data'!$E$2:$E$4</c:f>
              <c:strCache>
                <c:ptCount val="3"/>
                <c:pt idx="0">
                  <c:v>Earlier</c:v>
                </c:pt>
                <c:pt idx="1">
                  <c:v>Middle</c:v>
                </c:pt>
                <c:pt idx="2">
                  <c:v>Recent</c:v>
                </c:pt>
              </c:strCache>
            </c:strRef>
          </c:cat>
          <c:val>
            <c:numRef>
              <c:f>'Chart Data'!$F$2:$F$4</c:f>
              <c:numCache>
                <c:formatCode>0%</c:formatCode>
                <c:ptCount val="3"/>
                <c:pt idx="0">
                  <c:v>0.8</c:v>
                </c:pt>
                <c:pt idx="1">
                  <c:v>0.55</c:v>
                </c:pt>
                <c:pt idx="2">
                  <c:v>0.28</c:v>
                </c:pt>
              </c:numCache>
            </c:numRef>
          </c:val>
        </c:ser>
        <c:ser>
          <c:idx val="3"/>
          <c:order val="3"/>
          <c:tx>
            <c:v>Recovery</c:v>
          </c:tx>
          <c:spPr>
            <a:ln xmlns:a="http://schemas.openxmlformats.org/drawingml/2006/main" w="28575">
              <a:solidFill>
                <a:srgbClr val="008C95"/>
              </a:solidFill>
            </a:ln>
          </c:spPr>
          <c:marker>
            <c:symbol val="none"/>
          </c:marker>
          <c:cat>
            <c:strRef>
              <c:f>'Chart Data'!$G$2:$G$4</c:f>
              <c:strCache>
                <c:ptCount val="3"/>
                <c:pt idx="0">
                  <c:v>Earlier</c:v>
                </c:pt>
                <c:pt idx="1">
                  <c:v>Middle</c:v>
                </c:pt>
                <c:pt idx="2">
                  <c:v>Recent</c:v>
                </c:pt>
              </c:strCache>
            </c:strRef>
          </c:cat>
          <c:val>
            <c:numRef>
              <c:f>'Chart Data'!$H$2:$H$4</c:f>
              <c:numCache>
                <c:formatCode>0%</c:formatCode>
                <c:ptCount val="3"/>
                <c:pt idx="0">
                  <c:v>0.25</c:v>
                </c:pt>
                <c:pt idx="1">
                  <c:v>0.5</c:v>
                </c:pt>
                <c:pt idx="2">
                  <c:v>0.76</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Time before prediction</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Calibri"/>
                    <a:ea typeface="Calibri"/>
                    <a:cs typeface="Calibri"/>
                  </a:rPr>
                  <a:t>Percentage of intended scope covered</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23313D"/>
                </a:solidFill>
                <a:latin typeface="Calibri"/>
                <a:ea typeface="Calibri"/>
                <a:cs typeface="Calibri"/>
              </a:rPr>
              <a:t>Average precision in model selection</a:t>
            </a:r>
          </a:p>
        </c:rich>
      </c:tx>
      <c:overlay val="0"/>
      <c:txPr>
        <a:bodyPr xmlns:a="http://schemas.openxmlformats.org/drawingml/2006/main" anchorCtr="1"/>
        <a:lstStyle xmlns:a="http://schemas.openxmlformats.org/drawingml/2006/main"/>
        <a:p xmlns:a="http://schemas.openxmlformats.org/drawingml/2006/main">
          <a:pPr>
            <a:defRPr sz="1650">
              <a:solidFill>
                <a:srgbClr val="23313D"/>
              </a:solidFill>
              <a:latin typeface="Calibri"/>
              <a:ea typeface="Calibri"/>
              <a:cs typeface="Calibri"/>
            </a:defRPr>
          </a:pPr>
        </a:p>
      </c:txPr>
    </c:title>
    <c:plotArea>
      <c:barChart>
        <c:barDir val="col"/>
        <c:grouping val="clustered"/>
        <c:varyColors val="0"/>
        <c:ser>
          <c:idx val="0"/>
          <c:order val="0"/>
          <c:tx>
            <c:v>Average precision in model selection</c:v>
          </c:tx>
          <c:spPr>
            <a:solidFill xmlns:a="http://schemas.openxmlformats.org/drawingml/2006/main">
              <a:srgbClr val="008C95"/>
            </a:solidFill>
          </c:spPr>
          <c:invertIfNegative val="0"/>
          <c:cat>
            <c:strRef>
              <c:f>'Chart Data'!$A$2:$A$5</c:f>
              <c:strCache>
                <c:ptCount val="4"/>
                <c:pt idx="0">
                  <c:v>Prevalence reference</c:v>
                </c:pt>
                <c:pt idx="1">
                  <c:v>Health rule</c:v>
                </c:pt>
                <c:pt idx="2">
                  <c:v>Logistic regression</c:v>
                </c:pt>
                <c:pt idx="3">
                  <c:v>Boosted trees</c:v>
                </c:pt>
              </c:strCache>
            </c:strRef>
          </c:cat>
          <c:val>
            <c:numRef>
              <c:f>'Chart Data'!$B$2:$B$5</c:f>
              <c:numCache>
                <c:formatCode>0.000</c:formatCode>
                <c:ptCount val="4"/>
                <c:pt idx="0">
                  <c:v>0.0517</c:v>
                </c:pt>
                <c:pt idx="1">
                  <c:v>0.2112</c:v>
                </c:pt>
                <c:pt idx="2">
                  <c:v>0.3175</c:v>
                </c:pt>
                <c:pt idx="3">
                  <c:v>0.3282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350" b="1">
                  <a:solidFill>
                    <a:srgbClr val="23313D"/>
                  </a:solidFill>
                  <a:latin typeface="Calibri"/>
                  <a:ea typeface="Calibri"/>
                  <a:cs typeface="Calibri"/>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Ranking method</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271"/>
                </a:solidFill>
                <a:latin typeface="Calibri"/>
                <a:ea typeface="Calibri"/>
                <a:cs typeface="Calibri"/>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Calibri"/>
                    <a:ea typeface="Calibri"/>
                    <a:cs typeface="Calibri"/>
                  </a:rPr>
                  <a:t>Average precision in model selection</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3313D"/>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23313D"/>
                </a:solidFill>
                <a:latin typeface="Calibri"/>
                <a:ea typeface="Calibri"/>
                <a:cs typeface="Calibri"/>
              </a:rPr>
              <a:t>AP decrease when input is shuffled</a:t>
            </a:r>
          </a:p>
        </c:rich>
      </c:tx>
      <c:overlay val="0"/>
      <c:txPr>
        <a:bodyPr xmlns:a="http://schemas.openxmlformats.org/drawingml/2006/main" anchorCtr="1"/>
        <a:lstStyle xmlns:a="http://schemas.openxmlformats.org/drawingml/2006/main"/>
        <a:p xmlns:a="http://schemas.openxmlformats.org/drawingml/2006/main">
          <a:pPr>
            <a:defRPr sz="1650">
              <a:solidFill>
                <a:srgbClr val="23313D"/>
              </a:solidFill>
              <a:latin typeface="Calibri"/>
              <a:ea typeface="Calibri"/>
              <a:cs typeface="Calibri"/>
            </a:defRPr>
          </a:pPr>
        </a:p>
      </c:txPr>
    </c:title>
    <c:plotArea>
      <c:barChart>
        <c:barDir val="bar"/>
        <c:grouping val="clustered"/>
        <c:varyColors val="0"/>
        <c:ser>
          <c:idx val="0"/>
          <c:order val="0"/>
          <c:tx>
            <c:v>AP decrease when input is shuffled</c:v>
          </c:tx>
          <c:spPr>
            <a:solidFill xmlns:a="http://schemas.openxmlformats.org/drawingml/2006/main">
              <a:srgbClr val="008C95"/>
            </a:solidFill>
          </c:spPr>
          <c:invertIfNegative val="0"/>
          <c:cat>
            <c:strRef>
              <c:f>'Chart Data'!$A$2:$A$6</c:f>
              <c:strCache>
                <c:ptCount val="5"/>
                <c:pt idx="0">
                  <c:v>Recent deployment reach</c:v>
                </c:pt>
                <c:pt idx="1">
                  <c:v>Change in workflow success</c:v>
                </c:pt>
                <c:pt idx="2">
                  <c:v>Customer employee count</c:v>
                </c:pt>
                <c:pt idx="3">
                  <c:v>Average protection coverage</c:v>
                </c:pt>
                <c:pt idx="4">
                  <c:v>Workflow success in recent 30 days</c:v>
                </c:pt>
              </c:strCache>
            </c:strRef>
          </c:cat>
          <c:val>
            <c:numRef>
              <c:f>'Chart Data'!$B$2:$B$6</c:f>
              <c:numCache>
                <c:formatCode>0.000</c:formatCode>
                <c:ptCount val="5"/>
                <c:pt idx="0">
                  <c:v>0.0061</c:v>
                </c:pt>
                <c:pt idx="1">
                  <c:v>0.0121</c:v>
                </c:pt>
                <c:pt idx="2">
                  <c:v>0.0127</c:v>
                </c:pt>
                <c:pt idx="3">
                  <c:v>0.1724</c:v>
                </c:pt>
                <c:pt idx="4">
                  <c:v>0.1816</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350" b="1">
                  <a:solidFill>
                    <a:srgbClr val="23313D"/>
                  </a:solidFill>
                  <a:latin typeface="Calibri"/>
                  <a:ea typeface="Calibri"/>
                  <a:cs typeface="Calibri"/>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271"/>
                </a:solidFill>
                <a:latin typeface="Calibri"/>
                <a:ea typeface="Calibri"/>
                <a:cs typeface="Calibri"/>
              </a:defRPr>
            </a:pPr>
          </a:p>
        </c:txPr>
        <c:crossAx val="48672768"/>
      </c:catAx>
      <c:valAx>
        <c:axId val="48672768"/>
        <c:scaling>
          <c:orientation val="minMax"/>
          <c:min val="0"/>
        </c:scaling>
        <c:delete val="0"/>
        <c:axPos val="b"/>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3313D"/>
                </a:solidFill>
                <a:latin typeface="Calibri"/>
                <a:ea typeface="Calibri"/>
                <a:cs typeface="Calibri"/>
              </a:defRPr>
            </a:pPr>
          </a:p>
        </c:txPr>
        <c:crossAx val="48650112"/>
        <c:crossBetween val="between"/>
        <c:majorUnit val="0.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Calibri"/>
                <a:ea typeface="Calibri"/>
                <a:cs typeface="Calibri"/>
              </a:rPr>
              <a:t>Precision at 30 account reviews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plotArea>
      <c:barChart>
        <c:barDir val="col"/>
        <c:grouping val="clustered"/>
        <c:varyColors val="0"/>
        <c:ser>
          <c:idx val="0"/>
          <c:order val="0"/>
          <c:tx>
            <c:v>Model score</c:v>
          </c:tx>
          <c:spPr>
            <a:solidFill xmlns:a="http://schemas.openxmlformats.org/drawingml/2006/main">
              <a:srgbClr val="008C95"/>
            </a:solidFill>
          </c:spPr>
          <c:invertIfNegative val="0"/>
          <c:cat>
            <c:strRef>
              <c:f>'Chart Data'!$A$2:$A$4</c:f>
              <c:strCache>
                <c:ptCount val="3"/>
                <c:pt idx="0">
                  <c:v>Primary</c:v>
                </c:pt>
                <c:pt idx="1">
                  <c:v>Replication 1</c:v>
                </c:pt>
                <c:pt idx="2">
                  <c:v>Replication 2</c:v>
                </c:pt>
              </c:strCache>
            </c:strRef>
          </c:cat>
          <c:val>
            <c:numRef>
              <c:f>'Chart Data'!$B$2:$B$4</c:f>
              <c:numCache>
                <c:formatCode>0%</c:formatCode>
                <c:ptCount val="3"/>
                <c:pt idx="0">
                  <c:v>0.4333333333</c:v>
                </c:pt>
                <c:pt idx="1">
                  <c:v>0.5333333333</c:v>
                </c:pt>
                <c:pt idx="2">
                  <c:v>0.3</c:v>
                </c:pt>
              </c:numCache>
            </c:numRef>
          </c:val>
        </c:ser>
        <c:ser>
          <c:idx val="1"/>
          <c:order val="1"/>
          <c:tx>
            <c:v>Health rules</c:v>
          </c:tx>
          <c:spPr>
            <a:solidFill xmlns:a="http://schemas.openxmlformats.org/drawingml/2006/main">
              <a:srgbClr val="FF5A1F"/>
            </a:solidFill>
          </c:spPr>
          <c:invertIfNegative val="0"/>
          <c:cat>
            <c:strRef>
              <c:f>'Chart Data'!$C$2:$C$4</c:f>
              <c:strCache>
                <c:ptCount val="3"/>
                <c:pt idx="0">
                  <c:v>Primary</c:v>
                </c:pt>
                <c:pt idx="1">
                  <c:v>Replication 1</c:v>
                </c:pt>
                <c:pt idx="2">
                  <c:v>Replication 2</c:v>
                </c:pt>
              </c:strCache>
            </c:strRef>
          </c:cat>
          <c:val>
            <c:numRef>
              <c:f>'Chart Data'!$D$2:$D$4</c:f>
              <c:numCache>
                <c:formatCode>0%</c:formatCode>
                <c:ptCount val="3"/>
                <c:pt idx="0">
                  <c:v>0.1</c:v>
                </c:pt>
                <c:pt idx="1">
                  <c:v>0.2666666667</c:v>
                </c:pt>
                <c:pt idx="2">
                  <c:v>0.2333333333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latin typeface="Calibri"/>
                  <a:ea typeface="Calibri"/>
                  <a:cs typeface="Calibr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Separately generated population</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catAx>
      <c:valAx>
        <c:axId val="48672768"/>
        <c:scaling>
          <c:orientation val="minMax"/>
          <c:max val="0.6"/>
          <c:min val="0"/>
        </c:scaling>
        <c:delete val="0"/>
        <c:axPos val="l"/>
        <c:title>
          <c:tx>
            <c:rich>
              <a:bodyPr xmlns:a="http://schemas.openxmlformats.org/drawingml/2006/main"/>
              <a:lstStyle xmlns:a="http://schemas.openxmlformats.org/drawingml/2006/main"/>
              <a:p xmlns:a="http://schemas.openxmlformats.org/drawingml/2006/main">
                <a:r>
                  <a:rPr>
                    <a:latin typeface="Calibri"/>
                    <a:ea typeface="Calibri"/>
                    <a:cs typeface="Calibri"/>
                  </a:rPr>
                  <a:t>Cancelled leads per 30 reviews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23313D"/>
                </a:solidFill>
                <a:latin typeface="Calibri"/>
                <a:ea typeface="Calibri"/>
                <a:cs typeface="Calibri"/>
              </a:rPr>
              <a:t>Observed cancellations per contract</a:t>
            </a:r>
          </a:p>
        </c:rich>
      </c:tx>
      <c:overlay val="0"/>
      <c:txPr>
        <a:bodyPr xmlns:a="http://schemas.openxmlformats.org/drawingml/2006/main" anchorCtr="1"/>
        <a:lstStyle xmlns:a="http://schemas.openxmlformats.org/drawingml/2006/main"/>
        <a:p xmlns:a="http://schemas.openxmlformats.org/drawingml/2006/main">
          <a:pPr>
            <a:defRPr sz="1650">
              <a:solidFill>
                <a:srgbClr val="23313D"/>
              </a:solidFill>
              <a:latin typeface="Calibri"/>
              <a:ea typeface="Calibri"/>
              <a:cs typeface="Calibri"/>
            </a:defRPr>
          </a:pPr>
        </a:p>
      </c:txPr>
    </c:title>
    <c:plotArea>
      <c:barChart>
        <c:barDir val="bar"/>
        <c:grouping val="clustered"/>
        <c:varyColors val="0"/>
        <c:ser>
          <c:idx val="0"/>
          <c:order val="0"/>
          <c:tx>
            <c:v>Observed cancellations per contract</c:v>
          </c:tx>
          <c:spPr>
            <a:solidFill xmlns:a="http://schemas.openxmlformats.org/drawingml/2006/main">
              <a:srgbClr val="008C95"/>
            </a:solidFill>
          </c:spPr>
          <c:invertIfNegative val="0"/>
          <c:cat>
            <c:strRef>
              <c:f>'Chart Data'!$A$2:$A$5</c:f>
              <c:strCache>
                <c:ptCount val="4"/>
                <c:pt idx="0">
                  <c:v>Large enterprise</c:v>
                </c:pt>
                <c:pt idx="1">
                  <c:v>Enterprise</c:v>
                </c:pt>
                <c:pt idx="2">
                  <c:v>Midmarket</c:v>
                </c:pt>
                <c:pt idx="3">
                  <c:v>Small and medium business</c:v>
                </c:pt>
              </c:strCache>
            </c:strRef>
          </c:cat>
          <c:val>
            <c:numRef>
              <c:f>'Chart Data'!$B$2:$B$5</c:f>
              <c:numCache>
                <c:formatCode>0.0%</c:formatCode>
                <c:ptCount val="4"/>
                <c:pt idx="0">
                  <c:v>0.0049751244</c:v>
                </c:pt>
                <c:pt idx="1">
                  <c:v>0.0210268949</c:v>
                </c:pt>
                <c:pt idx="2">
                  <c:v>0.0452003728</c:v>
                </c:pt>
                <c:pt idx="3">
                  <c:v>0.0677830941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b="1">
                  <a:solidFill>
                    <a:srgbClr val="23313D"/>
                  </a:solidFill>
                  <a:latin typeface="Calibri"/>
                  <a:ea typeface="Calibri"/>
                  <a:cs typeface="Calibri"/>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271"/>
                </a:solidFill>
                <a:latin typeface="Calibri"/>
                <a:ea typeface="Calibri"/>
                <a:cs typeface="Calibri"/>
              </a:defRPr>
            </a:pPr>
          </a:p>
        </c:txPr>
        <c:crossAx val="48672768"/>
      </c:catAx>
      <c:valAx>
        <c:axId val="48672768"/>
        <c:scaling>
          <c:orientation val="minMax"/>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3313D"/>
                </a:solidFill>
                <a:latin typeface="Calibri"/>
                <a:ea typeface="Calibri"/>
                <a:cs typeface="Calibri"/>
              </a:defRPr>
            </a:pPr>
          </a:p>
        </c:txPr>
        <c:crossAx val="48650112"/>
        <c:crossBetween val="between"/>
        <c:majorUnit val="0.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98D188-5066-4FA8-AF89-39589FBEFF4E}"/>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A12432-D63A-466B-A34B-106183730814}"/>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1D2028-6DEB-4A66-8A3C-259BBF2677FF}"/>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B2B cybersecurity case study</a:t>
            </a:r>
          </a:p>
        </p:txBody>
      </p:sp>
      <p:sp>
        <p:nvSpPr>
          <p:cNvPr id="4" name="">
            <a:extLst xmlns:a="http://schemas.openxmlformats.org/drawingml/2006/main">
              <a:ext uri="{FF2B5EF4-FFF2-40B4-BE49-F238E27FC236}">
                <a16:creationId xmlns:a16="http://schemas.microsoft.com/office/drawing/2014/main" id="{23EB2BA4-2B89-4759-A7D1-7CB8E5DC0631}"/>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69D1A5F4-FE06-4559-935A-132672A753EB}"/>
              </a:ext>
            </a:extLst>
          </p:cNvPr>
          <p:cNvSpPr>
            <a:spLocks xmlns:a="http://schemas.openxmlformats.org/drawingml/2006/main" noGrp="1"/>
          </p:cNvSpPr>
          <p:nvPr/>
        </p:nvSpPr>
        <p:spPr>
          <a:xfrm xmlns:a="http://schemas.openxmlformats.org/drawingml/2006/main">
            <a:off x="666750" y="171450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FFFFFF"/>
                </a:solidFill>
                <a:latin typeface="Calibri"/>
                <a:ea typeface="Calibri"/>
                <a:cs typeface="Calibri"/>
              </a:defRPr>
            </a:defPPr>
          </a:lstStyle>
          <a:p xmlns:a="http://schemas.openxmlformats.org/drawingml/2006/main">
            <a:pPr>
              <a:defRPr sz="4050" b="1">
                <a:solidFill>
                  <a:srgbClr val="FFFFFF"/>
                </a:solidFill>
                <a:latin typeface="Calibri"/>
                <a:ea typeface="Calibri"/>
                <a:cs typeface="Calibri"/>
              </a:defRPr>
            </a:pPr>
            <a:r>
              <a:rPr sz="4050" b="1">
                <a:solidFill>
                  <a:srgbClr val="FFFFFF"/>
                </a:solidFill>
                <a:latin typeface="Calibri"/>
                <a:ea typeface="Calibri"/>
                <a:cs typeface="Calibri"/>
              </a:rPr>
              <a:t>Customer Retention</a:t>
            </a:r>
          </a:p>
          <a:p xmlns:a="http://schemas.openxmlformats.org/drawingml/2006/main">
            <a:pPr>
              <a:defRPr sz="4050" b="1">
                <a:solidFill>
                  <a:srgbClr val="FFFFFF"/>
                </a:solidFill>
                <a:latin typeface="Calibri"/>
                <a:ea typeface="Calibri"/>
                <a:cs typeface="Calibri"/>
              </a:defRPr>
            </a:pPr>
            <a:r>
              <a:rPr sz="4050" b="1">
                <a:solidFill>
                  <a:srgbClr val="FFFFFF"/>
                </a:solidFill>
                <a:latin typeface="Calibri"/>
                <a:ea typeface="Calibri"/>
                <a:cs typeface="Calibri"/>
              </a:rPr>
              <a:t>and Revenue Growth</a:t>
            </a:r>
          </a:p>
        </p:txBody>
      </p:sp>
      <p:sp>
        <p:nvSpPr>
          <p:cNvPr id="6" name="">
            <a:extLst xmlns:a="http://schemas.openxmlformats.org/drawingml/2006/main">
              <a:ext uri="{FF2B5EF4-FFF2-40B4-BE49-F238E27FC236}">
                <a16:creationId xmlns:a16="http://schemas.microsoft.com/office/drawing/2014/main" id="{7B12413B-653E-4F46-9F69-5552CB0218D8}"/>
              </a:ext>
            </a:extLst>
          </p:cNvPr>
          <p:cNvSpPr>
            <a:spLocks xmlns:a="http://schemas.openxmlformats.org/drawingml/2006/main" noGrp="1"/>
          </p:cNvSpPr>
          <p:nvPr/>
        </p:nvSpPr>
        <p:spPr>
          <a:xfrm xmlns:a="http://schemas.openxmlformats.org/drawingml/2006/main">
            <a:off x="666750" y="3714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F5A1F"/>
                </a:solidFill>
                <a:latin typeface="Calibri"/>
                <a:ea typeface="Calibri"/>
                <a:cs typeface="Calibri"/>
              </a:defRPr>
            </a:defPPr>
          </a:lstStyle>
          <a:p xmlns:a="http://schemas.openxmlformats.org/drawingml/2006/main">
            <a:pPr>
              <a:defRPr sz="2175" b="0">
                <a:solidFill>
                  <a:srgbClr val="FF5A1F"/>
                </a:solidFill>
                <a:latin typeface="Calibri"/>
                <a:ea typeface="Calibri"/>
                <a:cs typeface="Calibri"/>
              </a:defRPr>
            </a:pPr>
            <a:r>
              <a:rPr sz="2175" b="0">
                <a:solidFill>
                  <a:srgbClr val="FF5A1F"/>
                </a:solidFill>
                <a:latin typeface="Calibri"/>
                <a:ea typeface="Calibri"/>
                <a:cs typeface="Calibri"/>
              </a:rPr>
              <a:t>A B2B Cybersecurity Case Study Using Synthetic Data</a:t>
            </a:r>
          </a:p>
        </p:txBody>
      </p:sp>
      <p:sp>
        <p:nvSpPr>
          <p:cNvPr id="7" name="">
            <a:extLst xmlns:a="http://schemas.openxmlformats.org/drawingml/2006/main">
              <a:ext uri="{FF2B5EF4-FFF2-40B4-BE49-F238E27FC236}">
                <a16:creationId xmlns:a16="http://schemas.microsoft.com/office/drawing/2014/main" id="{4E54F582-B904-4881-9DAC-56239CFE7CA2}"/>
              </a:ext>
            </a:extLst>
          </p:cNvPr>
          <p:cNvSpPr>
            <a:spLocks xmlns:a="http://schemas.openxmlformats.org/drawingml/2006/main" noGrp="1"/>
          </p:cNvSpPr>
          <p:nvPr/>
        </p:nvSpPr>
        <p:spPr>
          <a:xfrm xmlns:a="http://schemas.openxmlformats.org/drawingml/2006/main">
            <a:off x="666750" y="47148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FFFFF"/>
                </a:solidFill>
                <a:latin typeface="Calibri"/>
                <a:ea typeface="Calibri"/>
                <a:cs typeface="Calibri"/>
              </a:defRPr>
            </a:defPPr>
          </a:lstStyle>
          <a:p xmlns:a="http://schemas.openxmlformats.org/drawingml/2006/main">
            <a:pPr>
              <a:defRPr sz="1950" b="0">
                <a:solidFill>
                  <a:srgbClr val="FFFFFF"/>
                </a:solidFill>
                <a:latin typeface="Calibri"/>
                <a:ea typeface="Calibri"/>
                <a:cs typeface="Calibri"/>
              </a:defRPr>
            </a:pPr>
            <a:r>
              <a:rPr sz="1950" b="0">
                <a:solidFill>
                  <a:srgbClr val="FFFFFF"/>
                </a:solidFill>
                <a:latin typeface="Calibri"/>
                <a:ea typeface="Calibri"/>
                <a:cs typeface="Calibri"/>
              </a:rPr>
              <a:t>10,000 purchasing accounts</a:t>
            </a:r>
          </a:p>
          <a:p xmlns:a="http://schemas.openxmlformats.org/drawingml/2006/main">
            <a:pPr>
              <a:defRPr sz="1950" b="0">
                <a:solidFill>
                  <a:srgbClr val="FFFFFF"/>
                </a:solidFill>
                <a:latin typeface="Calibri"/>
                <a:ea typeface="Calibri"/>
                <a:cs typeface="Calibri"/>
              </a:defRPr>
            </a:pPr>
            <a:r>
              <a:rPr sz="1950" b="0">
                <a:solidFill>
                  <a:srgbClr val="FFFFFF"/>
                </a:solidFill>
                <a:latin typeface="Calibri"/>
                <a:ea typeface="Calibri"/>
                <a:cs typeface="Calibri"/>
              </a:rPr>
              <a:t>Five years of operating history</a:t>
            </a:r>
          </a:p>
        </p:txBody>
      </p:sp>
    </p:spTree>
    <p:extLst>
      <p:ext uri="{BB962C8B-B14F-4D97-AF65-F5344CB8AC3E}">
        <p14:creationId xmlns:p14="http://schemas.microsoft.com/office/powerpoint/2010/main" val="12443811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AE029D4-597D-45DF-9633-1A98EB08BD9D}"/>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4BD134-67F3-4A73-8FAE-2EC64D3D4B3B}"/>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E50AEA-A79C-4ED4-9368-D6FE9C994BEB}"/>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What cancellation means in this study</a:t>
            </a:r>
          </a:p>
        </p:txBody>
      </p:sp>
      <p:sp>
        <p:nvSpPr>
          <p:cNvPr id="4" name="">
            <a:extLst xmlns:a="http://schemas.openxmlformats.org/drawingml/2006/main">
              <a:ext uri="{FF2B5EF4-FFF2-40B4-BE49-F238E27FC236}">
                <a16:creationId xmlns:a16="http://schemas.microsoft.com/office/drawing/2014/main" id="{15B473C1-E77A-4B81-A774-C0A985B95D5E}"/>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a:t>
            </a:r>
          </a:p>
        </p:txBody>
      </p:sp>
      <p:sp>
        <p:nvSpPr>
          <p:cNvPr id="5" name="">
            <a:extLst xmlns:a="http://schemas.openxmlformats.org/drawingml/2006/main">
              <a:ext uri="{FF2B5EF4-FFF2-40B4-BE49-F238E27FC236}">
                <a16:creationId xmlns:a16="http://schemas.microsoft.com/office/drawing/2014/main" id="{53FEBDF5-A405-4AFB-84ED-3ECE35DA9A45}"/>
              </a:ext>
            </a:extLst>
          </p:cNvPr>
          <p:cNvSpPr>
            <a:spLocks xmlns:a="http://schemas.openxmlformats.org/drawingml/2006/main" noGrp="1"/>
          </p:cNvSpPr>
          <p:nvPr/>
        </p:nvSpPr>
        <p:spPr>
          <a:xfrm xmlns:a="http://schemas.openxmlformats.org/drawingml/2006/main">
            <a:off x="533400" y="1190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3313D"/>
                </a:solidFill>
                <a:latin typeface="Calibri"/>
                <a:ea typeface="Calibri"/>
                <a:cs typeface="Calibri"/>
              </a:defRPr>
            </a:defPPr>
          </a:lstStyle>
          <a:p xmlns:a="http://schemas.openxmlformats.org/drawingml/2006/main">
            <a:pPr>
              <a:defRPr sz="2100" b="0">
                <a:solidFill>
                  <a:srgbClr val="23313D"/>
                </a:solidFill>
                <a:latin typeface="Calibri"/>
                <a:ea typeface="Calibri"/>
                <a:cs typeface="Calibri"/>
              </a:defRPr>
            </a:pPr>
            <a:r>
              <a:rPr sz="2100" b="0">
                <a:solidFill>
                  <a:srgbClr val="23313D"/>
                </a:solidFill>
                <a:latin typeface="Calibri"/>
                <a:ea typeface="Calibri"/>
                <a:cs typeface="Calibri"/>
              </a:rPr>
              <a:t>Predict a recorded product-subscription cancellation. A whole company can remain a customer.</a:t>
            </a:r>
          </a:p>
        </p:txBody>
      </p:sp>
      <p:sp>
        <p:nvSpPr>
          <p:cNvPr id="6" name="">
            <a:extLst xmlns:a="http://schemas.openxmlformats.org/drawingml/2006/main">
              <a:ext uri="{FF2B5EF4-FFF2-40B4-BE49-F238E27FC236}">
                <a16:creationId xmlns:a16="http://schemas.microsoft.com/office/drawing/2014/main" id="{4AB1602E-F3A2-4878-B6AD-371547070E7B}"/>
              </a:ext>
            </a:extLst>
          </p:cNvPr>
          <p:cNvSpPr>
            <a:spLocks xmlns:a="http://schemas.openxmlformats.org/drawingml/2006/main" noGrp="1"/>
          </p:cNvSpPr>
          <p:nvPr/>
        </p:nvSpPr>
        <p:spPr>
          <a:xfrm xmlns:a="http://schemas.openxmlformats.org/drawingml/2006/main">
            <a:off x="666750" y="266700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FF5A1F"/>
                </a:solidFill>
                <a:latin typeface="Calibri"/>
                <a:ea typeface="Calibri"/>
                <a:cs typeface="Calibri"/>
              </a:defRPr>
            </a:defPPr>
          </a:lstStyle>
          <a:p xmlns:a="http://schemas.openxmlformats.org/drawingml/2006/main">
            <a:pPr>
              <a:defRPr sz="2925" b="1">
                <a:solidFill>
                  <a:srgbClr val="FF5A1F"/>
                </a:solidFill>
                <a:latin typeface="Calibri"/>
                <a:ea typeface="Calibri"/>
                <a:cs typeface="Calibri"/>
              </a:defRPr>
            </a:pPr>
            <a:r>
              <a:rPr sz="2925" b="1">
                <a:solidFill>
                  <a:srgbClr val="FF5A1F"/>
                </a:solidFill>
                <a:latin typeface="Calibri"/>
                <a:ea typeface="Calibri"/>
                <a:cs typeface="Calibri"/>
              </a:rPr>
              <a:t>1</a:t>
            </a:r>
          </a:p>
        </p:txBody>
      </p:sp>
      <p:sp>
        <p:nvSpPr>
          <p:cNvPr id="7" name="">
            <a:extLst xmlns:a="http://schemas.openxmlformats.org/drawingml/2006/main">
              <a:ext uri="{FF2B5EF4-FFF2-40B4-BE49-F238E27FC236}">
                <a16:creationId xmlns:a16="http://schemas.microsoft.com/office/drawing/2014/main" id="{86F99EE0-2A57-4D82-B094-224357AB7C96}"/>
              </a:ext>
            </a:extLst>
          </p:cNvPr>
          <p:cNvSpPr>
            <a:spLocks xmlns:a="http://schemas.openxmlformats.org/drawingml/2006/main" noGrp="1"/>
          </p:cNvSpPr>
          <p:nvPr/>
        </p:nvSpPr>
        <p:spPr>
          <a:xfrm xmlns:a="http://schemas.openxmlformats.org/drawingml/2006/main">
            <a:off x="1285875" y="2676525"/>
            <a:ext cx="2714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3313D"/>
                </a:solidFill>
                <a:latin typeface="Calibri"/>
                <a:ea typeface="Calibri"/>
                <a:cs typeface="Calibri"/>
              </a:defRPr>
            </a:defPPr>
          </a:lstStyle>
          <a:p xmlns:a="http://schemas.openxmlformats.org/drawingml/2006/main">
            <a:pPr>
              <a:defRPr sz="1875" b="1">
                <a:solidFill>
                  <a:srgbClr val="23313D"/>
                </a:solidFill>
                <a:latin typeface="Calibri"/>
                <a:ea typeface="Calibri"/>
                <a:cs typeface="Calibri"/>
              </a:defRPr>
            </a:pPr>
            <a:r>
              <a:rPr sz="1875" b="1">
                <a:solidFill>
                  <a:srgbClr val="23313D"/>
                </a:solidFill>
                <a:latin typeface="Calibri"/>
                <a:ea typeface="Calibri"/>
                <a:cs typeface="Calibri"/>
              </a:rPr>
              <a:t>Prediction date</a:t>
            </a:r>
          </a:p>
        </p:txBody>
      </p:sp>
      <p:sp>
        <p:nvSpPr>
          <p:cNvPr id="8" name="">
            <a:extLst xmlns:a="http://schemas.openxmlformats.org/drawingml/2006/main">
              <a:ext uri="{FF2B5EF4-FFF2-40B4-BE49-F238E27FC236}">
                <a16:creationId xmlns:a16="http://schemas.microsoft.com/office/drawing/2014/main" id="{1D4EF8BA-D28F-4B8A-8768-B2A696ADCA16}"/>
              </a:ext>
            </a:extLst>
          </p:cNvPr>
          <p:cNvSpPr>
            <a:spLocks xmlns:a="http://schemas.openxmlformats.org/drawingml/2006/main" noGrp="1"/>
          </p:cNvSpPr>
          <p:nvPr/>
        </p:nvSpPr>
        <p:spPr>
          <a:xfrm xmlns:a="http://schemas.openxmlformats.org/drawingml/2006/main">
            <a:off x="1285875" y="3371850"/>
            <a:ext cx="2714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90 days before the contract expires</a:t>
            </a:r>
          </a:p>
        </p:txBody>
      </p:sp>
      <p:sp>
        <p:nvSpPr>
          <p:cNvPr id="9" name="">
            <a:extLst xmlns:a="http://schemas.openxmlformats.org/drawingml/2006/main">
              <a:ext uri="{FF2B5EF4-FFF2-40B4-BE49-F238E27FC236}">
                <a16:creationId xmlns:a16="http://schemas.microsoft.com/office/drawing/2014/main" id="{D3FD9038-B6EF-4AAF-B497-2B0A7A3C052B}"/>
              </a:ext>
            </a:extLst>
          </p:cNvPr>
          <p:cNvSpPr>
            <a:spLocks xmlns:a="http://schemas.openxmlformats.org/drawingml/2006/main" noGrp="1"/>
          </p:cNvSpPr>
          <p:nvPr/>
        </p:nvSpPr>
        <p:spPr>
          <a:xfrm xmlns:a="http://schemas.openxmlformats.org/drawingml/2006/main">
            <a:off x="4524375" y="266700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FF5A1F"/>
                </a:solidFill>
                <a:latin typeface="Calibri"/>
                <a:ea typeface="Calibri"/>
                <a:cs typeface="Calibri"/>
              </a:defRPr>
            </a:defPPr>
          </a:lstStyle>
          <a:p xmlns:a="http://schemas.openxmlformats.org/drawingml/2006/main">
            <a:pPr>
              <a:defRPr sz="2925" b="1">
                <a:solidFill>
                  <a:srgbClr val="FF5A1F"/>
                </a:solidFill>
                <a:latin typeface="Calibri"/>
                <a:ea typeface="Calibri"/>
                <a:cs typeface="Calibri"/>
              </a:defRPr>
            </a:pPr>
            <a:r>
              <a:rPr sz="2925" b="1">
                <a:solidFill>
                  <a:srgbClr val="FF5A1F"/>
                </a:solidFill>
                <a:latin typeface="Calibri"/>
                <a:ea typeface="Calibri"/>
                <a:cs typeface="Calibri"/>
              </a:rPr>
              <a:t>2</a:t>
            </a:r>
          </a:p>
        </p:txBody>
      </p:sp>
      <p:sp>
        <p:nvSpPr>
          <p:cNvPr id="10" name="">
            <a:extLst xmlns:a="http://schemas.openxmlformats.org/drawingml/2006/main">
              <a:ext uri="{FF2B5EF4-FFF2-40B4-BE49-F238E27FC236}">
                <a16:creationId xmlns:a16="http://schemas.microsoft.com/office/drawing/2014/main" id="{A9CEFC3A-2F02-4BCC-B858-3B5D760F69E8}"/>
              </a:ext>
            </a:extLst>
          </p:cNvPr>
          <p:cNvSpPr>
            <a:spLocks xmlns:a="http://schemas.openxmlformats.org/drawingml/2006/main" noGrp="1"/>
          </p:cNvSpPr>
          <p:nvPr/>
        </p:nvSpPr>
        <p:spPr>
          <a:xfrm xmlns:a="http://schemas.openxmlformats.org/drawingml/2006/main">
            <a:off x="5143500" y="2676525"/>
            <a:ext cx="2714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3313D"/>
                </a:solidFill>
                <a:latin typeface="Calibri"/>
                <a:ea typeface="Calibri"/>
                <a:cs typeface="Calibri"/>
              </a:defRPr>
            </a:defPPr>
          </a:lstStyle>
          <a:p xmlns:a="http://schemas.openxmlformats.org/drawingml/2006/main">
            <a:pPr>
              <a:defRPr sz="1875" b="1">
                <a:solidFill>
                  <a:srgbClr val="23313D"/>
                </a:solidFill>
                <a:latin typeface="Calibri"/>
                <a:ea typeface="Calibri"/>
                <a:cs typeface="Calibri"/>
              </a:defRPr>
            </a:pPr>
            <a:r>
              <a:rPr sz="1875" b="1">
                <a:solidFill>
                  <a:srgbClr val="23313D"/>
                </a:solidFill>
                <a:latin typeface="Calibri"/>
                <a:ea typeface="Calibri"/>
                <a:cs typeface="Calibri"/>
              </a:rPr>
              <a:t>Contract expiry</a:t>
            </a:r>
          </a:p>
        </p:txBody>
      </p:sp>
      <p:sp>
        <p:nvSpPr>
          <p:cNvPr id="11" name="">
            <a:extLst xmlns:a="http://schemas.openxmlformats.org/drawingml/2006/main">
              <a:ext uri="{FF2B5EF4-FFF2-40B4-BE49-F238E27FC236}">
                <a16:creationId xmlns:a16="http://schemas.microsoft.com/office/drawing/2014/main" id="{FB801BC3-3017-4B19-AE3C-CB867E37FE18}"/>
              </a:ext>
            </a:extLst>
          </p:cNvPr>
          <p:cNvSpPr>
            <a:spLocks xmlns:a="http://schemas.openxmlformats.org/drawingml/2006/main" noGrp="1"/>
          </p:cNvSpPr>
          <p:nvPr/>
        </p:nvSpPr>
        <p:spPr>
          <a:xfrm xmlns:a="http://schemas.openxmlformats.org/drawingml/2006/main">
            <a:off x="5143500" y="3371850"/>
            <a:ext cx="2714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The current subscription term ends</a:t>
            </a:r>
          </a:p>
        </p:txBody>
      </p:sp>
      <p:sp>
        <p:nvSpPr>
          <p:cNvPr id="12" name="">
            <a:extLst xmlns:a="http://schemas.openxmlformats.org/drawingml/2006/main">
              <a:ext uri="{FF2B5EF4-FFF2-40B4-BE49-F238E27FC236}">
                <a16:creationId xmlns:a16="http://schemas.microsoft.com/office/drawing/2014/main" id="{C1FC9F9A-2748-4344-AB76-F745B1ACB7B6}"/>
              </a:ext>
            </a:extLst>
          </p:cNvPr>
          <p:cNvSpPr>
            <a:spLocks xmlns:a="http://schemas.openxmlformats.org/drawingml/2006/main" noGrp="1"/>
          </p:cNvSpPr>
          <p:nvPr/>
        </p:nvSpPr>
        <p:spPr>
          <a:xfrm xmlns:a="http://schemas.openxmlformats.org/drawingml/2006/main">
            <a:off x="8382000" y="266700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FF5A1F"/>
                </a:solidFill>
                <a:latin typeface="Calibri"/>
                <a:ea typeface="Calibri"/>
                <a:cs typeface="Calibri"/>
              </a:defRPr>
            </a:defPPr>
          </a:lstStyle>
          <a:p xmlns:a="http://schemas.openxmlformats.org/drawingml/2006/main">
            <a:pPr>
              <a:defRPr sz="2925" b="1">
                <a:solidFill>
                  <a:srgbClr val="FF5A1F"/>
                </a:solidFill>
                <a:latin typeface="Calibri"/>
                <a:ea typeface="Calibri"/>
                <a:cs typeface="Calibri"/>
              </a:defRPr>
            </a:pPr>
            <a:r>
              <a:rPr sz="2925" b="1">
                <a:solidFill>
                  <a:srgbClr val="FF5A1F"/>
                </a:solidFill>
                <a:latin typeface="Calibri"/>
                <a:ea typeface="Calibri"/>
                <a:cs typeface="Calibri"/>
              </a:rPr>
              <a:t>3</a:t>
            </a:r>
          </a:p>
        </p:txBody>
      </p:sp>
      <p:sp>
        <p:nvSpPr>
          <p:cNvPr id="13" name="">
            <a:extLst xmlns:a="http://schemas.openxmlformats.org/drawingml/2006/main">
              <a:ext uri="{FF2B5EF4-FFF2-40B4-BE49-F238E27FC236}">
                <a16:creationId xmlns:a16="http://schemas.microsoft.com/office/drawing/2014/main" id="{DAC8C580-43CC-4C8A-A43D-0368C6AE0C2B}"/>
              </a:ext>
            </a:extLst>
          </p:cNvPr>
          <p:cNvSpPr>
            <a:spLocks xmlns:a="http://schemas.openxmlformats.org/drawingml/2006/main" noGrp="1"/>
          </p:cNvSpPr>
          <p:nvPr/>
        </p:nvSpPr>
        <p:spPr>
          <a:xfrm xmlns:a="http://schemas.openxmlformats.org/drawingml/2006/main">
            <a:off x="9001125" y="2676525"/>
            <a:ext cx="252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3313D"/>
                </a:solidFill>
                <a:latin typeface="Calibri"/>
                <a:ea typeface="Calibri"/>
                <a:cs typeface="Calibri"/>
              </a:defRPr>
            </a:defPPr>
          </a:lstStyle>
          <a:p xmlns:a="http://schemas.openxmlformats.org/drawingml/2006/main">
            <a:pPr>
              <a:defRPr sz="1875" b="1">
                <a:solidFill>
                  <a:srgbClr val="23313D"/>
                </a:solidFill>
                <a:latin typeface="Calibri"/>
                <a:ea typeface="Calibri"/>
                <a:cs typeface="Calibri"/>
              </a:defRPr>
            </a:pPr>
            <a:r>
              <a:rPr sz="1875" b="1">
                <a:solidFill>
                  <a:srgbClr val="23313D"/>
                </a:solidFill>
                <a:latin typeface="Calibri"/>
                <a:ea typeface="Calibri"/>
                <a:cs typeface="Calibri"/>
              </a:rPr>
              <a:t>Outcome observed</a:t>
            </a:r>
          </a:p>
        </p:txBody>
      </p:sp>
      <p:sp>
        <p:nvSpPr>
          <p:cNvPr id="14" name="">
            <a:extLst xmlns:a="http://schemas.openxmlformats.org/drawingml/2006/main">
              <a:ext uri="{FF2B5EF4-FFF2-40B4-BE49-F238E27FC236}">
                <a16:creationId xmlns:a16="http://schemas.microsoft.com/office/drawing/2014/main" id="{1AF244B5-91EE-4C22-AF08-CF2E8D44C6C2}"/>
              </a:ext>
            </a:extLst>
          </p:cNvPr>
          <p:cNvSpPr>
            <a:spLocks xmlns:a="http://schemas.openxmlformats.org/drawingml/2006/main" noGrp="1"/>
          </p:cNvSpPr>
          <p:nvPr/>
        </p:nvSpPr>
        <p:spPr>
          <a:xfrm xmlns:a="http://schemas.openxmlformats.org/drawingml/2006/main">
            <a:off x="9001125" y="3371850"/>
            <a:ext cx="2524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Follow cancellation events through expiry + 90 days</a:t>
            </a:r>
          </a:p>
        </p:txBody>
      </p:sp>
      <p:sp>
        <p:nvSpPr>
          <p:cNvPr id="15" name="">
            <a:extLst xmlns:a="http://schemas.openxmlformats.org/drawingml/2006/main">
              <a:ext uri="{FF2B5EF4-FFF2-40B4-BE49-F238E27FC236}">
                <a16:creationId xmlns:a16="http://schemas.microsoft.com/office/drawing/2014/main" id="{9EA8FEF4-7FE2-4BDE-9F39-083BEE12D10D}"/>
              </a:ext>
            </a:extLst>
          </p:cNvPr>
          <p:cNvSpPr>
            <a:spLocks xmlns:a="http://schemas.openxmlformats.org/drawingml/2006/main" noGrp="1"/>
          </p:cNvSpPr>
          <p:nvPr/>
        </p:nvSpPr>
        <p:spPr>
          <a:xfrm xmlns:a="http://schemas.openxmlformats.org/drawingml/2006/main">
            <a:off x="666750" y="53340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One row = one subscription contract at its prediction date</a:t>
            </a:r>
          </a:p>
        </p:txBody>
      </p:sp>
      <p:sp>
        <p:nvSpPr>
          <p:cNvPr id="16" name="">
            <a:extLst xmlns:a="http://schemas.openxmlformats.org/drawingml/2006/main">
              <a:ext uri="{FF2B5EF4-FFF2-40B4-BE49-F238E27FC236}">
                <a16:creationId xmlns:a16="http://schemas.microsoft.com/office/drawing/2014/main" id="{532A162B-0B0C-4579-B83F-F74D8E8FC28B}"/>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Lower annual value is contraction. No recorded cancellation does not prove a successful renewal.</a:t>
            </a:r>
          </a:p>
        </p:txBody>
      </p:sp>
    </p:spTree>
    <p:extLst>
      <p:ext uri="{BB962C8B-B14F-4D97-AF65-F5344CB8AC3E}">
        <p14:creationId xmlns:p14="http://schemas.microsoft.com/office/powerpoint/2010/main" val="9030435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677F6E-D647-427D-B6FC-4CF9BC3388D6}"/>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169CE1-6A80-4532-96B8-F43F58DB9584}"/>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EB8BC6-944B-4F7F-80A5-FA7E6010B59D}"/>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One company can have several renewal decisions</a:t>
            </a:r>
          </a:p>
        </p:txBody>
      </p:sp>
      <p:sp>
        <p:nvSpPr>
          <p:cNvPr id="4" name="">
            <a:extLst xmlns:a="http://schemas.openxmlformats.org/drawingml/2006/main">
              <a:ext uri="{FF2B5EF4-FFF2-40B4-BE49-F238E27FC236}">
                <a16:creationId xmlns:a16="http://schemas.microsoft.com/office/drawing/2014/main" id="{BF8DE99C-8DEB-44EF-B000-4B96ABCB0E30}"/>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3</a:t>
            </a:r>
          </a:p>
        </p:txBody>
      </p:sp>
      <p:graphicFrame>
        <p:nvGraphicFramePr>
          <p:cNvPr id="5" name="">
            <a:extLst xmlns:a="http://schemas.openxmlformats.org/drawingml/2006/main">
              <a:ext uri="{FF2B5EF4-FFF2-40B4-BE49-F238E27FC236}">
                <a16:creationId xmlns:a16="http://schemas.microsoft.com/office/drawing/2014/main" id="{C71A0D7E-186D-4D86-AD48-8EED6C389137}"/>
              </a:ext>
            </a:extLst>
          </p:cNvPr>
          <p:cNvGraphicFramePr/>
          <p:nvPr/>
        </p:nvGraphicFramePr>
        <p:xfrm>
          <a:off xmlns:a="http://schemas.openxmlformats.org/drawingml/2006/main" x="533400" y="1333500"/>
          <a:ext xmlns:a="http://schemas.openxmlformats.org/drawingml/2006/main" cx="11125200" cy="3429000"/>
        </p:xfrm>
        <a:graphic xmlns:a="http://schemas.openxmlformats.org/drawingml/2006/main">
          <a:graphicData uri="http://schemas.openxmlformats.org/drawingml/2006/table">
            <a:tbl>
              <a:tblPr/>
              <a:tblGrid>
                <a:gridCol w="2905125"/>
                <a:gridCol w="4667250"/>
                <a:gridCol w="3552825"/>
              </a:tblGrid>
              <a:tr h="685800">
                <a:tc>
                  <a:txBody>
                    <a:bodyPr/>
                    <a:lstStyle/>
                    <a:p>
                      <a:r>
                        <a:rPr sz="1725" b="1">
                          <a:solidFill>
                            <a:srgbClr val="FFFFFF"/>
                          </a:solidFill>
                          <a:latin typeface="Calibri"/>
                          <a:ea typeface="Calibri"/>
                          <a:cs typeface="Calibri"/>
                        </a:rPr>
                        <a:t>Level</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Plain meaning</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Used for</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685800">
                <a:tc>
                  <a:txBody>
                    <a:bodyPr/>
                    <a:lstStyle/>
                    <a:p>
                      <a:r>
                        <a:rPr sz="1725">
                          <a:solidFill>
                            <a:srgbClr val="23313D"/>
                          </a:solidFill>
                          <a:latin typeface="Calibri"/>
                          <a:ea typeface="Calibri"/>
                          <a:cs typeface="Calibri"/>
                        </a:rPr>
                        <a:t>Parent organization</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9,125 groups of related accounts</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Grouping related customers</a:t>
                      </a:r>
                    </a:p>
                  </a:txBody>
                  <a:tcPr marL="114300" marR="114300" marT="76200" marB="76200">
                    <a:lnR w="5715">
                      <a:solidFill>
                        <a:srgbClr val="D3DCE2"/>
                      </a:solidFill>
                      <a:prstDash val="solid"/>
                    </a:lnR>
                    <a:lnB w="5715">
                      <a:solidFill>
                        <a:srgbClr val="D3DCE2"/>
                      </a:solidFill>
                      <a:prstDash val="solid"/>
                    </a:lnB>
                    <a:solidFill>
                      <a:srgbClr val="FFFFFF"/>
                    </a:solidFill>
                  </a:tcPr>
                </a:tc>
              </a:tr>
              <a:tr h="685800">
                <a:tc>
                  <a:txBody>
                    <a:bodyPr/>
                    <a:lstStyle/>
                    <a:p>
                      <a:r>
                        <a:rPr sz="1725">
                          <a:solidFill>
                            <a:srgbClr val="23313D"/>
                          </a:solidFill>
                          <a:latin typeface="Calibri"/>
                          <a:ea typeface="Calibri"/>
                          <a:cs typeface="Calibri"/>
                        </a:rPr>
                        <a:t>Purchasing account</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10,000 buying accounts</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Assigning customer reviews</a:t>
                      </a:r>
                    </a:p>
                  </a:txBody>
                  <a:tcPr marL="114300" marR="114300" marT="76200" marB="76200">
                    <a:lnR w="5715">
                      <a:solidFill>
                        <a:srgbClr val="D3DCE2"/>
                      </a:solidFill>
                      <a:prstDash val="solid"/>
                    </a:lnR>
                    <a:lnB w="5715">
                      <a:solidFill>
                        <a:srgbClr val="D3DCE2"/>
                      </a:solidFill>
                      <a:prstDash val="solid"/>
                    </a:lnB>
                    <a:solidFill>
                      <a:srgbClr val="F1F4F6"/>
                    </a:solidFill>
                  </a:tcPr>
                </a:tc>
              </a:tr>
              <a:tr h="685800">
                <a:tc>
                  <a:txBody>
                    <a:bodyPr/>
                    <a:lstStyle/>
                    <a:p>
                      <a:r>
                        <a:rPr sz="1725">
                          <a:solidFill>
                            <a:srgbClr val="23313D"/>
                          </a:solidFill>
                          <a:latin typeface="Calibri"/>
                          <a:ea typeface="Calibri"/>
                          <a:cs typeface="Calibri"/>
                        </a:rPr>
                        <a:t>Subscription contract</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One product line for one term</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Predicting cancellation</a:t>
                      </a:r>
                    </a:p>
                  </a:txBody>
                  <a:tcPr marL="114300" marR="114300" marT="76200" marB="76200">
                    <a:lnR w="5715">
                      <a:solidFill>
                        <a:srgbClr val="D3DCE2"/>
                      </a:solidFill>
                      <a:prstDash val="solid"/>
                    </a:lnR>
                    <a:lnB w="5715">
                      <a:solidFill>
                        <a:srgbClr val="D3DCE2"/>
                      </a:solidFill>
                      <a:prstDash val="solid"/>
                    </a:lnB>
                    <a:solidFill>
                      <a:srgbClr val="FFFFFF"/>
                    </a:solidFill>
                  </a:tcPr>
                </a:tc>
              </a:tr>
              <a:tr h="685800">
                <a:tc>
                  <a:txBody>
                    <a:bodyPr/>
                    <a:lstStyle/>
                    <a:p>
                      <a:r>
                        <a:rPr sz="1725">
                          <a:solidFill>
                            <a:srgbClr val="23313D"/>
                          </a:solidFill>
                          <a:latin typeface="Calibri"/>
                          <a:ea typeface="Calibri"/>
                          <a:cs typeface="Calibri"/>
                        </a:rPr>
                        <a:t>Team and deployment</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People using an installation</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Measuring adoption and product value</a:t>
                      </a:r>
                    </a:p>
                  </a:txBody>
                  <a:tcPr marL="114300" marR="114300" marT="76200" marB="76200">
                    <a:lnR w="5715">
                      <a:solidFill>
                        <a:srgbClr val="D3DCE2"/>
                      </a:solidFill>
                      <a:prstDash val="solid"/>
                    </a:lnR>
                    <a:lnB w="5715">
                      <a:solidFill>
                        <a:srgbClr val="D3DCE2"/>
                      </a:solidFill>
                      <a:prstDash val="solid"/>
                    </a:lnB>
                    <a:solidFill>
                      <a:srgbClr val="F1F4F6"/>
                    </a:solidFill>
                  </a:tcPr>
                </a:tc>
              </a:tr>
            </a:tbl>
          </a:graphicData>
        </a:graphic>
      </p:graphicFrame>
      <p:sp>
        <p:nvSpPr>
          <p:cNvPr id="6" name="">
            <a:extLst xmlns:a="http://schemas.openxmlformats.org/drawingml/2006/main">
              <a:ext uri="{FF2B5EF4-FFF2-40B4-BE49-F238E27FC236}">
                <a16:creationId xmlns:a16="http://schemas.microsoft.com/office/drawing/2014/main" id="{1996B35C-60BD-4C8D-B5A7-53A3AD74FE1B}"/>
              </a:ext>
            </a:extLst>
          </p:cNvPr>
          <p:cNvSpPr>
            <a:spLocks xmlns:a="http://schemas.openxmlformats.org/drawingml/2006/main" noGrp="1"/>
          </p:cNvSpPr>
          <p:nvPr/>
        </p:nvSpPr>
        <p:spPr>
          <a:xfrm xmlns:a="http://schemas.openxmlformats.org/drawingml/2006/main">
            <a:off x="533400" y="51911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3313D"/>
                </a:solidFill>
                <a:latin typeface="Calibri"/>
                <a:ea typeface="Calibri"/>
                <a:cs typeface="Calibri"/>
              </a:defRPr>
            </a:defPPr>
          </a:lstStyle>
          <a:p xmlns:a="http://schemas.openxmlformats.org/drawingml/2006/main">
            <a:pPr>
              <a:defRPr sz="2100" b="0">
                <a:solidFill>
                  <a:srgbClr val="23313D"/>
                </a:solidFill>
                <a:latin typeface="Calibri"/>
                <a:ea typeface="Calibri"/>
                <a:cs typeface="Calibri"/>
              </a:defRPr>
            </a:pPr>
            <a:r>
              <a:rPr sz="2100" b="0">
                <a:solidFill>
                  <a:srgbClr val="23313D"/>
                </a:solidFill>
                <a:latin typeface="Calibri"/>
                <a:ea typeface="Calibri"/>
                <a:cs typeface="Calibri"/>
              </a:rPr>
              <a:t>Review capacity assumption: 30 purchasing accounts per cycle</a:t>
            </a:r>
          </a:p>
        </p:txBody>
      </p:sp>
      <p:sp>
        <p:nvSpPr>
          <p:cNvPr id="7" name="">
            <a:extLst xmlns:a="http://schemas.openxmlformats.org/drawingml/2006/main">
              <a:ext uri="{FF2B5EF4-FFF2-40B4-BE49-F238E27FC236}">
                <a16:creationId xmlns:a16="http://schemas.microsoft.com/office/drawing/2014/main" id="{9DE729B2-AA6D-4E22-9E49-A1B6A94AF6DF}"/>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The customer team manages all accounts in this scenario. Product use and commercial cancellation remain different events.</a:t>
            </a:r>
          </a:p>
        </p:txBody>
      </p:sp>
    </p:spTree>
    <p:extLst>
      <p:ext uri="{BB962C8B-B14F-4D97-AF65-F5344CB8AC3E}">
        <p14:creationId xmlns:p14="http://schemas.microsoft.com/office/powerpoint/2010/main" val="11935036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C577EA-791B-498E-86BE-D519932F194F}"/>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3C8AF5-5596-4927-927B-EEED094F5FB4}"/>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DF5E89-1599-4453-A298-EDA6892D63FA}"/>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How I created the synthetic customer histories</a:t>
            </a:r>
          </a:p>
        </p:txBody>
      </p:sp>
      <p:sp>
        <p:nvSpPr>
          <p:cNvPr id="4" name="">
            <a:extLst xmlns:a="http://schemas.openxmlformats.org/drawingml/2006/main">
              <a:ext uri="{FF2B5EF4-FFF2-40B4-BE49-F238E27FC236}">
                <a16:creationId xmlns:a16="http://schemas.microsoft.com/office/drawing/2014/main" id="{6050D434-C735-4AD8-AD01-1538665776EE}"/>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4</a:t>
            </a:r>
          </a:p>
        </p:txBody>
      </p:sp>
      <p:graphicFrame>
        <p:nvGraphicFramePr>
          <p:cNvPr id="5" name="">
            <a:extLst xmlns:a="http://schemas.openxmlformats.org/drawingml/2006/main">
              <a:ext uri="{FF2B5EF4-FFF2-40B4-BE49-F238E27FC236}">
                <a16:creationId xmlns:a16="http://schemas.microsoft.com/office/drawing/2014/main" id="{2FD94CA7-9EEB-406F-BF64-EE9A2417FF3F}"/>
              </a:ext>
            </a:extLst>
          </p:cNvPr>
          <p:cNvGraphicFramePr/>
          <p:nvPr/>
        </p:nvGraphicFramePr>
        <p:xfrm>
          <a:off xmlns:a="http://schemas.openxmlformats.org/drawingml/2006/main" x="533400" y="1333500"/>
          <a:ext xmlns:a="http://schemas.openxmlformats.org/drawingml/2006/main" cx="11125200" cy="3952875"/>
        </p:xfrm>
        <a:graphic xmlns:a="http://schemas.openxmlformats.org/drawingml/2006/main">
          <a:graphicData uri="http://schemas.openxmlformats.org/drawingml/2006/table">
            <a:tbl>
              <a:tblPr/>
              <a:tblGrid>
                <a:gridCol w="2381250"/>
                <a:gridCol w="4953000"/>
                <a:gridCol w="3790950"/>
              </a:tblGrid>
              <a:tr h="658813">
                <a:tc>
                  <a:txBody>
                    <a:bodyPr/>
                    <a:lstStyle/>
                    <a:p>
                      <a:r>
                        <a:rPr sz="1725" b="1">
                          <a:solidFill>
                            <a:srgbClr val="FFFFFF"/>
                          </a:solidFill>
                          <a:latin typeface="Calibri"/>
                          <a:ea typeface="Calibri"/>
                          <a:cs typeface="Calibri"/>
                        </a:rPr>
                        <a:t>Step</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What is generated</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Why it matters</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658813">
                <a:tc>
                  <a:txBody>
                    <a:bodyPr/>
                    <a:lstStyle/>
                    <a:p>
                      <a:r>
                        <a:rPr sz="1725">
                          <a:solidFill>
                            <a:srgbClr val="23313D"/>
                          </a:solidFill>
                          <a:latin typeface="Calibri"/>
                          <a:ea typeface="Calibri"/>
                          <a:cs typeface="Calibri"/>
                        </a:rPr>
                        <a:t>1. Buying accounts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Company size, product choices, quantities and term lengths</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Different commercial histories</a:t>
                      </a:r>
                    </a:p>
                  </a:txBody>
                  <a:tcPr marL="114300" marR="114300" marT="76200" marB="76200">
                    <a:lnR w="5715">
                      <a:solidFill>
                        <a:srgbClr val="D3DCE2"/>
                      </a:solidFill>
                      <a:prstDash val="solid"/>
                    </a:lnR>
                    <a:lnB w="5715">
                      <a:solidFill>
                        <a:srgbClr val="D3DCE2"/>
                      </a:solidFill>
                      <a:prstDash val="solid"/>
                    </a:lnB>
                    <a:solidFill>
                      <a:srgbClr val="FFFFFF"/>
                    </a:solidFill>
                  </a:tcPr>
                </a:tc>
              </a:tr>
              <a:tr h="658813">
                <a:tc>
                  <a:txBody>
                    <a:bodyPr/>
                    <a:lstStyle/>
                    <a:p>
                      <a:r>
                        <a:rPr sz="1725">
                          <a:solidFill>
                            <a:srgbClr val="23313D"/>
                          </a:solidFill>
                          <a:latin typeface="Calibri"/>
                          <a:ea typeface="Calibri"/>
                          <a:cs typeface="Calibri"/>
                        </a:rPr>
                        <a:t>2. Customer experience</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Deployment progress, product use and service problems</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Plausible cancellation mechanisms</a:t>
                      </a:r>
                    </a:p>
                  </a:txBody>
                  <a:tcPr marL="114300" marR="114300" marT="76200" marB="76200">
                    <a:lnR w="5715">
                      <a:solidFill>
                        <a:srgbClr val="D3DCE2"/>
                      </a:solidFill>
                      <a:prstDash val="solid"/>
                    </a:lnR>
                    <a:lnB w="5715">
                      <a:solidFill>
                        <a:srgbClr val="D3DCE2"/>
                      </a:solidFill>
                      <a:prstDash val="solid"/>
                    </a:lnB>
                    <a:solidFill>
                      <a:srgbClr val="F1F4F6"/>
                    </a:solidFill>
                  </a:tcPr>
                </a:tc>
              </a:tr>
              <a:tr h="658813">
                <a:tc>
                  <a:txBody>
                    <a:bodyPr/>
                    <a:lstStyle/>
                    <a:p>
                      <a:r>
                        <a:rPr sz="1725">
                          <a:solidFill>
                            <a:srgbClr val="23313D"/>
                          </a:solidFill>
                          <a:latin typeface="Calibri"/>
                          <a:ea typeface="Calibri"/>
                          <a:cs typeface="Calibri"/>
                        </a:rPr>
                        <a:t>3. Renewals over time</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Purchases, renewals, contractions and cancellations</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Chronological commercial outcomes</a:t>
                      </a:r>
                    </a:p>
                  </a:txBody>
                  <a:tcPr marL="114300" marR="114300" marT="76200" marB="76200">
                    <a:lnR w="5715">
                      <a:solidFill>
                        <a:srgbClr val="D3DCE2"/>
                      </a:solidFill>
                      <a:prstDash val="solid"/>
                    </a:lnR>
                    <a:lnB w="5715">
                      <a:solidFill>
                        <a:srgbClr val="D3DCE2"/>
                      </a:solidFill>
                      <a:prstDash val="solid"/>
                    </a:lnB>
                    <a:solidFill>
                      <a:srgbClr val="FFFFFF"/>
                    </a:solidFill>
                  </a:tcPr>
                </a:tc>
              </a:tr>
              <a:tr h="658813">
                <a:tc>
                  <a:txBody>
                    <a:bodyPr/>
                    <a:lstStyle/>
                    <a:p>
                      <a:r>
                        <a:rPr sz="1725">
                          <a:solidFill>
                            <a:srgbClr val="23313D"/>
                          </a:solidFill>
                          <a:latin typeface="Calibri"/>
                          <a:ea typeface="Calibri"/>
                          <a:cs typeface="Calibri"/>
                        </a:rPr>
                        <a:t>4. Operating records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Weekly product signals, support cases and interactions</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Observable history for prediction</a:t>
                      </a:r>
                    </a:p>
                  </a:txBody>
                  <a:tcPr marL="114300" marR="114300" marT="76200" marB="76200">
                    <a:lnR w="5715">
                      <a:solidFill>
                        <a:srgbClr val="D3DCE2"/>
                      </a:solidFill>
                      <a:prstDash val="solid"/>
                    </a:lnR>
                    <a:lnB w="5715">
                      <a:solidFill>
                        <a:srgbClr val="D3DCE2"/>
                      </a:solidFill>
                      <a:prstDash val="solid"/>
                    </a:lnB>
                    <a:solidFill>
                      <a:srgbClr val="F1F4F6"/>
                    </a:solidFill>
                  </a:tcPr>
                </a:tc>
              </a:tr>
              <a:tr h="658813">
                <a:tc>
                  <a:txBody>
                    <a:bodyPr/>
                    <a:lstStyle/>
                    <a:p>
                      <a:r>
                        <a:rPr sz="1725">
                          <a:solidFill>
                            <a:srgbClr val="23313D"/>
                          </a:solidFill>
                          <a:latin typeface="Calibri"/>
                          <a:ea typeface="Calibri"/>
                          <a:cs typeface="Calibri"/>
                        </a:rPr>
                        <a:t>5. Source errors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Duplicates, invalid dates and broken references</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A realistic cleaning exercise</a:t>
                      </a:r>
                    </a:p>
                  </a:txBody>
                  <a:tcPr marL="114300" marR="114300" marT="76200" marB="76200">
                    <a:lnR w="5715">
                      <a:solidFill>
                        <a:srgbClr val="D3DCE2"/>
                      </a:solidFill>
                      <a:prstDash val="solid"/>
                    </a:lnR>
                    <a:lnB w="5715">
                      <a:solidFill>
                        <a:srgbClr val="D3DCE2"/>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F35EEFD-E20B-44C6-8D86-4CF474A080A3}"/>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Primary seed 137. Experience generates noisy operating signals and stochastic outcomes. Hidden probabilities never enter the model.</a:t>
            </a:r>
          </a:p>
        </p:txBody>
      </p:sp>
    </p:spTree>
    <p:extLst>
      <p:ext uri="{BB962C8B-B14F-4D97-AF65-F5344CB8AC3E}">
        <p14:creationId xmlns:p14="http://schemas.microsoft.com/office/powerpoint/2010/main" val="4699796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052AFC-CB6C-4FDA-97EE-56A966DAE950}"/>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85294D-17F9-448F-88F1-1758D59115CB}"/>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D0BCAE-62F2-4182-9C12-FF35320A8B88}"/>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The assumptions behind the simulated outcomes</a:t>
            </a:r>
          </a:p>
        </p:txBody>
      </p:sp>
      <p:sp>
        <p:nvSpPr>
          <p:cNvPr id="4" name="">
            <a:extLst xmlns:a="http://schemas.openxmlformats.org/drawingml/2006/main">
              <a:ext uri="{FF2B5EF4-FFF2-40B4-BE49-F238E27FC236}">
                <a16:creationId xmlns:a16="http://schemas.microsoft.com/office/drawing/2014/main" id="{DE88C46B-3997-4B57-A9E1-A3EAC26B9485}"/>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5</a:t>
            </a:r>
          </a:p>
        </p:txBody>
      </p:sp>
      <p:graphicFrame>
        <p:nvGraphicFramePr>
          <p:cNvPr id="5" name="Chart">
            <a:extLst xmlns:a="http://schemas.openxmlformats.org/drawingml/2006/main">
              <a:ext uri="{FF2B5EF4-FFF2-40B4-BE49-F238E27FC236}">
                <a16:creationId xmlns:a16="http://schemas.microsoft.com/office/drawing/2014/main" id="{5B66EAB1-5341-42C6-A23F-881290CAB9B6}"/>
              </a:ext>
            </a:extLst>
          </p:cNvPr>
          <p:cNvGraphicFramePr/>
          <p:nvPr/>
        </p:nvGraphicFramePr>
        <p:xfrm>
          <a:off xmlns:a="http://schemas.openxmlformats.org/drawingml/2006/main" x="533400" y="1381125"/>
          <a:ext xmlns:a="http://schemas.openxmlformats.org/drawingml/2006/main" cx="6572250" cy="3810000"/>
        </p:xfrm>
        <a:graphic xmlns:a="http://schemas.openxmlformats.org/drawingml/2006/main">
          <a:graphicData uri="http://schemas.openxmlformats.org/drawingml/2006/chart">
            <c:chart xmlns:r="http://schemas.openxmlformats.org/officeDocument/2006/relationships" xmlns:c="http://schemas.openxmlformats.org/drawingml/2006/chart" r:id="R417ddb64b58e4e33"/>
          </a:graphicData>
        </a:graphic>
      </p:graphicFrame>
      <p:sp>
        <p:nvSpPr>
          <p:cNvPr id="6" name="">
            <a:extLst xmlns:a="http://schemas.openxmlformats.org/drawingml/2006/main">
              <a:ext uri="{FF2B5EF4-FFF2-40B4-BE49-F238E27FC236}">
                <a16:creationId xmlns:a16="http://schemas.microsoft.com/office/drawing/2014/main" id="{5172702D-C631-4871-806E-37CC3814AF17}"/>
              </a:ext>
            </a:extLst>
          </p:cNvPr>
          <p:cNvSpPr>
            <a:spLocks xmlns:a="http://schemas.openxmlformats.org/drawingml/2006/main" noGrp="1"/>
          </p:cNvSpPr>
          <p:nvPr/>
        </p:nvSpPr>
        <p:spPr>
          <a:xfrm xmlns:a="http://schemas.openxmlformats.org/drawingml/2006/main">
            <a:off x="7762875" y="14287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Additional assumptions</a:t>
            </a:r>
          </a:p>
        </p:txBody>
      </p:sp>
      <p:sp>
        <p:nvSpPr>
          <p:cNvPr id="7" name="">
            <a:extLst xmlns:a="http://schemas.openxmlformats.org/drawingml/2006/main">
              <a:ext uri="{FF2B5EF4-FFF2-40B4-BE49-F238E27FC236}">
                <a16:creationId xmlns:a16="http://schemas.microsoft.com/office/drawing/2014/main" id="{D674E541-0E93-42DF-93C3-0F6A93EA5E63}"/>
              </a:ext>
            </a:extLst>
          </p:cNvPr>
          <p:cNvSpPr>
            <a:spLocks xmlns:a="http://schemas.openxmlformats.org/drawingml/2006/main" noGrp="1"/>
          </p:cNvSpPr>
          <p:nvPr/>
        </p:nvSpPr>
        <p:spPr>
          <a:xfrm xmlns:a="http://schemas.openxmlformats.org/drawingml/2006/main">
            <a:off x="7762875" y="2047875"/>
            <a:ext cx="3714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3313D"/>
                </a:solidFill>
                <a:latin typeface="Calibri"/>
                <a:ea typeface="Calibri"/>
                <a:cs typeface="Calibri"/>
              </a:defRPr>
            </a:defPPr>
          </a:lstStyle>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Contract terms: 1 to 3 years</a:t>
            </a:r>
          </a:p>
          <a:p xmlns:a="http://schemas.openxmlformats.org/drawingml/2006/main">
            <a:r>
              <a:t/>
            </a:r>
          </a:p>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Reliable operating measurements</a:t>
            </a:r>
          </a:p>
          <a:p xmlns:a="http://schemas.openxmlformats.org/drawingml/2006/main">
            <a:r>
              <a:t/>
            </a:r>
          </a:p>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Experience can change renewal risk</a:t>
            </a:r>
          </a:p>
          <a:p xmlns:a="http://schemas.openxmlformats.org/drawingml/2006/main">
            <a:r>
              <a:t/>
            </a:r>
          </a:p>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Synthetic prices and customer mix</a:t>
            </a:r>
          </a:p>
        </p:txBody>
      </p:sp>
      <p:sp>
        <p:nvSpPr>
          <p:cNvPr id="8" name="">
            <a:extLst xmlns:a="http://schemas.openxmlformats.org/drawingml/2006/main">
              <a:ext uri="{FF2B5EF4-FFF2-40B4-BE49-F238E27FC236}">
                <a16:creationId xmlns:a16="http://schemas.microsoft.com/office/drawing/2014/main" id="{9CDC4AA3-8ABC-4FAB-B5BA-93BC2D32FE1C}"/>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These are simulation choices. Example: 8% annual risk becomes 22.13% over three years before experience adjustments.</a:t>
            </a:r>
          </a:p>
        </p:txBody>
      </p:sp>
    </p:spTree>
    <p:extLst>
      <p:ext uri="{BB962C8B-B14F-4D97-AF65-F5344CB8AC3E}">
        <p14:creationId xmlns:p14="http://schemas.microsoft.com/office/powerpoint/2010/main" val="19401838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739367-2E25-495A-B33B-5DB5DE595B6F}"/>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0EF140-2FB4-4DAA-93D7-51C2C5185C91}"/>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584059-6445-465C-81EA-A00CFBEE09C8}"/>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Assumed combinations that raise cancellation risk</a:t>
            </a:r>
          </a:p>
        </p:txBody>
      </p:sp>
      <p:sp>
        <p:nvSpPr>
          <p:cNvPr id="4" name="">
            <a:extLst xmlns:a="http://schemas.openxmlformats.org/drawingml/2006/main">
              <a:ext uri="{FF2B5EF4-FFF2-40B4-BE49-F238E27FC236}">
                <a16:creationId xmlns:a16="http://schemas.microsoft.com/office/drawing/2014/main" id="{DF9ED779-9FF8-4BCA-8ABB-5DD8BDA0CBE1}"/>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6</a:t>
            </a:r>
          </a:p>
        </p:txBody>
      </p:sp>
      <p:graphicFrame>
        <p:nvGraphicFramePr>
          <p:cNvPr id="5" name="">
            <a:extLst xmlns:a="http://schemas.openxmlformats.org/drawingml/2006/main">
              <a:ext uri="{FF2B5EF4-FFF2-40B4-BE49-F238E27FC236}">
                <a16:creationId xmlns:a16="http://schemas.microsoft.com/office/drawing/2014/main" id="{0875CC60-C2FA-4F30-B2FE-3BD8B2E0E213}"/>
              </a:ext>
            </a:extLst>
          </p:cNvPr>
          <p:cNvGraphicFramePr/>
          <p:nvPr/>
        </p:nvGraphicFramePr>
        <p:xfrm>
          <a:off xmlns:a="http://schemas.openxmlformats.org/drawingml/2006/main" x="533400" y="1381125"/>
          <a:ext xmlns:a="http://schemas.openxmlformats.org/drawingml/2006/main" cx="11125200" cy="3095625"/>
        </p:xfrm>
        <a:graphic xmlns:a="http://schemas.openxmlformats.org/drawingml/2006/main">
          <a:graphicData uri="http://schemas.openxmlformats.org/drawingml/2006/table">
            <a:tbl>
              <a:tblPr/>
              <a:tblGrid>
                <a:gridCol w="5048250"/>
                <a:gridCol w="6076950"/>
              </a:tblGrid>
              <a:tr h="619125">
                <a:tc>
                  <a:txBody>
                    <a:bodyPr/>
                    <a:lstStyle/>
                    <a:p>
                      <a:r>
                        <a:rPr sz="1800" b="1">
                          <a:solidFill>
                            <a:srgbClr val="FFFFFF"/>
                          </a:solidFill>
                          <a:latin typeface="Calibri"/>
                          <a:ea typeface="Calibri"/>
                          <a:cs typeface="Calibri"/>
                        </a:rPr>
                        <a:t>Combined experience</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800" b="1">
                          <a:solidFill>
                            <a:srgbClr val="FFFFFF"/>
                          </a:solidFill>
                          <a:latin typeface="Calibri"/>
                          <a:ea typeface="Calibri"/>
                          <a:cs typeface="Calibri"/>
                        </a:rPr>
                        <a:t>What we could observe</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619125">
                <a:tc>
                  <a:txBody>
                    <a:bodyPr/>
                    <a:lstStyle/>
                    <a:p>
                      <a:r>
                        <a:rPr sz="1800">
                          <a:solidFill>
                            <a:srgbClr val="23313D"/>
                          </a:solidFill>
                          <a:latin typeface="Calibri"/>
                          <a:ea typeface="Calibri"/>
                          <a:cs typeface="Calibri"/>
                        </a:rPr>
                        <a:t>Poor deployment and weak product value</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Little intended scope deployed and unsuccessful workflows</a:t>
                      </a:r>
                    </a:p>
                  </a:txBody>
                  <a:tcPr marL="114300" marR="114300" marT="76200" marB="76200">
                    <a:lnR w="5715">
                      <a:solidFill>
                        <a:srgbClr val="D3DCE2"/>
                      </a:solidFill>
                      <a:prstDash val="solid"/>
                    </a:lnR>
                    <a:lnB w="5715">
                      <a:solidFill>
                        <a:srgbClr val="D3DCE2"/>
                      </a:solidFill>
                      <a:prstDash val="solid"/>
                    </a:lnB>
                    <a:solidFill>
                      <a:srgbClr val="FFFFFF"/>
                    </a:solidFill>
                  </a:tcPr>
                </a:tc>
              </a:tr>
              <a:tr h="619125">
                <a:tc>
                  <a:txBody>
                    <a:bodyPr/>
                    <a:lstStyle/>
                    <a:p>
                      <a:r>
                        <a:rPr sz="1800">
                          <a:solidFill>
                            <a:srgbClr val="23313D"/>
                          </a:solidFill>
                          <a:latin typeface="Calibri"/>
                          <a:ea typeface="Calibri"/>
                          <a:cs typeface="Calibri"/>
                        </a:rPr>
                        <a:t>Value deterioration with incomplete deployment</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Poor workflow success alongside a deployment gap</a:t>
                      </a:r>
                    </a:p>
                  </a:txBody>
                  <a:tcPr marL="114300" marR="114300" marT="76200" marB="76200">
                    <a:lnR w="5715">
                      <a:solidFill>
                        <a:srgbClr val="D3DCE2"/>
                      </a:solidFill>
                      <a:prstDash val="solid"/>
                    </a:lnR>
                    <a:lnB w="5715">
                      <a:solidFill>
                        <a:srgbClr val="D3DCE2"/>
                      </a:solidFill>
                      <a:prstDash val="solid"/>
                    </a:lnB>
                    <a:solidFill>
                      <a:srgbClr val="F1F4F6"/>
                    </a:solidFill>
                  </a:tcPr>
                </a:tc>
              </a:tr>
              <a:tr h="619125">
                <a:tc>
                  <a:txBody>
                    <a:bodyPr/>
                    <a:lstStyle/>
                    <a:p>
                      <a:r>
                        <a:rPr sz="1800">
                          <a:solidFill>
                            <a:srgbClr val="23313D"/>
                          </a:solidFill>
                          <a:latin typeface="Calibri"/>
                          <a:ea typeface="Calibri"/>
                          <a:cs typeface="Calibri"/>
                        </a:rPr>
                        <a:t>Commercial pressure and weak product value</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An unfavorable quote or budget concern plus weak adoption</a:t>
                      </a:r>
                    </a:p>
                  </a:txBody>
                  <a:tcPr marL="114300" marR="114300" marT="76200" marB="76200">
                    <a:lnR w="5715">
                      <a:solidFill>
                        <a:srgbClr val="D3DCE2"/>
                      </a:solidFill>
                      <a:prstDash val="solid"/>
                    </a:lnR>
                    <a:lnB w="5715">
                      <a:solidFill>
                        <a:srgbClr val="D3DCE2"/>
                      </a:solidFill>
                      <a:prstDash val="solid"/>
                    </a:lnB>
                    <a:solidFill>
                      <a:srgbClr val="FFFFFF"/>
                    </a:solidFill>
                  </a:tcPr>
                </a:tc>
              </a:tr>
              <a:tr h="619125">
                <a:tc>
                  <a:txBody>
                    <a:bodyPr/>
                    <a:lstStyle/>
                    <a:p>
                      <a:r>
                        <a:rPr sz="1800">
                          <a:solidFill>
                            <a:srgbClr val="23313D"/>
                          </a:solidFill>
                          <a:latin typeface="Calibri"/>
                          <a:ea typeface="Calibri"/>
                          <a:cs typeface="Calibri"/>
                        </a:rPr>
                        <a:t>Service problems and poor deployment</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Unresolved support impact alongside incomplete protection</a:t>
                      </a:r>
                    </a:p>
                  </a:txBody>
                  <a:tcPr marL="114300" marR="114300" marT="76200" marB="76200">
                    <a:lnR w="5715">
                      <a:solidFill>
                        <a:srgbClr val="D3DCE2"/>
                      </a:solidFill>
                      <a:prstDash val="solid"/>
                    </a:lnR>
                    <a:lnB w="5715">
                      <a:solidFill>
                        <a:srgbClr val="D3DCE2"/>
                      </a:solidFill>
                      <a:prstDash val="solid"/>
                    </a:lnB>
                    <a:solidFill>
                      <a:srgbClr val="F1F4F6"/>
                    </a:solidFill>
                  </a:tcPr>
                </a:tc>
              </a:tr>
            </a:tbl>
          </a:graphicData>
        </a:graphic>
      </p:graphicFrame>
      <p:sp>
        <p:nvSpPr>
          <p:cNvPr id="6" name="">
            <a:extLst xmlns:a="http://schemas.openxmlformats.org/drawingml/2006/main">
              <a:ext uri="{FF2B5EF4-FFF2-40B4-BE49-F238E27FC236}">
                <a16:creationId xmlns:a16="http://schemas.microsoft.com/office/drawing/2014/main" id="{710008FF-146B-4577-BB83-75D76971C514}"/>
              </a:ext>
            </a:extLst>
          </p:cNvPr>
          <p:cNvSpPr>
            <a:spLocks xmlns:a="http://schemas.openxmlformats.org/drawingml/2006/main" noGrp="1"/>
          </p:cNvSpPr>
          <p:nvPr/>
        </p:nvSpPr>
        <p:spPr>
          <a:xfrm xmlns:a="http://schemas.openxmlformats.org/drawingml/2006/main">
            <a:off x="533400" y="48577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C95"/>
                </a:solidFill>
                <a:latin typeface="Calibri"/>
                <a:ea typeface="Calibri"/>
                <a:cs typeface="Calibri"/>
              </a:defRPr>
            </a:defPPr>
          </a:lstStyle>
          <a:p xmlns:a="http://schemas.openxmlformats.org/drawingml/2006/main">
            <a:pPr>
              <a:defRPr sz="2175" b="1">
                <a:solidFill>
                  <a:srgbClr val="008C95"/>
                </a:solidFill>
                <a:latin typeface="Calibri"/>
                <a:ea typeface="Calibri"/>
                <a:cs typeface="Calibri"/>
              </a:defRPr>
            </a:pPr>
            <a:r>
              <a:rPr sz="2175" b="1">
                <a:solidFill>
                  <a:srgbClr val="008C95"/>
                </a:solidFill>
                <a:latin typeface="Calibri"/>
                <a:ea typeface="Calibri"/>
                <a:cs typeface="Calibri"/>
              </a:rPr>
              <a:t>Assumed experience creates both operating signals and cancellation risk.</a:t>
            </a:r>
          </a:p>
        </p:txBody>
      </p:sp>
      <p:sp>
        <p:nvSpPr>
          <p:cNvPr id="7" name="">
            <a:extLst xmlns:a="http://schemas.openxmlformats.org/drawingml/2006/main">
              <a:ext uri="{FF2B5EF4-FFF2-40B4-BE49-F238E27FC236}">
                <a16:creationId xmlns:a16="http://schemas.microsoft.com/office/drawing/2014/main" id="{9AF9CC97-6DDA-487A-A653-819AF2A87109}"/>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These relationships and their strengths are simulation choices. Healthy customers can cancel and struggling customers can renew.</a:t>
            </a:r>
          </a:p>
        </p:txBody>
      </p:sp>
    </p:spTree>
    <p:extLst>
      <p:ext uri="{BB962C8B-B14F-4D97-AF65-F5344CB8AC3E}">
        <p14:creationId xmlns:p14="http://schemas.microsoft.com/office/powerpoint/2010/main" val="7585056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7C2673-8D93-471D-A216-75452845D51B}"/>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D4B279-680F-4268-A4AB-D09E07954870}"/>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179316-5FE9-44B2-8D6F-28942585BE48}"/>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Connected data supports a usable renewal record</a:t>
            </a:r>
          </a:p>
        </p:txBody>
      </p:sp>
      <p:sp>
        <p:nvSpPr>
          <p:cNvPr id="4" name="">
            <a:extLst xmlns:a="http://schemas.openxmlformats.org/drawingml/2006/main">
              <a:ext uri="{FF2B5EF4-FFF2-40B4-BE49-F238E27FC236}">
                <a16:creationId xmlns:a16="http://schemas.microsoft.com/office/drawing/2014/main" id="{CA02CE88-ABE3-4B93-AF7B-043087A7E4BF}"/>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7</a:t>
            </a:r>
          </a:p>
        </p:txBody>
      </p:sp>
      <p:graphicFrame>
        <p:nvGraphicFramePr>
          <p:cNvPr id="5" name="">
            <a:extLst xmlns:a="http://schemas.openxmlformats.org/drawingml/2006/main">
              <a:ext uri="{FF2B5EF4-FFF2-40B4-BE49-F238E27FC236}">
                <a16:creationId xmlns:a16="http://schemas.microsoft.com/office/drawing/2014/main" id="{A5C5E349-E5A8-4013-A7B7-027398514E4F}"/>
              </a:ext>
            </a:extLst>
          </p:cNvPr>
          <p:cNvGraphicFramePr/>
          <p:nvPr/>
        </p:nvGraphicFramePr>
        <p:xfrm>
          <a:off xmlns:a="http://schemas.openxmlformats.org/drawingml/2006/main" x="533400" y="1333500"/>
          <a:ext xmlns:a="http://schemas.openxmlformats.org/drawingml/2006/main" cx="11125200" cy="3429000"/>
        </p:xfrm>
        <a:graphic xmlns:a="http://schemas.openxmlformats.org/drawingml/2006/main">
          <a:graphicData uri="http://schemas.openxmlformats.org/drawingml/2006/table">
            <a:tbl>
              <a:tblPr/>
              <a:tblGrid>
                <a:gridCol w="4000500"/>
                <a:gridCol w="4191000"/>
                <a:gridCol w="2933700"/>
              </a:tblGrid>
              <a:tr h="685800">
                <a:tc>
                  <a:txBody>
                    <a:bodyPr/>
                    <a:lstStyle/>
                    <a:p>
                      <a:r>
                        <a:rPr sz="1650" b="1">
                          <a:solidFill>
                            <a:srgbClr val="FFFFFF"/>
                          </a:solidFill>
                          <a:latin typeface="Calibri"/>
                          <a:ea typeface="Calibri"/>
                          <a:cs typeface="Calibri"/>
                        </a:rPr>
                        <a:t>Source</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650" b="1">
                          <a:solidFill>
                            <a:srgbClr val="FFFFFF"/>
                          </a:solidFill>
                          <a:latin typeface="Calibri"/>
                          <a:ea typeface="Calibri"/>
                          <a:cs typeface="Calibri"/>
                        </a:rPr>
                        <a:t>What it tells us</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650" b="1">
                          <a:solidFill>
                            <a:srgbClr val="FFFFFF"/>
                          </a:solidFill>
                          <a:latin typeface="Calibri"/>
                          <a:ea typeface="Calibri"/>
                          <a:cs typeface="Calibri"/>
                        </a:rPr>
                        <a:t>Cleaned scale</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685800">
                <a:tc>
                  <a:txBody>
                    <a:bodyPr/>
                    <a:lstStyle/>
                    <a:p>
                      <a:r>
                        <a:rPr sz="1650">
                          <a:solidFill>
                            <a:srgbClr val="23313D"/>
                          </a:solidFill>
                          <a:latin typeface="Calibri"/>
                          <a:ea typeface="Calibri"/>
                          <a:cs typeface="Calibri"/>
                        </a:rPr>
                        <a:t>Users, orders, order items, products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650">
                          <a:solidFill>
                            <a:srgbClr val="23313D"/>
                          </a:solidFill>
                          <a:latin typeface="Calibri"/>
                          <a:ea typeface="Calibri"/>
                          <a:cs typeface="Calibri"/>
                        </a:rPr>
                        <a:t>Who bought which product and for how much</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650">
                          <a:solidFill>
                            <a:srgbClr val="23313D"/>
                          </a:solidFill>
                          <a:latin typeface="Calibri"/>
                          <a:ea typeface="Calibri"/>
                          <a:cs typeface="Calibri"/>
                        </a:rPr>
                        <a:t>44,518 orders</a:t>
                      </a:r>
                    </a:p>
                    <a:p>
                      <a:r>
                        <a:rPr sz="1650">
                          <a:solidFill>
                            <a:srgbClr val="23313D"/>
                          </a:solidFill>
                          <a:latin typeface="Calibri"/>
                          <a:ea typeface="Calibri"/>
                          <a:cs typeface="Calibri"/>
                        </a:rPr>
                        <a:t>59,382 order items</a:t>
                      </a:r>
                    </a:p>
                  </a:txBody>
                  <a:tcPr marL="114300" marR="114300" marT="76200" marB="76200">
                    <a:lnR w="5715">
                      <a:solidFill>
                        <a:srgbClr val="D3DCE2"/>
                      </a:solidFill>
                      <a:prstDash val="solid"/>
                    </a:lnR>
                    <a:lnB w="5715">
                      <a:solidFill>
                        <a:srgbClr val="D3DCE2"/>
                      </a:solidFill>
                      <a:prstDash val="solid"/>
                    </a:lnB>
                    <a:solidFill>
                      <a:srgbClr val="FFFFFF"/>
                    </a:solidFill>
                  </a:tcPr>
                </a:tc>
              </a:tr>
              <a:tr h="685800">
                <a:tc>
                  <a:txBody>
                    <a:bodyPr/>
                    <a:lstStyle/>
                    <a:p>
                      <a:r>
                        <a:rPr sz="1650">
                          <a:solidFill>
                            <a:srgbClr val="23313D"/>
                          </a:solidFill>
                          <a:latin typeface="Calibri"/>
                          <a:ea typeface="Calibri"/>
                          <a:cs typeface="Calibri"/>
                        </a:rPr>
                        <a:t>Deployments and weekly observations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650">
                          <a:solidFill>
                            <a:srgbClr val="23313D"/>
                          </a:solidFill>
                          <a:latin typeface="Calibri"/>
                          <a:ea typeface="Calibri"/>
                          <a:cs typeface="Calibri"/>
                        </a:rPr>
                        <a:t>What is installed and how it performs</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650">
                          <a:solidFill>
                            <a:srgbClr val="23313D"/>
                          </a:solidFill>
                          <a:latin typeface="Calibri"/>
                          <a:ea typeface="Calibri"/>
                          <a:cs typeface="Calibri"/>
                        </a:rPr>
                        <a:t>13,400 deployments</a:t>
                      </a:r>
                    </a:p>
                    <a:p>
                      <a:r>
                        <a:rPr sz="1650">
                          <a:solidFill>
                            <a:srgbClr val="23313D"/>
                          </a:solidFill>
                          <a:latin typeface="Calibri"/>
                          <a:ea typeface="Calibri"/>
                          <a:cs typeface="Calibri"/>
                        </a:rPr>
                        <a:t>2.53 million weekly records</a:t>
                      </a:r>
                    </a:p>
                  </a:txBody>
                  <a:tcPr marL="114300" marR="114300" marT="76200" marB="76200">
                    <a:lnR w="5715">
                      <a:solidFill>
                        <a:srgbClr val="D3DCE2"/>
                      </a:solidFill>
                      <a:prstDash val="solid"/>
                    </a:lnR>
                    <a:lnB w="5715">
                      <a:solidFill>
                        <a:srgbClr val="D3DCE2"/>
                      </a:solidFill>
                      <a:prstDash val="solid"/>
                    </a:lnB>
                    <a:solidFill>
                      <a:srgbClr val="F1F4F6"/>
                    </a:solidFill>
                  </a:tcPr>
                </a:tc>
              </a:tr>
              <a:tr h="685800">
                <a:tc>
                  <a:txBody>
                    <a:bodyPr/>
                    <a:lstStyle/>
                    <a:p>
                      <a:r>
                        <a:rPr sz="1650">
                          <a:solidFill>
                            <a:srgbClr val="23313D"/>
                          </a:solidFill>
                          <a:latin typeface="Calibri"/>
                          <a:ea typeface="Calibri"/>
                          <a:cs typeface="Calibri"/>
                        </a:rPr>
                        <a:t>Support cases and interactions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650">
                          <a:solidFill>
                            <a:srgbClr val="23313D"/>
                          </a:solidFill>
                          <a:latin typeface="Calibri"/>
                          <a:ea typeface="Calibri"/>
                          <a:cs typeface="Calibri"/>
                        </a:rPr>
                        <a:t>Service problems and relationship history</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650">
                          <a:solidFill>
                            <a:srgbClr val="23313D"/>
                          </a:solidFill>
                          <a:latin typeface="Calibri"/>
                          <a:ea typeface="Calibri"/>
                          <a:cs typeface="Calibri"/>
                        </a:rPr>
                        <a:t>282,885 support cases</a:t>
                      </a:r>
                    </a:p>
                  </a:txBody>
                  <a:tcPr marL="114300" marR="114300" marT="76200" marB="76200">
                    <a:lnR w="5715">
                      <a:solidFill>
                        <a:srgbClr val="D3DCE2"/>
                      </a:solidFill>
                      <a:prstDash val="solid"/>
                    </a:lnR>
                    <a:lnB w="5715">
                      <a:solidFill>
                        <a:srgbClr val="D3DCE2"/>
                      </a:solidFill>
                      <a:prstDash val="solid"/>
                    </a:lnB>
                    <a:solidFill>
                      <a:srgbClr val="FFFFFF"/>
                    </a:solidFill>
                  </a:tcPr>
                </a:tc>
              </a:tr>
              <a:tr h="685800">
                <a:tc>
                  <a:txBody>
                    <a:bodyPr/>
                    <a:lstStyle/>
                    <a:p>
                      <a:r>
                        <a:rPr sz="1650">
                          <a:solidFill>
                            <a:srgbClr val="23313D"/>
                          </a:solidFill>
                          <a:latin typeface="Calibri"/>
                          <a:ea typeface="Calibri"/>
                          <a:cs typeface="Calibri"/>
                        </a:rPr>
                        <a:t>Renewal quotes and contract events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650">
                          <a:solidFill>
                            <a:srgbClr val="23313D"/>
                          </a:solidFill>
                          <a:latin typeface="Calibri"/>
                          <a:ea typeface="Calibri"/>
                          <a:cs typeface="Calibri"/>
                        </a:rPr>
                        <a:t>Commercial concerns and observed outcomes</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650">
                          <a:solidFill>
                            <a:srgbClr val="23313D"/>
                          </a:solidFill>
                          <a:latin typeface="Calibri"/>
                          <a:ea typeface="Calibri"/>
                          <a:cs typeface="Calibri"/>
                        </a:rPr>
                        <a:t>Joined by account and contract</a:t>
                      </a:r>
                    </a:p>
                  </a:txBody>
                  <a:tcPr marL="114300" marR="114300" marT="76200" marB="76200">
                    <a:lnR w="5715">
                      <a:solidFill>
                        <a:srgbClr val="D3DCE2"/>
                      </a:solidFill>
                      <a:prstDash val="solid"/>
                    </a:lnR>
                    <a:lnB w="5715">
                      <a:solidFill>
                        <a:srgbClr val="D3DCE2"/>
                      </a:solidFill>
                      <a:prstDash val="solid"/>
                    </a:lnB>
                    <a:solidFill>
                      <a:srgbClr val="F1F4F6"/>
                    </a:solidFill>
                  </a:tcPr>
                </a:tc>
              </a:tr>
            </a:tbl>
          </a:graphicData>
        </a:graphic>
      </p:graphicFrame>
      <p:sp>
        <p:nvSpPr>
          <p:cNvPr id="6" name="">
            <a:extLst xmlns:a="http://schemas.openxmlformats.org/drawingml/2006/main">
              <a:ext uri="{FF2B5EF4-FFF2-40B4-BE49-F238E27FC236}">
                <a16:creationId xmlns:a16="http://schemas.microsoft.com/office/drawing/2014/main" id="{468ADFDF-2CB7-428A-9CE6-980E93BDA6BE}"/>
              </a:ext>
            </a:extLst>
          </p:cNvPr>
          <p:cNvSpPr>
            <a:spLocks xmlns:a="http://schemas.openxmlformats.org/drawingml/2006/main" noGrp="1"/>
          </p:cNvSpPr>
          <p:nvPr/>
        </p:nvSpPr>
        <p:spPr>
          <a:xfrm xmlns:a="http://schemas.openxmlformats.org/drawingml/2006/main">
            <a:off x="533400" y="5191125"/>
            <a:ext cx="1112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3313D"/>
                </a:solidFill>
                <a:latin typeface="Calibri"/>
                <a:ea typeface="Calibri"/>
                <a:cs typeface="Calibri"/>
              </a:defRPr>
            </a:defPPr>
          </a:lstStyle>
          <a:p xmlns:a="http://schemas.openxmlformats.org/drawingml/2006/main">
            <a:pPr>
              <a:defRPr sz="1875" b="0">
                <a:solidFill>
                  <a:srgbClr val="23313D"/>
                </a:solidFill>
                <a:latin typeface="Calibri"/>
                <a:ea typeface="Calibri"/>
                <a:cs typeface="Calibri"/>
              </a:defRPr>
            </a:pPr>
            <a:r>
              <a:rPr sz="1875" b="0">
                <a:solidFill>
                  <a:srgbClr val="23313D"/>
                </a:solidFill>
                <a:latin typeface="Calibri"/>
                <a:ea typeface="Calibri"/>
                <a:cs typeface="Calibri"/>
              </a:rPr>
              <a:t>Cleaning removed 674 duplicate orders and quarantined 439 orders with invalid dates.</a:t>
            </a:r>
          </a:p>
        </p:txBody>
      </p:sp>
      <p:sp>
        <p:nvSpPr>
          <p:cNvPr id="7" name="">
            <a:extLst xmlns:a="http://schemas.openxmlformats.org/drawingml/2006/main">
              <a:ext uri="{FF2B5EF4-FFF2-40B4-BE49-F238E27FC236}">
                <a16:creationId xmlns:a16="http://schemas.microsoft.com/office/drawing/2014/main" id="{192D863A-D327-4DD0-AA3E-1F4D6F38EB14}"/>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35 Part 1 checks passed. Deployment count covers the full generated history, rather than active installations on one date.</a:t>
            </a:r>
          </a:p>
        </p:txBody>
      </p:sp>
    </p:spTree>
    <p:extLst>
      <p:ext uri="{BB962C8B-B14F-4D97-AF65-F5344CB8AC3E}">
        <p14:creationId xmlns:p14="http://schemas.microsoft.com/office/powerpoint/2010/main" val="9083199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C83278-DA84-40A2-A48E-FE67FFB3AD86}"/>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80A969-3D86-4778-9B91-90154D46FDB8}"/>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8BEC9F-68D7-45E7-9D51-4FF947430CEC}"/>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Purchasing patterns and average order value</a:t>
            </a:r>
          </a:p>
        </p:txBody>
      </p:sp>
      <p:sp>
        <p:nvSpPr>
          <p:cNvPr id="4" name="">
            <a:extLst xmlns:a="http://schemas.openxmlformats.org/drawingml/2006/main">
              <a:ext uri="{FF2B5EF4-FFF2-40B4-BE49-F238E27FC236}">
                <a16:creationId xmlns:a16="http://schemas.microsoft.com/office/drawing/2014/main" id="{F93FF9DB-7F4C-45FF-8A99-0996C550CEDE}"/>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8</a:t>
            </a:r>
          </a:p>
        </p:txBody>
      </p:sp>
      <p:graphicFrame>
        <p:nvGraphicFramePr>
          <p:cNvPr id="5" name="Chart">
            <a:extLst xmlns:a="http://schemas.openxmlformats.org/drawingml/2006/main">
              <a:ext uri="{FF2B5EF4-FFF2-40B4-BE49-F238E27FC236}">
                <a16:creationId xmlns:a16="http://schemas.microsoft.com/office/drawing/2014/main" id="{4BB4D3DB-1B03-423F-BE89-19CD71843D46}"/>
              </a:ext>
            </a:extLst>
          </p:cNvPr>
          <p:cNvGraphicFramePr/>
          <p:nvPr/>
        </p:nvGraphicFramePr>
        <p:xfrm>
          <a:off xmlns:a="http://schemas.openxmlformats.org/drawingml/2006/main" x="428625" y="1333500"/>
          <a:ext xmlns:a="http://schemas.openxmlformats.org/drawingml/2006/main" cx="7096125" cy="4095750"/>
        </p:xfrm>
        <a:graphic xmlns:a="http://schemas.openxmlformats.org/drawingml/2006/main">
          <a:graphicData uri="http://schemas.openxmlformats.org/drawingml/2006/chart">
            <c:chart xmlns:r="http://schemas.openxmlformats.org/officeDocument/2006/relationships" xmlns:c="http://schemas.openxmlformats.org/drawingml/2006/chart" r:id="R4df685f9a4e94e29"/>
          </a:graphicData>
        </a:graphic>
      </p:graphicFrame>
      <p:sp>
        <p:nvSpPr>
          <p:cNvPr id="6" name="">
            <a:extLst xmlns:a="http://schemas.openxmlformats.org/drawingml/2006/main">
              <a:ext uri="{FF2B5EF4-FFF2-40B4-BE49-F238E27FC236}">
                <a16:creationId xmlns:a16="http://schemas.microsoft.com/office/drawing/2014/main" id="{57238754-675E-453F-AB16-7C1801DF7C2B}"/>
              </a:ext>
            </a:extLst>
          </p:cNvPr>
          <p:cNvSpPr>
            <a:spLocks xmlns:a="http://schemas.openxmlformats.org/drawingml/2006/main" noGrp="1"/>
          </p:cNvSpPr>
          <p:nvPr/>
        </p:nvSpPr>
        <p:spPr>
          <a:xfrm xmlns:a="http://schemas.openxmlformats.org/drawingml/2006/main">
            <a:off x="7858125" y="14763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Largest average order value</a:t>
            </a:r>
          </a:p>
        </p:txBody>
      </p:sp>
      <p:sp>
        <p:nvSpPr>
          <p:cNvPr id="7" name="">
            <a:extLst xmlns:a="http://schemas.openxmlformats.org/drawingml/2006/main">
              <a:ext uri="{FF2B5EF4-FFF2-40B4-BE49-F238E27FC236}">
                <a16:creationId xmlns:a16="http://schemas.microsoft.com/office/drawing/2014/main" id="{A9F5BF27-F5DA-48DD-BC07-22C6820AA02F}"/>
              </a:ext>
            </a:extLst>
          </p:cNvPr>
          <p:cNvSpPr>
            <a:spLocks xmlns:a="http://schemas.openxmlformats.org/drawingml/2006/main" noGrp="1"/>
          </p:cNvSpPr>
          <p:nvPr/>
        </p:nvSpPr>
        <p:spPr>
          <a:xfrm xmlns:a="http://schemas.openxmlformats.org/drawingml/2006/main">
            <a:off x="7858125" y="21431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FF5A1F"/>
                </a:solidFill>
                <a:latin typeface="Calibri"/>
                <a:ea typeface="Calibri"/>
                <a:cs typeface="Calibri"/>
              </a:defRPr>
            </a:defPPr>
          </a:lstStyle>
          <a:p xmlns:a="http://schemas.openxmlformats.org/drawingml/2006/main">
            <a:pPr>
              <a:defRPr sz="2100" b="1">
                <a:solidFill>
                  <a:srgbClr val="FF5A1F"/>
                </a:solidFill>
                <a:latin typeface="Calibri"/>
                <a:ea typeface="Calibri"/>
                <a:cs typeface="Calibri"/>
              </a:defRPr>
            </a:pPr>
            <a:r>
              <a:rPr sz="2100" b="1">
                <a:solidFill>
                  <a:srgbClr val="FF5A1F"/>
                </a:solidFill>
                <a:latin typeface="Calibri"/>
                <a:ea typeface="Calibri"/>
                <a:cs typeface="Calibri"/>
              </a:rPr>
              <a:t>Richardson, Wood and Durham</a:t>
            </a:r>
          </a:p>
          <a:p xmlns:a="http://schemas.openxmlformats.org/drawingml/2006/main">
            <a:pPr>
              <a:defRPr sz="2100" b="1">
                <a:solidFill>
                  <a:srgbClr val="FF5A1F"/>
                </a:solidFill>
                <a:latin typeface="Calibri"/>
                <a:ea typeface="Calibri"/>
                <a:cs typeface="Calibri"/>
              </a:defRPr>
            </a:pPr>
            <a:r>
              <a:rPr sz="2100" b="1">
                <a:solidFill>
                  <a:srgbClr val="FF5A1F"/>
                </a:solidFill>
                <a:latin typeface="Calibri"/>
                <a:ea typeface="Calibri"/>
                <a:cs typeface="Calibri"/>
              </a:rPr>
              <a:t>$20.07M across 1 order</a:t>
            </a:r>
          </a:p>
        </p:txBody>
      </p:sp>
      <p:sp>
        <p:nvSpPr>
          <p:cNvPr id="8" name="">
            <a:extLst xmlns:a="http://schemas.openxmlformats.org/drawingml/2006/main">
              <a:ext uri="{FF2B5EF4-FFF2-40B4-BE49-F238E27FC236}">
                <a16:creationId xmlns:a16="http://schemas.microsoft.com/office/drawing/2014/main" id="{D9CAFE6C-2282-4ADA-BA0E-FFF3EFE4FFAB}"/>
              </a:ext>
            </a:extLst>
          </p:cNvPr>
          <p:cNvSpPr>
            <a:spLocks xmlns:a="http://schemas.openxmlformats.org/drawingml/2006/main" noGrp="1"/>
          </p:cNvSpPr>
          <p:nvPr/>
        </p:nvSpPr>
        <p:spPr>
          <a:xfrm xmlns:a="http://schemas.openxmlformats.org/drawingml/2006/main">
            <a:off x="7858125" y="32861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Largest product contribution</a:t>
            </a:r>
          </a:p>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within this customer’s purchase:</a:t>
            </a:r>
          </a:p>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Prisma Cloud CWP</a:t>
            </a:r>
          </a:p>
        </p:txBody>
      </p:sp>
      <p:sp>
        <p:nvSpPr>
          <p:cNvPr id="9" name="">
            <a:extLst xmlns:a="http://schemas.openxmlformats.org/drawingml/2006/main">
              <a:ext uri="{FF2B5EF4-FFF2-40B4-BE49-F238E27FC236}">
                <a16:creationId xmlns:a16="http://schemas.microsoft.com/office/drawing/2014/main" id="{EADE2B53-E149-42DC-A228-33B6AD445131}"/>
              </a:ext>
            </a:extLst>
          </p:cNvPr>
          <p:cNvSpPr>
            <a:spLocks xmlns:a="http://schemas.openxmlformats.org/drawingml/2006/main" noGrp="1"/>
          </p:cNvSpPr>
          <p:nvPr/>
        </p:nvSpPr>
        <p:spPr>
          <a:xfrm xmlns:a="http://schemas.openxmlformats.org/drawingml/2006/main">
            <a:off x="7858125" y="452437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3313D"/>
                </a:solidFill>
                <a:latin typeface="Calibri"/>
                <a:ea typeface="Calibri"/>
                <a:cs typeface="Calibri"/>
              </a:defRPr>
            </a:defPPr>
          </a:lstStyle>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Repeat buyer: Williams, Hull and Chan</a:t>
            </a:r>
          </a:p>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$11.08M across 3 orders</a:t>
            </a:r>
          </a:p>
        </p:txBody>
      </p:sp>
      <p:sp>
        <p:nvSpPr>
          <p:cNvPr id="10" name="">
            <a:extLst xmlns:a="http://schemas.openxmlformats.org/drawingml/2006/main">
              <a:ext uri="{FF2B5EF4-FFF2-40B4-BE49-F238E27FC236}">
                <a16:creationId xmlns:a16="http://schemas.microsoft.com/office/drawing/2014/main" id="{068A4C7D-4C09-4219-B8D0-DD16A3CA8DDA}"/>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Average order value = total eligible order value ÷ number of eligible orders. A large purchase alone does not demonstrate loyalty.</a:t>
            </a:r>
          </a:p>
        </p:txBody>
      </p:sp>
    </p:spTree>
    <p:extLst>
      <p:ext uri="{BB962C8B-B14F-4D97-AF65-F5344CB8AC3E}">
        <p14:creationId xmlns:p14="http://schemas.microsoft.com/office/powerpoint/2010/main" val="6285914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BED385-85A6-45A9-9269-8D84DEA565BE}"/>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7E09EA-0342-424C-9C85-EEF66601332A}"/>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26F933-32FB-4E9C-B674-E86ACDE14F31}"/>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Healthy operation versus declining adoption</a:t>
            </a:r>
          </a:p>
        </p:txBody>
      </p:sp>
      <p:sp>
        <p:nvSpPr>
          <p:cNvPr id="4" name="">
            <a:extLst xmlns:a="http://schemas.openxmlformats.org/drawingml/2006/main">
              <a:ext uri="{FF2B5EF4-FFF2-40B4-BE49-F238E27FC236}">
                <a16:creationId xmlns:a16="http://schemas.microsoft.com/office/drawing/2014/main" id="{595398D4-7F1C-48D5-A0DC-21FF3CA45A36}"/>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9</a:t>
            </a:r>
          </a:p>
        </p:txBody>
      </p:sp>
      <p:graphicFrame>
        <p:nvGraphicFramePr>
          <p:cNvPr id="5" name="Chart">
            <a:extLst xmlns:a="http://schemas.openxmlformats.org/drawingml/2006/main">
              <a:ext uri="{FF2B5EF4-FFF2-40B4-BE49-F238E27FC236}">
                <a16:creationId xmlns:a16="http://schemas.microsoft.com/office/drawing/2014/main" id="{F042554B-E710-4530-AC00-18B0CED42079}"/>
              </a:ext>
            </a:extLst>
          </p:cNvPr>
          <p:cNvGraphicFramePr/>
          <p:nvPr/>
        </p:nvGraphicFramePr>
        <p:xfrm>
          <a:off xmlns:a="http://schemas.openxmlformats.org/drawingml/2006/main" x="428625" y="1381125"/>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5bf3f84bc3b64cac"/>
          </a:graphicData>
        </a:graphic>
      </p:graphicFrame>
      <p:sp>
        <p:nvSpPr>
          <p:cNvPr id="6" name="">
            <a:extLst xmlns:a="http://schemas.openxmlformats.org/drawingml/2006/main">
              <a:ext uri="{FF2B5EF4-FFF2-40B4-BE49-F238E27FC236}">
                <a16:creationId xmlns:a16="http://schemas.microsoft.com/office/drawing/2014/main" id="{764CD0D1-5BB8-4DD6-8DD2-91C7F64C4003}"/>
              </a:ext>
            </a:extLst>
          </p:cNvPr>
          <p:cNvSpPr>
            <a:spLocks xmlns:a="http://schemas.openxmlformats.org/drawingml/2006/main" noGrp="1"/>
          </p:cNvSpPr>
          <p:nvPr/>
        </p:nvSpPr>
        <p:spPr>
          <a:xfrm xmlns:a="http://schemas.openxmlformats.org/drawingml/2006/main">
            <a:off x="8001000" y="152400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Coverage in plain language</a:t>
            </a:r>
          </a:p>
        </p:txBody>
      </p:sp>
      <p:sp>
        <p:nvSpPr>
          <p:cNvPr id="7" name="">
            <a:extLst xmlns:a="http://schemas.openxmlformats.org/drawingml/2006/main">
              <a:ext uri="{FF2B5EF4-FFF2-40B4-BE49-F238E27FC236}">
                <a16:creationId xmlns:a16="http://schemas.microsoft.com/office/drawing/2014/main" id="{718CD679-0DEB-4BB3-A6B0-6E153A676D49}"/>
              </a:ext>
            </a:extLst>
          </p:cNvPr>
          <p:cNvSpPr>
            <a:spLocks xmlns:a="http://schemas.openxmlformats.org/drawingml/2006/main" noGrp="1"/>
          </p:cNvSpPr>
          <p:nvPr/>
        </p:nvSpPr>
        <p:spPr>
          <a:xfrm xmlns:a="http://schemas.openxmlformats.org/drawingml/2006/main">
            <a:off x="8001000" y="2143125"/>
            <a:ext cx="347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C95"/>
                </a:solidFill>
                <a:latin typeface="Calibri"/>
                <a:ea typeface="Calibri"/>
                <a:cs typeface="Calibri"/>
              </a:defRPr>
            </a:defPPr>
          </a:lstStyle>
          <a:p xmlns:a="http://schemas.openxmlformats.org/drawingml/2006/main">
            <a:pPr>
              <a:defRPr sz="2100" b="1">
                <a:solidFill>
                  <a:srgbClr val="008C95"/>
                </a:solidFill>
                <a:latin typeface="Calibri"/>
                <a:ea typeface="Calibri"/>
                <a:cs typeface="Calibri"/>
              </a:defRPr>
            </a:pPr>
            <a:r>
              <a:rPr sz="2100" b="1">
                <a:solidFill>
                  <a:srgbClr val="008C95"/>
                </a:solidFill>
                <a:latin typeface="Calibri"/>
                <a:ea typeface="Calibri"/>
                <a:cs typeface="Calibri"/>
              </a:rPr>
              <a:t>800 protected endpoints</a:t>
            </a:r>
          </a:p>
          <a:p xmlns:a="http://schemas.openxmlformats.org/drawingml/2006/main">
            <a:pPr>
              <a:defRPr sz="2100" b="1">
                <a:solidFill>
                  <a:srgbClr val="008C95"/>
                </a:solidFill>
                <a:latin typeface="Calibri"/>
                <a:ea typeface="Calibri"/>
                <a:cs typeface="Calibri"/>
              </a:defRPr>
            </a:pPr>
            <a:r>
              <a:rPr sz="2100" b="1">
                <a:solidFill>
                  <a:srgbClr val="008C95"/>
                </a:solidFill>
                <a:latin typeface="Calibri"/>
                <a:ea typeface="Calibri"/>
                <a:cs typeface="Calibri"/>
              </a:rPr>
              <a:t>÷ 1,000 intended endpoints</a:t>
            </a:r>
          </a:p>
          <a:p xmlns:a="http://schemas.openxmlformats.org/drawingml/2006/main">
            <a:pPr>
              <a:defRPr sz="2100" b="1">
                <a:solidFill>
                  <a:srgbClr val="008C95"/>
                </a:solidFill>
                <a:latin typeface="Calibri"/>
                <a:ea typeface="Calibri"/>
                <a:cs typeface="Calibri"/>
              </a:defRPr>
            </a:pPr>
            <a:r>
              <a:rPr sz="2100" b="1">
                <a:solidFill>
                  <a:srgbClr val="008C95"/>
                </a:solidFill>
                <a:latin typeface="Calibri"/>
                <a:ea typeface="Calibri"/>
                <a:cs typeface="Calibri"/>
              </a:rPr>
              <a:t>= 80% coverage</a:t>
            </a:r>
          </a:p>
        </p:txBody>
      </p:sp>
      <p:sp>
        <p:nvSpPr>
          <p:cNvPr id="8" name="">
            <a:extLst xmlns:a="http://schemas.openxmlformats.org/drawingml/2006/main">
              <a:ext uri="{FF2B5EF4-FFF2-40B4-BE49-F238E27FC236}">
                <a16:creationId xmlns:a16="http://schemas.microsoft.com/office/drawing/2014/main" id="{A020EAE1-6C78-4DAB-B05F-D5B78A0D71A2}"/>
              </a:ext>
            </a:extLst>
          </p:cNvPr>
          <p:cNvSpPr>
            <a:spLocks xmlns:a="http://schemas.openxmlformats.org/drawingml/2006/main" noGrp="1"/>
          </p:cNvSpPr>
          <p:nvPr/>
        </p:nvSpPr>
        <p:spPr>
          <a:xfrm xmlns:a="http://schemas.openxmlformats.org/drawingml/2006/main">
            <a:off x="8001000" y="4048125"/>
            <a:ext cx="3476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3313D"/>
                </a:solidFill>
                <a:latin typeface="Calibri"/>
                <a:ea typeface="Calibri"/>
                <a:cs typeface="Calibri"/>
              </a:defRPr>
            </a:defPPr>
          </a:lstStyle>
          <a:p xmlns:a="http://schemas.openxmlformats.org/drawingml/2006/main">
            <a:pPr>
              <a:defRPr sz="1950" b="0">
                <a:solidFill>
                  <a:srgbClr val="23313D"/>
                </a:solidFill>
                <a:latin typeface="Calibri"/>
                <a:ea typeface="Calibri"/>
                <a:cs typeface="Calibri"/>
              </a:defRPr>
            </a:pPr>
            <a:r>
              <a:rPr sz="1950" b="0">
                <a:solidFill>
                  <a:srgbClr val="23313D"/>
                </a:solidFill>
                <a:latin typeface="Calibri"/>
                <a:ea typeface="Calibri"/>
                <a:cs typeface="Calibri"/>
              </a:rPr>
              <a:t>Activity is useful only when it reflects protection or product value.</a:t>
            </a:r>
          </a:p>
        </p:txBody>
      </p:sp>
      <p:sp>
        <p:nvSpPr>
          <p:cNvPr id="9" name="">
            <a:extLst xmlns:a="http://schemas.openxmlformats.org/drawingml/2006/main">
              <a:ext uri="{FF2B5EF4-FFF2-40B4-BE49-F238E27FC236}">
                <a16:creationId xmlns:a16="http://schemas.microsoft.com/office/drawing/2014/main" id="{F51FF0BD-BD74-4A5C-BFB7-D97FE3209E90}"/>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The curves and endpoint example illustrate concepts. They are not calculated findings from the dataset.</a:t>
            </a:r>
          </a:p>
        </p:txBody>
      </p:sp>
    </p:spTree>
    <p:extLst>
      <p:ext uri="{BB962C8B-B14F-4D97-AF65-F5344CB8AC3E}">
        <p14:creationId xmlns:p14="http://schemas.microsoft.com/office/powerpoint/2010/main" val="2220764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29753F9-A82B-4D04-A6CA-5593CE7EBCA2}"/>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4E23EC-1700-4899-BA9B-5B2EB922CDA5}"/>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0E7DAD-F6A3-4A8E-BD43-3689096E6A9D}"/>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Model inputs: deployment and product performance</a:t>
            </a:r>
          </a:p>
        </p:txBody>
      </p:sp>
      <p:sp>
        <p:nvSpPr>
          <p:cNvPr id="4" name="">
            <a:extLst xmlns:a="http://schemas.openxmlformats.org/drawingml/2006/main">
              <a:ext uri="{FF2B5EF4-FFF2-40B4-BE49-F238E27FC236}">
                <a16:creationId xmlns:a16="http://schemas.microsoft.com/office/drawing/2014/main" id="{2B0F583F-3025-4602-96E1-AF73B286952A}"/>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10</a:t>
            </a:r>
          </a:p>
        </p:txBody>
      </p:sp>
      <p:sp>
        <p:nvSpPr>
          <p:cNvPr id="5" name="">
            <a:extLst xmlns:a="http://schemas.openxmlformats.org/drawingml/2006/main">
              <a:ext uri="{FF2B5EF4-FFF2-40B4-BE49-F238E27FC236}">
                <a16:creationId xmlns:a16="http://schemas.microsoft.com/office/drawing/2014/main" id="{A176590C-D893-439F-80E0-A1105718F250}"/>
              </a:ext>
            </a:extLst>
          </p:cNvPr>
          <p:cNvSpPr>
            <a:spLocks xmlns:a="http://schemas.openxmlformats.org/drawingml/2006/main" noGrp="1"/>
          </p:cNvSpPr>
          <p:nvPr/>
        </p:nvSpPr>
        <p:spPr>
          <a:xfrm xmlns:a="http://schemas.openxmlformats.org/drawingml/2006/main">
            <a:off x="533400" y="102870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271"/>
                </a:solidFill>
                <a:latin typeface="Calibri"/>
                <a:ea typeface="Calibri"/>
                <a:cs typeface="Calibri"/>
              </a:defRPr>
            </a:defPPr>
          </a:lstStyle>
          <a:p xmlns:a="http://schemas.openxmlformats.org/drawingml/2006/main">
            <a:pPr>
              <a:defRPr sz="1575" b="0">
                <a:solidFill>
                  <a:srgbClr val="526271"/>
                </a:solidFill>
                <a:latin typeface="Calibri"/>
                <a:ea typeface="Calibri"/>
                <a:cs typeface="Calibri"/>
              </a:defRPr>
            </a:pPr>
            <a:r>
              <a:rPr sz="1575" b="0">
                <a:solidFill>
                  <a:srgbClr val="526271"/>
                </a:solidFill>
                <a:latin typeface="Calibri"/>
                <a:ea typeface="Calibri"/>
                <a:cs typeface="Calibri"/>
              </a:rPr>
              <a:t>Complete input set: 45 fields, including 41 numeric and 4 categorical inputs</a:t>
            </a:r>
          </a:p>
        </p:txBody>
      </p:sp>
      <p:sp>
        <p:nvSpPr>
          <p:cNvPr id="6" name="">
            <a:extLst xmlns:a="http://schemas.openxmlformats.org/drawingml/2006/main">
              <a:ext uri="{FF2B5EF4-FFF2-40B4-BE49-F238E27FC236}">
                <a16:creationId xmlns:a16="http://schemas.microsoft.com/office/drawing/2014/main" id="{EA718D08-EA66-462A-93E2-378D38425D13}"/>
              </a:ext>
            </a:extLst>
          </p:cNvPr>
          <p:cNvSpPr>
            <a:spLocks xmlns:a="http://schemas.openxmlformats.org/drawingml/2006/main" noGrp="1"/>
          </p:cNvSpPr>
          <p:nvPr/>
        </p:nvSpPr>
        <p:spPr>
          <a:xfrm xmlns:a="http://schemas.openxmlformats.org/drawingml/2006/main">
            <a:off x="533400" y="14287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Deployment (3)</a:t>
            </a:r>
          </a:p>
        </p:txBody>
      </p:sp>
      <p:sp>
        <p:nvSpPr>
          <p:cNvPr id="7" name="">
            <a:extLst xmlns:a="http://schemas.openxmlformats.org/drawingml/2006/main">
              <a:ext uri="{FF2B5EF4-FFF2-40B4-BE49-F238E27FC236}">
                <a16:creationId xmlns:a16="http://schemas.microsoft.com/office/drawing/2014/main" id="{7CA492C5-5B16-4E00-989C-D806ECD3677A}"/>
              </a:ext>
            </a:extLst>
          </p:cNvPr>
          <p:cNvSpPr>
            <a:spLocks xmlns:a="http://schemas.openxmlformats.org/drawingml/2006/main" noGrp="1"/>
          </p:cNvSpPr>
          <p:nvPr/>
        </p:nvSpPr>
        <p:spPr>
          <a:xfrm xmlns:a="http://schemas.openxmlformats.org/drawingml/2006/main">
            <a:off x="533400" y="20193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Share of intended scope deployed</a:t>
            </a:r>
          </a:p>
        </p:txBody>
      </p:sp>
      <p:sp>
        <p:nvSpPr>
          <p:cNvPr id="8" name="">
            <a:extLst xmlns:a="http://schemas.openxmlformats.org/drawingml/2006/main">
              <a:ext uri="{FF2B5EF4-FFF2-40B4-BE49-F238E27FC236}">
                <a16:creationId xmlns:a16="http://schemas.microsoft.com/office/drawing/2014/main" id="{4D62DF8F-E704-4C65-8C1F-AF7EAFF368D5}"/>
              </a:ext>
            </a:extLst>
          </p:cNvPr>
          <p:cNvSpPr>
            <a:spLocks xmlns:a="http://schemas.openxmlformats.org/drawingml/2006/main" noGrp="1"/>
          </p:cNvSpPr>
          <p:nvPr/>
        </p:nvSpPr>
        <p:spPr>
          <a:xfrm xmlns:a="http://schemas.openxmlformats.org/drawingml/2006/main">
            <a:off x="533400" y="23336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Days the initial-value milestone is overdue</a:t>
            </a:r>
          </a:p>
        </p:txBody>
      </p:sp>
      <p:sp>
        <p:nvSpPr>
          <p:cNvPr id="9" name="">
            <a:extLst xmlns:a="http://schemas.openxmlformats.org/drawingml/2006/main">
              <a:ext uri="{FF2B5EF4-FFF2-40B4-BE49-F238E27FC236}">
                <a16:creationId xmlns:a16="http://schemas.microsoft.com/office/drawing/2014/main" id="{0920CDF7-162A-427C-BCD8-D593CD00D1A5}"/>
              </a:ext>
            </a:extLst>
          </p:cNvPr>
          <p:cNvSpPr>
            <a:spLocks xmlns:a="http://schemas.openxmlformats.org/drawingml/2006/main" noGrp="1"/>
          </p:cNvSpPr>
          <p:nvPr/>
        </p:nvSpPr>
        <p:spPr>
          <a:xfrm xmlns:a="http://schemas.openxmlformats.org/drawingml/2006/main">
            <a:off x="533400" y="26479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Deployment reach unavailable (indicator)</a:t>
            </a:r>
          </a:p>
        </p:txBody>
      </p:sp>
      <p:sp>
        <p:nvSpPr>
          <p:cNvPr id="10" name="">
            <a:extLst xmlns:a="http://schemas.openxmlformats.org/drawingml/2006/main">
              <a:ext uri="{FF2B5EF4-FFF2-40B4-BE49-F238E27FC236}">
                <a16:creationId xmlns:a16="http://schemas.microsoft.com/office/drawing/2014/main" id="{C6C552EB-3CD2-40BE-B57C-654701F6F906}"/>
              </a:ext>
            </a:extLst>
          </p:cNvPr>
          <p:cNvSpPr>
            <a:spLocks xmlns:a="http://schemas.openxmlformats.org/drawingml/2006/main" noGrp="1"/>
          </p:cNvSpPr>
          <p:nvPr/>
        </p:nvSpPr>
        <p:spPr>
          <a:xfrm xmlns:a="http://schemas.openxmlformats.org/drawingml/2006/main">
            <a:off x="6381750" y="14287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Product use and operating results (10)</a:t>
            </a:r>
          </a:p>
        </p:txBody>
      </p:sp>
      <p:sp>
        <p:nvSpPr>
          <p:cNvPr id="11" name="">
            <a:extLst xmlns:a="http://schemas.openxmlformats.org/drawingml/2006/main">
              <a:ext uri="{FF2B5EF4-FFF2-40B4-BE49-F238E27FC236}">
                <a16:creationId xmlns:a16="http://schemas.microsoft.com/office/drawing/2014/main" id="{C428DFF5-79F8-4C0E-BF1D-070066BF7F07}"/>
              </a:ext>
            </a:extLst>
          </p:cNvPr>
          <p:cNvSpPr>
            <a:spLocks xmlns:a="http://schemas.openxmlformats.org/drawingml/2006/main" noGrp="1"/>
          </p:cNvSpPr>
          <p:nvPr/>
        </p:nvSpPr>
        <p:spPr>
          <a:xfrm xmlns:a="http://schemas.openxmlformats.org/drawingml/2006/main">
            <a:off x="6381750" y="20193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Share of attempted workflows that succeed</a:t>
            </a:r>
          </a:p>
        </p:txBody>
      </p:sp>
      <p:sp>
        <p:nvSpPr>
          <p:cNvPr id="12" name="">
            <a:extLst xmlns:a="http://schemas.openxmlformats.org/drawingml/2006/main">
              <a:ext uri="{FF2B5EF4-FFF2-40B4-BE49-F238E27FC236}">
                <a16:creationId xmlns:a16="http://schemas.microsoft.com/office/drawing/2014/main" id="{F2FC5029-F137-4F10-A8C1-0BF6F2E6CB9F}"/>
              </a:ext>
            </a:extLst>
          </p:cNvPr>
          <p:cNvSpPr>
            <a:spLocks xmlns:a="http://schemas.openxmlformats.org/drawingml/2006/main" noGrp="1"/>
          </p:cNvSpPr>
          <p:nvPr/>
        </p:nvSpPr>
        <p:spPr>
          <a:xfrm xmlns:a="http://schemas.openxmlformats.org/drawingml/2006/main">
            <a:off x="6381750" y="23336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Recent change in workflow success</a:t>
            </a:r>
          </a:p>
        </p:txBody>
      </p:sp>
      <p:sp>
        <p:nvSpPr>
          <p:cNvPr id="13" name="">
            <a:extLst xmlns:a="http://schemas.openxmlformats.org/drawingml/2006/main">
              <a:ext uri="{FF2B5EF4-FFF2-40B4-BE49-F238E27FC236}">
                <a16:creationId xmlns:a16="http://schemas.microsoft.com/office/drawing/2014/main" id="{A03DD3A4-C8BA-4111-9073-2CAFF86B01C9}"/>
              </a:ext>
            </a:extLst>
          </p:cNvPr>
          <p:cNvSpPr>
            <a:spLocks xmlns:a="http://schemas.openxmlformats.org/drawingml/2006/main" noGrp="1"/>
          </p:cNvSpPr>
          <p:nvPr/>
        </p:nvSpPr>
        <p:spPr>
          <a:xfrm xmlns:a="http://schemas.openxmlformats.org/drawingml/2006/main">
            <a:off x="6381750" y="26479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Average coverage of eligible deployment units</a:t>
            </a:r>
          </a:p>
        </p:txBody>
      </p:sp>
      <p:sp>
        <p:nvSpPr>
          <p:cNvPr id="14" name="">
            <a:extLst xmlns:a="http://schemas.openxmlformats.org/drawingml/2006/main">
              <a:ext uri="{FF2B5EF4-FFF2-40B4-BE49-F238E27FC236}">
                <a16:creationId xmlns:a16="http://schemas.microsoft.com/office/drawing/2014/main" id="{97EB37F3-3BED-428E-8B1A-A02168B94883}"/>
              </a:ext>
            </a:extLst>
          </p:cNvPr>
          <p:cNvSpPr>
            <a:spLocks xmlns:a="http://schemas.openxmlformats.org/drawingml/2006/main" noGrp="1"/>
          </p:cNvSpPr>
          <p:nvPr/>
        </p:nvSpPr>
        <p:spPr>
          <a:xfrm xmlns:a="http://schemas.openxmlformats.org/drawingml/2006/main">
            <a:off x="6381750" y="29622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Change in coverage over time</a:t>
            </a:r>
          </a:p>
        </p:txBody>
      </p:sp>
      <p:sp>
        <p:nvSpPr>
          <p:cNvPr id="15" name="">
            <a:extLst xmlns:a="http://schemas.openxmlformats.org/drawingml/2006/main">
              <a:ext uri="{FF2B5EF4-FFF2-40B4-BE49-F238E27FC236}">
                <a16:creationId xmlns:a16="http://schemas.microsoft.com/office/drawing/2014/main" id="{BCF1C93D-0084-4F0A-9DFE-69639255FCC4}"/>
              </a:ext>
            </a:extLst>
          </p:cNvPr>
          <p:cNvSpPr>
            <a:spLocks xmlns:a="http://schemas.openxmlformats.org/drawingml/2006/main" noGrp="1"/>
          </p:cNvSpPr>
          <p:nvPr/>
        </p:nvSpPr>
        <p:spPr>
          <a:xfrm xmlns:a="http://schemas.openxmlformats.org/drawingml/2006/main">
            <a:off x="6381750" y="32766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Share of expected observations received</a:t>
            </a:r>
          </a:p>
        </p:txBody>
      </p:sp>
      <p:sp>
        <p:nvSpPr>
          <p:cNvPr id="16" name="">
            <a:extLst xmlns:a="http://schemas.openxmlformats.org/drawingml/2006/main">
              <a:ext uri="{FF2B5EF4-FFF2-40B4-BE49-F238E27FC236}">
                <a16:creationId xmlns:a16="http://schemas.microsoft.com/office/drawing/2014/main" id="{DDB1A870-49EE-447E-A24C-6B015FF3C13D}"/>
              </a:ext>
            </a:extLst>
          </p:cNvPr>
          <p:cNvSpPr>
            <a:spLocks xmlns:a="http://schemas.openxmlformats.org/drawingml/2006/main" noGrp="1"/>
          </p:cNvSpPr>
          <p:nvPr/>
        </p:nvSpPr>
        <p:spPr>
          <a:xfrm xmlns:a="http://schemas.openxmlformats.org/drawingml/2006/main">
            <a:off x="6381750" y="35909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Policy activity per eligible unit</a:t>
            </a:r>
          </a:p>
        </p:txBody>
      </p:sp>
      <p:sp>
        <p:nvSpPr>
          <p:cNvPr id="17" name="">
            <a:extLst xmlns:a="http://schemas.openxmlformats.org/drawingml/2006/main">
              <a:ext uri="{FF2B5EF4-FFF2-40B4-BE49-F238E27FC236}">
                <a16:creationId xmlns:a16="http://schemas.microsoft.com/office/drawing/2014/main" id="{3885B0A9-CB0A-4B97-8609-15FA5F866C3A}"/>
              </a:ext>
            </a:extLst>
          </p:cNvPr>
          <p:cNvSpPr>
            <a:spLocks xmlns:a="http://schemas.openxmlformats.org/drawingml/2006/main" noGrp="1"/>
          </p:cNvSpPr>
          <p:nvPr/>
        </p:nvSpPr>
        <p:spPr>
          <a:xfrm xmlns:a="http://schemas.openxmlformats.org/drawingml/2006/main">
            <a:off x="6381750" y="39052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Speed of fixing recorded issues</a:t>
            </a:r>
          </a:p>
        </p:txBody>
      </p:sp>
      <p:sp>
        <p:nvSpPr>
          <p:cNvPr id="18" name="">
            <a:extLst xmlns:a="http://schemas.openxmlformats.org/drawingml/2006/main">
              <a:ext uri="{FF2B5EF4-FFF2-40B4-BE49-F238E27FC236}">
                <a16:creationId xmlns:a16="http://schemas.microsoft.com/office/drawing/2014/main" id="{82F57B9E-EF6C-410E-AC54-D75B2FECFF2A}"/>
              </a:ext>
            </a:extLst>
          </p:cNvPr>
          <p:cNvSpPr>
            <a:spLocks xmlns:a="http://schemas.openxmlformats.org/drawingml/2006/main" noGrp="1"/>
          </p:cNvSpPr>
          <p:nvPr/>
        </p:nvSpPr>
        <p:spPr>
          <a:xfrm xmlns:a="http://schemas.openxmlformats.org/drawingml/2006/main">
            <a:off x="6381750" y="42195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Share of relevant work using automation</a:t>
            </a:r>
          </a:p>
        </p:txBody>
      </p:sp>
      <p:sp>
        <p:nvSpPr>
          <p:cNvPr id="19" name="">
            <a:extLst xmlns:a="http://schemas.openxmlformats.org/drawingml/2006/main">
              <a:ext uri="{FF2B5EF4-FFF2-40B4-BE49-F238E27FC236}">
                <a16:creationId xmlns:a16="http://schemas.microsoft.com/office/drawing/2014/main" id="{7BBBB738-1553-417A-A2DF-C539AD8F370A}"/>
              </a:ext>
            </a:extLst>
          </p:cNvPr>
          <p:cNvSpPr>
            <a:spLocks xmlns:a="http://schemas.openxmlformats.org/drawingml/2006/main" noGrp="1"/>
          </p:cNvSpPr>
          <p:nvPr/>
        </p:nvSpPr>
        <p:spPr>
          <a:xfrm xmlns:a="http://schemas.openxmlformats.org/drawingml/2006/main">
            <a:off x="6381750" y="45339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Share of product scans that succeed</a:t>
            </a:r>
          </a:p>
        </p:txBody>
      </p:sp>
      <p:sp>
        <p:nvSpPr>
          <p:cNvPr id="20" name="">
            <a:extLst xmlns:a="http://schemas.openxmlformats.org/drawingml/2006/main">
              <a:ext uri="{FF2B5EF4-FFF2-40B4-BE49-F238E27FC236}">
                <a16:creationId xmlns:a16="http://schemas.microsoft.com/office/drawing/2014/main" id="{3620F0B2-31A5-4DE0-BDC5-6289E64C0DD7}"/>
              </a:ext>
            </a:extLst>
          </p:cNvPr>
          <p:cNvSpPr>
            <a:spLocks xmlns:a="http://schemas.openxmlformats.org/drawingml/2006/main" noGrp="1"/>
          </p:cNvSpPr>
          <p:nvPr/>
        </p:nvSpPr>
        <p:spPr>
          <a:xfrm xmlns:a="http://schemas.openxmlformats.org/drawingml/2006/main">
            <a:off x="6381750" y="48482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Workflow success unavailable (indicator)</a:t>
            </a:r>
          </a:p>
        </p:txBody>
      </p:sp>
      <p:sp>
        <p:nvSpPr>
          <p:cNvPr id="21" name="">
            <a:extLst xmlns:a="http://schemas.openxmlformats.org/drawingml/2006/main">
              <a:ext uri="{FF2B5EF4-FFF2-40B4-BE49-F238E27FC236}">
                <a16:creationId xmlns:a16="http://schemas.microsoft.com/office/drawing/2014/main" id="{0B14501E-C71C-4BDA-8FB4-56D49782684A}"/>
              </a:ext>
            </a:extLst>
          </p:cNvPr>
          <p:cNvSpPr>
            <a:spLocks xmlns:a="http://schemas.openxmlformats.org/drawingml/2006/main" noGrp="1"/>
          </p:cNvSpPr>
          <p:nvPr/>
        </p:nvSpPr>
        <p:spPr>
          <a:xfrm xmlns:a="http://schemas.openxmlformats.org/drawingml/2006/main">
            <a:off x="533400" y="3619500"/>
            <a:ext cx="495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8C95"/>
                </a:solidFill>
                <a:latin typeface="Calibri"/>
                <a:ea typeface="Calibri"/>
                <a:cs typeface="Calibri"/>
              </a:defRPr>
            </a:defPPr>
          </a:lstStyle>
          <a:p xmlns:a="http://schemas.openxmlformats.org/drawingml/2006/main">
            <a:pPr>
              <a:defRPr sz="1950" b="1">
                <a:solidFill>
                  <a:srgbClr val="008C95"/>
                </a:solidFill>
                <a:latin typeface="Calibri"/>
                <a:ea typeface="Calibri"/>
                <a:cs typeface="Calibri"/>
              </a:defRPr>
            </a:pPr>
            <a:r>
              <a:rPr sz="1950" b="1">
                <a:solidFill>
                  <a:srgbClr val="008C95"/>
                </a:solidFill>
                <a:latin typeface="Calibri"/>
                <a:ea typeface="Calibri"/>
                <a:cs typeface="Calibri"/>
              </a:rPr>
              <a:t>Deployment reach: deployed targets ÷ intended targets.</a:t>
            </a:r>
          </a:p>
          <a:p xmlns:a="http://schemas.openxmlformats.org/drawingml/2006/main">
            <a:pPr>
              <a:defRPr sz="1950" b="1">
                <a:solidFill>
                  <a:srgbClr val="008C95"/>
                </a:solidFill>
                <a:latin typeface="Calibri"/>
                <a:ea typeface="Calibri"/>
                <a:cs typeface="Calibri"/>
              </a:defRPr>
            </a:pPr>
            <a:r>
              <a:rPr sz="1950" b="1">
                <a:solidFill>
                  <a:srgbClr val="008C95"/>
                </a:solidFill>
                <a:latin typeface="Calibri"/>
                <a:ea typeface="Calibri"/>
                <a:cs typeface="Calibri"/>
              </a:rPr>
              <a:t>Coverage: active units ÷ eligible deployment units.</a:t>
            </a:r>
          </a:p>
        </p:txBody>
      </p:sp>
      <p:sp>
        <p:nvSpPr>
          <p:cNvPr id="22" name="">
            <a:extLst xmlns:a="http://schemas.openxmlformats.org/drawingml/2006/main">
              <a:ext uri="{FF2B5EF4-FFF2-40B4-BE49-F238E27FC236}">
                <a16:creationId xmlns:a16="http://schemas.microsoft.com/office/drawing/2014/main" id="{2DEC75D6-4FDF-4AAA-8845-75F0AEEB1C27}"/>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Recent deployment and workflow measures use 30 days. Other operating signals generally use 90 days. All inputs precede prediction.</a:t>
            </a:r>
          </a:p>
        </p:txBody>
      </p:sp>
    </p:spTree>
    <p:extLst>
      <p:ext uri="{BB962C8B-B14F-4D97-AF65-F5344CB8AC3E}">
        <p14:creationId xmlns:p14="http://schemas.microsoft.com/office/powerpoint/2010/main" val="18339229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572A59C-B107-4758-8796-9E7BD98587F2}"/>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B7CFE4-F2D1-4E82-BEBA-5321A70930F7}"/>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9E6A21-763C-4B86-85C2-1BF00134F264}"/>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Model inputs: support and customer relationships</a:t>
            </a:r>
          </a:p>
        </p:txBody>
      </p:sp>
      <p:sp>
        <p:nvSpPr>
          <p:cNvPr id="4" name="">
            <a:extLst xmlns:a="http://schemas.openxmlformats.org/drawingml/2006/main">
              <a:ext uri="{FF2B5EF4-FFF2-40B4-BE49-F238E27FC236}">
                <a16:creationId xmlns:a16="http://schemas.microsoft.com/office/drawing/2014/main" id="{C3A46EFE-268F-4818-9A00-A7657DF2C8BF}"/>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11</a:t>
            </a:r>
          </a:p>
        </p:txBody>
      </p:sp>
      <p:sp>
        <p:nvSpPr>
          <p:cNvPr id="5" name="">
            <a:extLst xmlns:a="http://schemas.openxmlformats.org/drawingml/2006/main">
              <a:ext uri="{FF2B5EF4-FFF2-40B4-BE49-F238E27FC236}">
                <a16:creationId xmlns:a16="http://schemas.microsoft.com/office/drawing/2014/main" id="{1046BC41-1B83-41E2-B455-E6D44A797345}"/>
              </a:ext>
            </a:extLst>
          </p:cNvPr>
          <p:cNvSpPr>
            <a:spLocks xmlns:a="http://schemas.openxmlformats.org/drawingml/2006/main" noGrp="1"/>
          </p:cNvSpPr>
          <p:nvPr/>
        </p:nvSpPr>
        <p:spPr>
          <a:xfrm xmlns:a="http://schemas.openxmlformats.org/drawingml/2006/main">
            <a:off x="533400" y="13335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Support experience (8)</a:t>
            </a:r>
          </a:p>
        </p:txBody>
      </p:sp>
      <p:sp>
        <p:nvSpPr>
          <p:cNvPr id="6" name="">
            <a:extLst xmlns:a="http://schemas.openxmlformats.org/drawingml/2006/main">
              <a:ext uri="{FF2B5EF4-FFF2-40B4-BE49-F238E27FC236}">
                <a16:creationId xmlns:a16="http://schemas.microsoft.com/office/drawing/2014/main" id="{393E1DF3-CFFE-4B17-AE01-933A4984F7DB}"/>
              </a:ext>
            </a:extLst>
          </p:cNvPr>
          <p:cNvSpPr>
            <a:spLocks xmlns:a="http://schemas.openxmlformats.org/drawingml/2006/main" noGrp="1"/>
          </p:cNvSpPr>
          <p:nvPr/>
        </p:nvSpPr>
        <p:spPr>
          <a:xfrm xmlns:a="http://schemas.openxmlformats.org/drawingml/2006/main">
            <a:off x="533400" y="19240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Hours of unresolved customer impact</a:t>
            </a:r>
          </a:p>
        </p:txBody>
      </p:sp>
      <p:sp>
        <p:nvSpPr>
          <p:cNvPr id="7" name="">
            <a:extLst xmlns:a="http://schemas.openxmlformats.org/drawingml/2006/main">
              <a:ext uri="{FF2B5EF4-FFF2-40B4-BE49-F238E27FC236}">
                <a16:creationId xmlns:a16="http://schemas.microsoft.com/office/drawing/2014/main" id="{0A687536-90B0-4203-9528-BAB23FB2DA10}"/>
              </a:ext>
            </a:extLst>
          </p:cNvPr>
          <p:cNvSpPr>
            <a:spLocks xmlns:a="http://schemas.openxmlformats.org/drawingml/2006/main" noGrp="1"/>
          </p:cNvSpPr>
          <p:nvPr/>
        </p:nvSpPr>
        <p:spPr>
          <a:xfrm xmlns:a="http://schemas.openxmlformats.org/drawingml/2006/main">
            <a:off x="533400" y="22383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Open cases breaching the service target</a:t>
            </a:r>
          </a:p>
        </p:txBody>
      </p:sp>
      <p:sp>
        <p:nvSpPr>
          <p:cNvPr id="8" name="">
            <a:extLst xmlns:a="http://schemas.openxmlformats.org/drawingml/2006/main">
              <a:ext uri="{FF2B5EF4-FFF2-40B4-BE49-F238E27FC236}">
                <a16:creationId xmlns:a16="http://schemas.microsoft.com/office/drawing/2014/main" id="{AF929015-26DC-4267-90F9-A8FC84BB1AED}"/>
              </a:ext>
            </a:extLst>
          </p:cNvPr>
          <p:cNvSpPr>
            <a:spLocks xmlns:a="http://schemas.openxmlformats.org/drawingml/2006/main" noGrp="1"/>
          </p:cNvSpPr>
          <p:nvPr/>
        </p:nvSpPr>
        <p:spPr>
          <a:xfrm xmlns:a="http://schemas.openxmlformats.org/drawingml/2006/main">
            <a:off x="533400" y="25527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Critical support tickets</a:t>
            </a:r>
          </a:p>
        </p:txBody>
      </p:sp>
      <p:sp>
        <p:nvSpPr>
          <p:cNvPr id="9" name="">
            <a:extLst xmlns:a="http://schemas.openxmlformats.org/drawingml/2006/main">
              <a:ext uri="{FF2B5EF4-FFF2-40B4-BE49-F238E27FC236}">
                <a16:creationId xmlns:a16="http://schemas.microsoft.com/office/drawing/2014/main" id="{7F147694-6596-49FB-8999-4BE21AE4192D}"/>
              </a:ext>
            </a:extLst>
          </p:cNvPr>
          <p:cNvSpPr>
            <a:spLocks xmlns:a="http://schemas.openxmlformats.org/drawingml/2006/main" noGrp="1"/>
          </p:cNvSpPr>
          <p:nvPr/>
        </p:nvSpPr>
        <p:spPr>
          <a:xfrm xmlns:a="http://schemas.openxmlformats.org/drawingml/2006/main">
            <a:off x="533400" y="28670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Cases still open at prediction</a:t>
            </a:r>
          </a:p>
        </p:txBody>
      </p:sp>
      <p:sp>
        <p:nvSpPr>
          <p:cNvPr id="10" name="">
            <a:extLst xmlns:a="http://schemas.openxmlformats.org/drawingml/2006/main">
              <a:ext uri="{FF2B5EF4-FFF2-40B4-BE49-F238E27FC236}">
                <a16:creationId xmlns:a16="http://schemas.microsoft.com/office/drawing/2014/main" id="{43F8FA2E-4FEE-40F3-8161-2326C69C2A10}"/>
              </a:ext>
            </a:extLst>
          </p:cNvPr>
          <p:cNvSpPr>
            <a:spLocks xmlns:a="http://schemas.openxmlformats.org/drawingml/2006/main" noGrp="1"/>
          </p:cNvSpPr>
          <p:nvPr/>
        </p:nvSpPr>
        <p:spPr>
          <a:xfrm xmlns:a="http://schemas.openxmlformats.org/drawingml/2006/main">
            <a:off x="533400" y="31813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Average age of open cases</a:t>
            </a:r>
          </a:p>
        </p:txBody>
      </p:sp>
      <p:sp>
        <p:nvSpPr>
          <p:cNvPr id="11" name="">
            <a:extLst xmlns:a="http://schemas.openxmlformats.org/drawingml/2006/main">
              <a:ext uri="{FF2B5EF4-FFF2-40B4-BE49-F238E27FC236}">
                <a16:creationId xmlns:a16="http://schemas.microsoft.com/office/drawing/2014/main" id="{4BD400B7-0852-4413-993C-42DA1971039D}"/>
              </a:ext>
            </a:extLst>
          </p:cNvPr>
          <p:cNvSpPr>
            <a:spLocks xmlns:a="http://schemas.openxmlformats.org/drawingml/2006/main" noGrp="1"/>
          </p:cNvSpPr>
          <p:nvPr/>
        </p:nvSpPr>
        <p:spPr>
          <a:xfrm xmlns:a="http://schemas.openxmlformats.org/drawingml/2006/main">
            <a:off x="533400" y="34956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Average time to resolve completed cases</a:t>
            </a:r>
          </a:p>
        </p:txBody>
      </p:sp>
      <p:sp>
        <p:nvSpPr>
          <p:cNvPr id="12" name="">
            <a:extLst xmlns:a="http://schemas.openxmlformats.org/drawingml/2006/main">
              <a:ext uri="{FF2B5EF4-FFF2-40B4-BE49-F238E27FC236}">
                <a16:creationId xmlns:a16="http://schemas.microsoft.com/office/drawing/2014/main" id="{3BDC0D1F-9D1B-40DE-B8CC-40811BC07438}"/>
              </a:ext>
            </a:extLst>
          </p:cNvPr>
          <p:cNvSpPr>
            <a:spLocks xmlns:a="http://schemas.openxmlformats.org/drawingml/2006/main" noGrp="1"/>
          </p:cNvSpPr>
          <p:nvPr/>
        </p:nvSpPr>
        <p:spPr>
          <a:xfrm xmlns:a="http://schemas.openxmlformats.org/drawingml/2006/main">
            <a:off x="533400" y="38100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Resolution time unavailable (indicator)</a:t>
            </a:r>
          </a:p>
        </p:txBody>
      </p:sp>
      <p:sp>
        <p:nvSpPr>
          <p:cNvPr id="13" name="">
            <a:extLst xmlns:a="http://schemas.openxmlformats.org/drawingml/2006/main">
              <a:ext uri="{FF2B5EF4-FFF2-40B4-BE49-F238E27FC236}">
                <a16:creationId xmlns:a16="http://schemas.microsoft.com/office/drawing/2014/main" id="{300C6A15-1FC2-49FB-8ED2-7DCAD4CAC35A}"/>
              </a:ext>
            </a:extLst>
          </p:cNvPr>
          <p:cNvSpPr>
            <a:spLocks xmlns:a="http://schemas.openxmlformats.org/drawingml/2006/main" noGrp="1"/>
          </p:cNvSpPr>
          <p:nvPr/>
        </p:nvSpPr>
        <p:spPr>
          <a:xfrm xmlns:a="http://schemas.openxmlformats.org/drawingml/2006/main">
            <a:off x="533400" y="41243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Total recent support tickets</a:t>
            </a:r>
          </a:p>
        </p:txBody>
      </p:sp>
      <p:sp>
        <p:nvSpPr>
          <p:cNvPr id="14" name="">
            <a:extLst xmlns:a="http://schemas.openxmlformats.org/drawingml/2006/main">
              <a:ext uri="{FF2B5EF4-FFF2-40B4-BE49-F238E27FC236}">
                <a16:creationId xmlns:a16="http://schemas.microsoft.com/office/drawing/2014/main" id="{8780E084-6646-4F37-B7C6-8C9BCF7F9463}"/>
              </a:ext>
            </a:extLst>
          </p:cNvPr>
          <p:cNvSpPr>
            <a:spLocks xmlns:a="http://schemas.openxmlformats.org/drawingml/2006/main" noGrp="1"/>
          </p:cNvSpPr>
          <p:nvPr/>
        </p:nvSpPr>
        <p:spPr>
          <a:xfrm xmlns:a="http://schemas.openxmlformats.org/drawingml/2006/main">
            <a:off x="6381750" y="13335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Customer relationship (6)</a:t>
            </a:r>
          </a:p>
        </p:txBody>
      </p:sp>
      <p:sp>
        <p:nvSpPr>
          <p:cNvPr id="15" name="">
            <a:extLst xmlns:a="http://schemas.openxmlformats.org/drawingml/2006/main">
              <a:ext uri="{FF2B5EF4-FFF2-40B4-BE49-F238E27FC236}">
                <a16:creationId xmlns:a16="http://schemas.microsoft.com/office/drawing/2014/main" id="{D76F4764-935C-4D80-A58B-B9EFA1844F0D}"/>
              </a:ext>
            </a:extLst>
          </p:cNvPr>
          <p:cNvSpPr>
            <a:spLocks xmlns:a="http://schemas.openxmlformats.org/drawingml/2006/main" noGrp="1"/>
          </p:cNvSpPr>
          <p:nvPr/>
        </p:nvSpPr>
        <p:spPr>
          <a:xfrm xmlns:a="http://schemas.openxmlformats.org/drawingml/2006/main">
            <a:off x="6381750" y="19240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Days since a recorded owner interaction</a:t>
            </a:r>
          </a:p>
        </p:txBody>
      </p:sp>
      <p:sp>
        <p:nvSpPr>
          <p:cNvPr id="16" name="">
            <a:extLst xmlns:a="http://schemas.openxmlformats.org/drawingml/2006/main">
              <a:ext uri="{FF2B5EF4-FFF2-40B4-BE49-F238E27FC236}">
                <a16:creationId xmlns:a16="http://schemas.microsoft.com/office/drawing/2014/main" id="{1D9C8C7C-F149-437D-9A8D-51D4161E6E81}"/>
              </a:ext>
            </a:extLst>
          </p:cNvPr>
          <p:cNvSpPr>
            <a:spLocks xmlns:a="http://schemas.openxmlformats.org/drawingml/2006/main" noGrp="1"/>
          </p:cNvSpPr>
          <p:nvPr/>
        </p:nvSpPr>
        <p:spPr>
          <a:xfrm xmlns:a="http://schemas.openxmlformats.org/drawingml/2006/main">
            <a:off x="6381750" y="22383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Agreed follow-up actions overdue</a:t>
            </a:r>
          </a:p>
        </p:txBody>
      </p:sp>
      <p:sp>
        <p:nvSpPr>
          <p:cNvPr id="17" name="">
            <a:extLst xmlns:a="http://schemas.openxmlformats.org/drawingml/2006/main">
              <a:ext uri="{FF2B5EF4-FFF2-40B4-BE49-F238E27FC236}">
                <a16:creationId xmlns:a16="http://schemas.microsoft.com/office/drawing/2014/main" id="{670652F0-C978-4781-927B-316D5CA6E220}"/>
              </a:ext>
            </a:extLst>
          </p:cNvPr>
          <p:cNvSpPr>
            <a:spLocks xmlns:a="http://schemas.openxmlformats.org/drawingml/2006/main" noGrp="1"/>
          </p:cNvSpPr>
          <p:nvPr/>
        </p:nvSpPr>
        <p:spPr>
          <a:xfrm xmlns:a="http://schemas.openxmlformats.org/drawingml/2006/main">
            <a:off x="6381750" y="25527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Recorded executive interactions</a:t>
            </a:r>
          </a:p>
        </p:txBody>
      </p:sp>
      <p:sp>
        <p:nvSpPr>
          <p:cNvPr id="18" name="">
            <a:extLst xmlns:a="http://schemas.openxmlformats.org/drawingml/2006/main">
              <a:ext uri="{FF2B5EF4-FFF2-40B4-BE49-F238E27FC236}">
                <a16:creationId xmlns:a16="http://schemas.microsoft.com/office/drawing/2014/main" id="{B8D62FBF-C295-4842-AC99-A9C43424AFA8}"/>
              </a:ext>
            </a:extLst>
          </p:cNvPr>
          <p:cNvSpPr>
            <a:spLocks xmlns:a="http://schemas.openxmlformats.org/drawingml/2006/main" noGrp="1"/>
          </p:cNvSpPr>
          <p:nvPr/>
        </p:nvSpPr>
        <p:spPr>
          <a:xfrm xmlns:a="http://schemas.openxmlformats.org/drawingml/2006/main">
            <a:off x="6381750" y="28670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Recorded marketing and event engagements</a:t>
            </a:r>
          </a:p>
        </p:txBody>
      </p:sp>
      <p:sp>
        <p:nvSpPr>
          <p:cNvPr id="19" name="">
            <a:extLst xmlns:a="http://schemas.openxmlformats.org/drawingml/2006/main">
              <a:ext uri="{FF2B5EF4-FFF2-40B4-BE49-F238E27FC236}">
                <a16:creationId xmlns:a16="http://schemas.microsoft.com/office/drawing/2014/main" id="{6C5ED85F-4FBC-448A-B90D-5D9DB872E8E2}"/>
              </a:ext>
            </a:extLst>
          </p:cNvPr>
          <p:cNvSpPr>
            <a:spLocks xmlns:a="http://schemas.openxmlformats.org/drawingml/2006/main" noGrp="1"/>
          </p:cNvSpPr>
          <p:nvPr/>
        </p:nvSpPr>
        <p:spPr>
          <a:xfrm xmlns:a="http://schemas.openxmlformats.org/drawingml/2006/main">
            <a:off x="6381750" y="31813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Days since the last recorded interaction</a:t>
            </a:r>
          </a:p>
        </p:txBody>
      </p:sp>
      <p:sp>
        <p:nvSpPr>
          <p:cNvPr id="20" name="">
            <a:extLst xmlns:a="http://schemas.openxmlformats.org/drawingml/2006/main">
              <a:ext uri="{FF2B5EF4-FFF2-40B4-BE49-F238E27FC236}">
                <a16:creationId xmlns:a16="http://schemas.microsoft.com/office/drawing/2014/main" id="{84F9407B-7B2F-414F-832D-91D2DCF789EC}"/>
              </a:ext>
            </a:extLst>
          </p:cNvPr>
          <p:cNvSpPr>
            <a:spLocks xmlns:a="http://schemas.openxmlformats.org/drawingml/2006/main" noGrp="1"/>
          </p:cNvSpPr>
          <p:nvPr/>
        </p:nvSpPr>
        <p:spPr>
          <a:xfrm xmlns:a="http://schemas.openxmlformats.org/drawingml/2006/main">
            <a:off x="6381750" y="34956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Interaction recency unavailable (indicator)</a:t>
            </a:r>
          </a:p>
        </p:txBody>
      </p:sp>
      <p:sp>
        <p:nvSpPr>
          <p:cNvPr id="21" name="">
            <a:extLst xmlns:a="http://schemas.openxmlformats.org/drawingml/2006/main">
              <a:ext uri="{FF2B5EF4-FFF2-40B4-BE49-F238E27FC236}">
                <a16:creationId xmlns:a16="http://schemas.microsoft.com/office/drawing/2014/main" id="{4B2BE410-0684-45B4-BE77-1E9BD909B9F4}"/>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Support history: 90 days. Relationship counts: 180 days. Recency fields use the latest known qualifying interaction.</a:t>
            </a:r>
          </a:p>
        </p:txBody>
      </p:sp>
    </p:spTree>
    <p:extLst>
      <p:ext uri="{BB962C8B-B14F-4D97-AF65-F5344CB8AC3E}">
        <p14:creationId xmlns:p14="http://schemas.microsoft.com/office/powerpoint/2010/main" val="13615115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BBA0650-24A2-4413-8C75-4C5B8FAB51F8}"/>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5F472F-A4E1-422F-8619-358A5A64BA1F}"/>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F9C4174-6B99-49F2-A1B4-FBD077DD9664}"/>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Model inputs: commercial and portfolio context</a:t>
            </a:r>
          </a:p>
        </p:txBody>
      </p:sp>
      <p:sp>
        <p:nvSpPr>
          <p:cNvPr id="4" name="">
            <a:extLst xmlns:a="http://schemas.openxmlformats.org/drawingml/2006/main">
              <a:ext uri="{FF2B5EF4-FFF2-40B4-BE49-F238E27FC236}">
                <a16:creationId xmlns:a16="http://schemas.microsoft.com/office/drawing/2014/main" id="{927AF357-E5B0-4A34-BA8D-E50C73F3D7B9}"/>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12</a:t>
            </a:r>
          </a:p>
        </p:txBody>
      </p:sp>
      <p:sp>
        <p:nvSpPr>
          <p:cNvPr id="5" name="">
            <a:extLst xmlns:a="http://schemas.openxmlformats.org/drawingml/2006/main">
              <a:ext uri="{FF2B5EF4-FFF2-40B4-BE49-F238E27FC236}">
                <a16:creationId xmlns:a16="http://schemas.microsoft.com/office/drawing/2014/main" id="{8E3ADFD1-B618-46DD-9644-7960F82E064A}"/>
              </a:ext>
            </a:extLst>
          </p:cNvPr>
          <p:cNvSpPr>
            <a:spLocks xmlns:a="http://schemas.openxmlformats.org/drawingml/2006/main" noGrp="1"/>
          </p:cNvSpPr>
          <p:nvPr/>
        </p:nvSpPr>
        <p:spPr>
          <a:xfrm xmlns:a="http://schemas.openxmlformats.org/drawingml/2006/main">
            <a:off x="533400" y="12858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Commercial and renewal context (9)</a:t>
            </a:r>
          </a:p>
        </p:txBody>
      </p:sp>
      <p:sp>
        <p:nvSpPr>
          <p:cNvPr id="6" name="">
            <a:extLst xmlns:a="http://schemas.openxmlformats.org/drawingml/2006/main">
              <a:ext uri="{FF2B5EF4-FFF2-40B4-BE49-F238E27FC236}">
                <a16:creationId xmlns:a16="http://schemas.microsoft.com/office/drawing/2014/main" id="{ACEF9B3C-EA8A-4246-A5BB-77EB895FF351}"/>
              </a:ext>
            </a:extLst>
          </p:cNvPr>
          <p:cNvSpPr>
            <a:spLocks xmlns:a="http://schemas.openxmlformats.org/drawingml/2006/main" noGrp="1"/>
          </p:cNvSpPr>
          <p:nvPr/>
        </p:nvSpPr>
        <p:spPr>
          <a:xfrm xmlns:a="http://schemas.openxmlformats.org/drawingml/2006/main">
            <a:off x="533400" y="18764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Quoted unit-price change</a:t>
            </a:r>
          </a:p>
        </p:txBody>
      </p:sp>
      <p:sp>
        <p:nvSpPr>
          <p:cNvPr id="7" name="">
            <a:extLst xmlns:a="http://schemas.openxmlformats.org/drawingml/2006/main">
              <a:ext uri="{FF2B5EF4-FFF2-40B4-BE49-F238E27FC236}">
                <a16:creationId xmlns:a16="http://schemas.microsoft.com/office/drawing/2014/main" id="{0727B70B-1112-4F02-8BAB-218AE40D3BDA}"/>
              </a:ext>
            </a:extLst>
          </p:cNvPr>
          <p:cNvSpPr>
            <a:spLocks xmlns:a="http://schemas.openxmlformats.org/drawingml/2006/main" noGrp="1"/>
          </p:cNvSpPr>
          <p:nvPr/>
        </p:nvSpPr>
        <p:spPr>
          <a:xfrm xmlns:a="http://schemas.openxmlformats.org/drawingml/2006/main">
            <a:off x="533400" y="2190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A recorded budget concern</a:t>
            </a:r>
          </a:p>
        </p:txBody>
      </p:sp>
      <p:sp>
        <p:nvSpPr>
          <p:cNvPr id="8" name="">
            <a:extLst xmlns:a="http://schemas.openxmlformats.org/drawingml/2006/main">
              <a:ext uri="{FF2B5EF4-FFF2-40B4-BE49-F238E27FC236}">
                <a16:creationId xmlns:a16="http://schemas.microsoft.com/office/drawing/2014/main" id="{F6C12AF0-9627-4ADC-9A6E-64165933F927}"/>
              </a:ext>
            </a:extLst>
          </p:cNvPr>
          <p:cNvSpPr>
            <a:spLocks xmlns:a="http://schemas.openxmlformats.org/drawingml/2006/main" noGrp="1"/>
          </p:cNvSpPr>
          <p:nvPr/>
        </p:nvSpPr>
        <p:spPr>
          <a:xfrm xmlns:a="http://schemas.openxmlformats.org/drawingml/2006/main">
            <a:off x="533400" y="25050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Days until expiry (fixed at 90 in this design)</a:t>
            </a:r>
          </a:p>
        </p:txBody>
      </p:sp>
      <p:sp>
        <p:nvSpPr>
          <p:cNvPr id="9" name="">
            <a:extLst xmlns:a="http://schemas.openxmlformats.org/drawingml/2006/main">
              <a:ext uri="{FF2B5EF4-FFF2-40B4-BE49-F238E27FC236}">
                <a16:creationId xmlns:a16="http://schemas.microsoft.com/office/drawing/2014/main" id="{01D88EE4-B112-481B-8FAA-86F9E3958BEE}"/>
              </a:ext>
            </a:extLst>
          </p:cNvPr>
          <p:cNvSpPr>
            <a:spLocks xmlns:a="http://schemas.openxmlformats.org/drawingml/2006/main" noGrp="1"/>
          </p:cNvSpPr>
          <p:nvPr/>
        </p:nvSpPr>
        <p:spPr>
          <a:xfrm xmlns:a="http://schemas.openxmlformats.org/drawingml/2006/main">
            <a:off x="533400" y="28194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Age of the purchasing relationship</a:t>
            </a:r>
          </a:p>
        </p:txBody>
      </p:sp>
      <p:sp>
        <p:nvSpPr>
          <p:cNvPr id="10" name="">
            <a:extLst xmlns:a="http://schemas.openxmlformats.org/drawingml/2006/main">
              <a:ext uri="{FF2B5EF4-FFF2-40B4-BE49-F238E27FC236}">
                <a16:creationId xmlns:a16="http://schemas.microsoft.com/office/drawing/2014/main" id="{277E5A28-358F-4984-A7D5-0944BF46252F}"/>
              </a:ext>
            </a:extLst>
          </p:cNvPr>
          <p:cNvSpPr>
            <a:spLocks xmlns:a="http://schemas.openxmlformats.org/drawingml/2006/main" noGrp="1"/>
          </p:cNvSpPr>
          <p:nvPr/>
        </p:nvSpPr>
        <p:spPr>
          <a:xfrm xmlns:a="http://schemas.openxmlformats.org/drawingml/2006/main">
            <a:off x="533400" y="31337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Customer employee count</a:t>
            </a:r>
          </a:p>
        </p:txBody>
      </p:sp>
      <p:sp>
        <p:nvSpPr>
          <p:cNvPr id="11" name="">
            <a:extLst xmlns:a="http://schemas.openxmlformats.org/drawingml/2006/main">
              <a:ext uri="{FF2B5EF4-FFF2-40B4-BE49-F238E27FC236}">
                <a16:creationId xmlns:a16="http://schemas.microsoft.com/office/drawing/2014/main" id="{50E7977F-6954-42BC-9EC7-BDD090486C71}"/>
              </a:ext>
            </a:extLst>
          </p:cNvPr>
          <p:cNvSpPr>
            <a:spLocks xmlns:a="http://schemas.openxmlformats.org/drawingml/2006/main" noGrp="1"/>
          </p:cNvSpPr>
          <p:nvPr/>
        </p:nvSpPr>
        <p:spPr>
          <a:xfrm xmlns:a="http://schemas.openxmlformats.org/drawingml/2006/main">
            <a:off x="533400" y="34480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Annual value of this contract</a:t>
            </a:r>
          </a:p>
        </p:txBody>
      </p:sp>
      <p:sp>
        <p:nvSpPr>
          <p:cNvPr id="12" name="">
            <a:extLst xmlns:a="http://schemas.openxmlformats.org/drawingml/2006/main">
              <a:ext uri="{FF2B5EF4-FFF2-40B4-BE49-F238E27FC236}">
                <a16:creationId xmlns:a16="http://schemas.microsoft.com/office/drawing/2014/main" id="{86F1E936-DC26-4E16-9D98-51C985A68A39}"/>
              </a:ext>
            </a:extLst>
          </p:cNvPr>
          <p:cNvSpPr>
            <a:spLocks xmlns:a="http://schemas.openxmlformats.org/drawingml/2006/main" noGrp="1"/>
          </p:cNvSpPr>
          <p:nvPr/>
        </p:nvSpPr>
        <p:spPr>
          <a:xfrm xmlns:a="http://schemas.openxmlformats.org/drawingml/2006/main">
            <a:off x="533400" y="37623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Annual value in the renewal window</a:t>
            </a:r>
          </a:p>
        </p:txBody>
      </p:sp>
      <p:sp>
        <p:nvSpPr>
          <p:cNvPr id="13" name="">
            <a:extLst xmlns:a="http://schemas.openxmlformats.org/drawingml/2006/main">
              <a:ext uri="{FF2B5EF4-FFF2-40B4-BE49-F238E27FC236}">
                <a16:creationId xmlns:a16="http://schemas.microsoft.com/office/drawing/2014/main" id="{02A59B96-CE26-4BAB-BEBF-F6BDDAA3A381}"/>
              </a:ext>
            </a:extLst>
          </p:cNvPr>
          <p:cNvSpPr>
            <a:spLocks xmlns:a="http://schemas.openxmlformats.org/drawingml/2006/main" noGrp="1"/>
          </p:cNvSpPr>
          <p:nvPr/>
        </p:nvSpPr>
        <p:spPr>
          <a:xfrm xmlns:a="http://schemas.openxmlformats.org/drawingml/2006/main">
            <a:off x="533400" y="40767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Immediate prior subscription transition gap</a:t>
            </a:r>
          </a:p>
        </p:txBody>
      </p:sp>
      <p:sp>
        <p:nvSpPr>
          <p:cNvPr id="14" name="">
            <a:extLst xmlns:a="http://schemas.openxmlformats.org/drawingml/2006/main">
              <a:ext uri="{FF2B5EF4-FFF2-40B4-BE49-F238E27FC236}">
                <a16:creationId xmlns:a16="http://schemas.microsoft.com/office/drawing/2014/main" id="{1BD382C0-1929-450D-B624-61B2DCC8C847}"/>
              </a:ext>
            </a:extLst>
          </p:cNvPr>
          <p:cNvSpPr>
            <a:spLocks xmlns:a="http://schemas.openxmlformats.org/drawingml/2006/main" noGrp="1"/>
          </p:cNvSpPr>
          <p:nvPr/>
        </p:nvSpPr>
        <p:spPr>
          <a:xfrm xmlns:a="http://schemas.openxmlformats.org/drawingml/2006/main">
            <a:off x="533400" y="43910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Prior transition gap unavailable (indicator)</a:t>
            </a:r>
          </a:p>
        </p:txBody>
      </p:sp>
      <p:sp>
        <p:nvSpPr>
          <p:cNvPr id="15" name="">
            <a:extLst xmlns:a="http://schemas.openxmlformats.org/drawingml/2006/main">
              <a:ext uri="{FF2B5EF4-FFF2-40B4-BE49-F238E27FC236}">
                <a16:creationId xmlns:a16="http://schemas.microsoft.com/office/drawing/2014/main" id="{C8EF8F44-D30E-4D2E-967D-DC0D3A8397A2}"/>
              </a:ext>
            </a:extLst>
          </p:cNvPr>
          <p:cNvSpPr>
            <a:spLocks xmlns:a="http://schemas.openxmlformats.org/drawingml/2006/main" noGrp="1"/>
          </p:cNvSpPr>
          <p:nvPr/>
        </p:nvSpPr>
        <p:spPr>
          <a:xfrm xmlns:a="http://schemas.openxmlformats.org/drawingml/2006/main">
            <a:off x="6381750" y="12858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Product portfolio (5)</a:t>
            </a:r>
          </a:p>
        </p:txBody>
      </p:sp>
      <p:sp>
        <p:nvSpPr>
          <p:cNvPr id="16" name="">
            <a:extLst xmlns:a="http://schemas.openxmlformats.org/drawingml/2006/main">
              <a:ext uri="{FF2B5EF4-FFF2-40B4-BE49-F238E27FC236}">
                <a16:creationId xmlns:a16="http://schemas.microsoft.com/office/drawing/2014/main" id="{53A47096-6DD8-4792-9103-C9489FE95445}"/>
              </a:ext>
            </a:extLst>
          </p:cNvPr>
          <p:cNvSpPr>
            <a:spLocks xmlns:a="http://schemas.openxmlformats.org/drawingml/2006/main" noGrp="1"/>
          </p:cNvSpPr>
          <p:nvPr/>
        </p:nvSpPr>
        <p:spPr>
          <a:xfrm xmlns:a="http://schemas.openxmlformats.org/drawingml/2006/main">
            <a:off x="6381750" y="18764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Product count in the renewal window</a:t>
            </a:r>
          </a:p>
        </p:txBody>
      </p:sp>
      <p:sp>
        <p:nvSpPr>
          <p:cNvPr id="17" name="">
            <a:extLst xmlns:a="http://schemas.openxmlformats.org/drawingml/2006/main">
              <a:ext uri="{FF2B5EF4-FFF2-40B4-BE49-F238E27FC236}">
                <a16:creationId xmlns:a16="http://schemas.microsoft.com/office/drawing/2014/main" id="{460359C8-1B8E-4FBF-BF6D-5796D78FB3A2}"/>
              </a:ext>
            </a:extLst>
          </p:cNvPr>
          <p:cNvSpPr>
            <a:spLocks xmlns:a="http://schemas.openxmlformats.org/drawingml/2006/main" noGrp="1"/>
          </p:cNvSpPr>
          <p:nvPr/>
        </p:nvSpPr>
        <p:spPr>
          <a:xfrm xmlns:a="http://schemas.openxmlformats.org/drawingml/2006/main">
            <a:off x="6381750" y="2190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Product-family count in the renewal window</a:t>
            </a:r>
          </a:p>
        </p:txBody>
      </p:sp>
      <p:sp>
        <p:nvSpPr>
          <p:cNvPr id="18" name="">
            <a:extLst xmlns:a="http://schemas.openxmlformats.org/drawingml/2006/main">
              <a:ext uri="{FF2B5EF4-FFF2-40B4-BE49-F238E27FC236}">
                <a16:creationId xmlns:a16="http://schemas.microsoft.com/office/drawing/2014/main" id="{692EFE0A-A710-4334-B31D-E908B62808ED}"/>
              </a:ext>
            </a:extLst>
          </p:cNvPr>
          <p:cNvSpPr>
            <a:spLocks xmlns:a="http://schemas.openxmlformats.org/drawingml/2006/main" noGrp="1"/>
          </p:cNvSpPr>
          <p:nvPr/>
        </p:nvSpPr>
        <p:spPr>
          <a:xfrm xmlns:a="http://schemas.openxmlformats.org/drawingml/2006/main">
            <a:off x="6381750" y="25050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Active products in the same family</a:t>
            </a:r>
          </a:p>
        </p:txBody>
      </p:sp>
      <p:sp>
        <p:nvSpPr>
          <p:cNvPr id="19" name="">
            <a:extLst xmlns:a="http://schemas.openxmlformats.org/drawingml/2006/main">
              <a:ext uri="{FF2B5EF4-FFF2-40B4-BE49-F238E27FC236}">
                <a16:creationId xmlns:a16="http://schemas.microsoft.com/office/drawing/2014/main" id="{009003F2-9B21-421C-8038-725C62F0AA03}"/>
              </a:ext>
            </a:extLst>
          </p:cNvPr>
          <p:cNvSpPr>
            <a:spLocks xmlns:a="http://schemas.openxmlformats.org/drawingml/2006/main" noGrp="1"/>
          </p:cNvSpPr>
          <p:nvPr/>
        </p:nvSpPr>
        <p:spPr>
          <a:xfrm xmlns:a="http://schemas.openxmlformats.org/drawingml/2006/main">
            <a:off x="6381750" y="28194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Other family-product cancellations in the past year</a:t>
            </a:r>
          </a:p>
        </p:txBody>
      </p:sp>
      <p:sp>
        <p:nvSpPr>
          <p:cNvPr id="20" name="">
            <a:extLst xmlns:a="http://schemas.openxmlformats.org/drawingml/2006/main">
              <a:ext uri="{FF2B5EF4-FFF2-40B4-BE49-F238E27FC236}">
                <a16:creationId xmlns:a16="http://schemas.microsoft.com/office/drawing/2014/main" id="{0B36A7AE-22A1-4D0F-8EB3-7BB700A8A39F}"/>
              </a:ext>
            </a:extLst>
          </p:cNvPr>
          <p:cNvSpPr>
            <a:spLocks xmlns:a="http://schemas.openxmlformats.org/drawingml/2006/main" noGrp="1"/>
          </p:cNvSpPr>
          <p:nvPr/>
        </p:nvSpPr>
        <p:spPr>
          <a:xfrm xmlns:a="http://schemas.openxmlformats.org/drawingml/2006/main">
            <a:off x="6381750" y="31337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Share of the available family catalog owned</a:t>
            </a:r>
          </a:p>
        </p:txBody>
      </p:sp>
      <p:sp>
        <p:nvSpPr>
          <p:cNvPr id="21" name="">
            <a:extLst xmlns:a="http://schemas.openxmlformats.org/drawingml/2006/main">
              <a:ext uri="{FF2B5EF4-FFF2-40B4-BE49-F238E27FC236}">
                <a16:creationId xmlns:a16="http://schemas.microsoft.com/office/drawing/2014/main" id="{9D9E602D-5ECA-437E-9DD9-452E9753CFEC}"/>
              </a:ext>
            </a:extLst>
          </p:cNvPr>
          <p:cNvSpPr>
            <a:spLocks xmlns:a="http://schemas.openxmlformats.org/drawingml/2006/main" noGrp="1"/>
          </p:cNvSpPr>
          <p:nvPr/>
        </p:nvSpPr>
        <p:spPr>
          <a:xfrm xmlns:a="http://schemas.openxmlformats.org/drawingml/2006/main">
            <a:off x="6381750" y="38576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Category inputs (4)</a:t>
            </a:r>
          </a:p>
        </p:txBody>
      </p:sp>
      <p:sp>
        <p:nvSpPr>
          <p:cNvPr id="22" name="">
            <a:extLst xmlns:a="http://schemas.openxmlformats.org/drawingml/2006/main">
              <a:ext uri="{FF2B5EF4-FFF2-40B4-BE49-F238E27FC236}">
                <a16:creationId xmlns:a16="http://schemas.microsoft.com/office/drawing/2014/main" id="{3BAF439B-30A6-415E-A915-462190A27709}"/>
              </a:ext>
            </a:extLst>
          </p:cNvPr>
          <p:cNvSpPr>
            <a:spLocks xmlns:a="http://schemas.openxmlformats.org/drawingml/2006/main" noGrp="1"/>
          </p:cNvSpPr>
          <p:nvPr/>
        </p:nvSpPr>
        <p:spPr>
          <a:xfrm xmlns:a="http://schemas.openxmlformats.org/drawingml/2006/main">
            <a:off x="6381750" y="44481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Product family</a:t>
            </a:r>
          </a:p>
        </p:txBody>
      </p:sp>
      <p:sp>
        <p:nvSpPr>
          <p:cNvPr id="23" name="">
            <a:extLst xmlns:a="http://schemas.openxmlformats.org/drawingml/2006/main">
              <a:ext uri="{FF2B5EF4-FFF2-40B4-BE49-F238E27FC236}">
                <a16:creationId xmlns:a16="http://schemas.microsoft.com/office/drawing/2014/main" id="{604CAC84-782D-456D-8A87-F38BCCB0E14A}"/>
              </a:ext>
            </a:extLst>
          </p:cNvPr>
          <p:cNvSpPr>
            <a:spLocks xmlns:a="http://schemas.openxmlformats.org/drawingml/2006/main" noGrp="1"/>
          </p:cNvSpPr>
          <p:nvPr/>
        </p:nvSpPr>
        <p:spPr>
          <a:xfrm xmlns:a="http://schemas.openxmlformats.org/drawingml/2006/main">
            <a:off x="6381750" y="47625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Customer-size group</a:t>
            </a:r>
          </a:p>
        </p:txBody>
      </p:sp>
      <p:sp>
        <p:nvSpPr>
          <p:cNvPr id="24" name="">
            <a:extLst xmlns:a="http://schemas.openxmlformats.org/drawingml/2006/main">
              <a:ext uri="{FF2B5EF4-FFF2-40B4-BE49-F238E27FC236}">
                <a16:creationId xmlns:a16="http://schemas.microsoft.com/office/drawing/2014/main" id="{AD0E9543-7667-40F4-BB33-8ADEB2A5CE7E}"/>
              </a:ext>
            </a:extLst>
          </p:cNvPr>
          <p:cNvSpPr>
            <a:spLocks xmlns:a="http://schemas.openxmlformats.org/drawingml/2006/main" noGrp="1"/>
          </p:cNvSpPr>
          <p:nvPr/>
        </p:nvSpPr>
        <p:spPr>
          <a:xfrm xmlns:a="http://schemas.openxmlformats.org/drawingml/2006/main">
            <a:off x="6381750" y="50768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Customer industry</a:t>
            </a:r>
          </a:p>
        </p:txBody>
      </p:sp>
      <p:sp>
        <p:nvSpPr>
          <p:cNvPr id="25" name="">
            <a:extLst xmlns:a="http://schemas.openxmlformats.org/drawingml/2006/main">
              <a:ext uri="{FF2B5EF4-FFF2-40B4-BE49-F238E27FC236}">
                <a16:creationId xmlns:a16="http://schemas.microsoft.com/office/drawing/2014/main" id="{468E6680-6D93-450B-B346-C4FC2D622787}"/>
              </a:ext>
            </a:extLst>
          </p:cNvPr>
          <p:cNvSpPr>
            <a:spLocks xmlns:a="http://schemas.openxmlformats.org/drawingml/2006/main" noGrp="1"/>
          </p:cNvSpPr>
          <p:nvPr/>
        </p:nvSpPr>
        <p:spPr>
          <a:xfrm xmlns:a="http://schemas.openxmlformats.org/drawingml/2006/main">
            <a:off x="6381750" y="53911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3313D"/>
                </a:solidFill>
                <a:latin typeface="Calibri"/>
                <a:ea typeface="Calibri"/>
                <a:cs typeface="Calibri"/>
              </a:defRPr>
            </a:defPPr>
          </a:lstStyle>
          <a:p xmlns:a="http://schemas.openxmlformats.org/drawingml/2006/main">
            <a:pPr>
              <a:defRPr sz="1725" b="0">
                <a:solidFill>
                  <a:srgbClr val="23313D"/>
                </a:solidFill>
                <a:latin typeface="Calibri"/>
                <a:ea typeface="Calibri"/>
                <a:cs typeface="Calibri"/>
              </a:defRPr>
            </a:pPr>
            <a:r>
              <a:rPr sz="1725" b="0">
                <a:solidFill>
                  <a:srgbClr val="23313D"/>
                </a:solidFill>
                <a:latin typeface="Calibri"/>
                <a:ea typeface="Calibri"/>
                <a:cs typeface="Calibri"/>
              </a:rPr>
              <a:t>Customer region</a:t>
            </a:r>
          </a:p>
        </p:txBody>
      </p:sp>
      <p:sp>
        <p:nvSpPr>
          <p:cNvPr id="26" name="">
            <a:extLst xmlns:a="http://schemas.openxmlformats.org/drawingml/2006/main">
              <a:ext uri="{FF2B5EF4-FFF2-40B4-BE49-F238E27FC236}">
                <a16:creationId xmlns:a16="http://schemas.microsoft.com/office/drawing/2014/main" id="{DDF1199B-2AF0-4F45-BF83-35298FD5BD2E}"/>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Context is measured at prediction. The prior transition-gap field uses one predecessor. Days until expiry is fixed at 90 in this design.</a:t>
            </a:r>
          </a:p>
        </p:txBody>
      </p:sp>
    </p:spTree>
    <p:extLst>
      <p:ext uri="{BB962C8B-B14F-4D97-AF65-F5344CB8AC3E}">
        <p14:creationId xmlns:p14="http://schemas.microsoft.com/office/powerpoint/2010/main" val="1435613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086BAE-5EF5-4ECC-8D4E-080ABC96A0EC}"/>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4B3B86-8664-454C-9A49-5AEE4E6AE133}"/>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8869B0-FD26-4C3B-9627-E1B009C8B0C6}"/>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Training and evaluation over time</a:t>
            </a:r>
          </a:p>
        </p:txBody>
      </p:sp>
      <p:sp>
        <p:nvSpPr>
          <p:cNvPr id="4" name="">
            <a:extLst xmlns:a="http://schemas.openxmlformats.org/drawingml/2006/main">
              <a:ext uri="{FF2B5EF4-FFF2-40B4-BE49-F238E27FC236}">
                <a16:creationId xmlns:a16="http://schemas.microsoft.com/office/drawing/2014/main" id="{47D71BB5-DBBE-46AA-93F1-5F228FFD5D08}"/>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13</a:t>
            </a:r>
          </a:p>
        </p:txBody>
      </p:sp>
      <p:graphicFrame>
        <p:nvGraphicFramePr>
          <p:cNvPr id="5" name="">
            <a:extLst xmlns:a="http://schemas.openxmlformats.org/drawingml/2006/main">
              <a:ext uri="{FF2B5EF4-FFF2-40B4-BE49-F238E27FC236}">
                <a16:creationId xmlns:a16="http://schemas.microsoft.com/office/drawing/2014/main" id="{FAD403BA-365B-4CA2-9067-C9F89CC22775}"/>
              </a:ext>
            </a:extLst>
          </p:cNvPr>
          <p:cNvGraphicFramePr/>
          <p:nvPr/>
        </p:nvGraphicFramePr>
        <p:xfrm>
          <a:off xmlns:a="http://schemas.openxmlformats.org/drawingml/2006/main" x="533400" y="1333500"/>
          <a:ext xmlns:a="http://schemas.openxmlformats.org/drawingml/2006/main" cx="11125200" cy="2857500"/>
        </p:xfrm>
        <a:graphic xmlns:a="http://schemas.openxmlformats.org/drawingml/2006/main">
          <a:graphicData uri="http://schemas.openxmlformats.org/drawingml/2006/table">
            <a:tbl>
              <a:tblPr/>
              <a:tblGrid>
                <a:gridCol w="2952750"/>
                <a:gridCol w="5048250"/>
                <a:gridCol w="3124200"/>
              </a:tblGrid>
              <a:tr h="571500">
                <a:tc>
                  <a:txBody>
                    <a:bodyPr/>
                    <a:lstStyle/>
                    <a:p>
                      <a:r>
                        <a:rPr sz="1725" b="1">
                          <a:solidFill>
                            <a:srgbClr val="FFFFFF"/>
                          </a:solidFill>
                          <a:latin typeface="Calibri"/>
                          <a:ea typeface="Calibri"/>
                          <a:cs typeface="Calibri"/>
                        </a:rPr>
                        <a:t>Stage</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Prediction period</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Rows / cancellations</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571500">
                <a:tc>
                  <a:txBody>
                    <a:bodyPr/>
                    <a:lstStyle/>
                    <a:p>
                      <a:r>
                        <a:rPr sz="1725">
                          <a:solidFill>
                            <a:srgbClr val="23313D"/>
                          </a:solidFill>
                          <a:latin typeface="Calibri"/>
                          <a:ea typeface="Calibri"/>
                          <a:cs typeface="Calibri"/>
                        </a:rPr>
                        <a:t>Train candidates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Through 4 April 2023</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4,762 / 286</a:t>
                      </a:r>
                    </a:p>
                  </a:txBody>
                  <a:tcPr marL="114300" marR="114300" marT="76200" marB="76200">
                    <a:lnR w="5715">
                      <a:solidFill>
                        <a:srgbClr val="D3DCE2"/>
                      </a:solidFill>
                      <a:prstDash val="solid"/>
                    </a:lnR>
                    <a:lnB w="5715">
                      <a:solidFill>
                        <a:srgbClr val="D3DCE2"/>
                      </a:solidFill>
                      <a:prstDash val="solid"/>
                    </a:lnB>
                    <a:solidFill>
                      <a:srgbClr val="FFFFFF"/>
                    </a:solidFill>
                  </a:tcPr>
                </a:tc>
              </a:tr>
              <a:tr h="571500">
                <a:tc>
                  <a:txBody>
                    <a:bodyPr/>
                    <a:lstStyle/>
                    <a:p>
                      <a:r>
                        <a:rPr sz="1725">
                          <a:solidFill>
                            <a:srgbClr val="23313D"/>
                          </a:solidFill>
                          <a:latin typeface="Calibri"/>
                          <a:ea typeface="Calibri"/>
                          <a:cs typeface="Calibri"/>
                        </a:rPr>
                        <a:t>Choose model</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October 2023 to April 2024</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2,242 / 116</a:t>
                      </a:r>
                    </a:p>
                  </a:txBody>
                  <a:tcPr marL="114300" marR="114300" marT="76200" marB="76200">
                    <a:lnR w="5715">
                      <a:solidFill>
                        <a:srgbClr val="D3DCE2"/>
                      </a:solidFill>
                      <a:prstDash val="solid"/>
                    </a:lnR>
                    <a:lnB w="5715">
                      <a:solidFill>
                        <a:srgbClr val="D3DCE2"/>
                      </a:solidFill>
                      <a:prstDash val="solid"/>
                    </a:lnB>
                    <a:solidFill>
                      <a:srgbClr val="F1F4F6"/>
                    </a:solidFill>
                  </a:tcPr>
                </a:tc>
              </a:tr>
              <a:tr h="571500">
                <a:tc>
                  <a:txBody>
                    <a:bodyPr/>
                    <a:lstStyle/>
                    <a:p>
                      <a:r>
                        <a:rPr sz="1725">
                          <a:solidFill>
                            <a:srgbClr val="23313D"/>
                          </a:solidFill>
                          <a:latin typeface="Calibri"/>
                          <a:ea typeface="Calibri"/>
                          <a:cs typeface="Calibri"/>
                        </a:rPr>
                        <a:t>Check later period</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October 2024 to April 2025</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2,665 / 120</a:t>
                      </a:r>
                    </a:p>
                  </a:txBody>
                  <a:tcPr marL="114300" marR="114300" marT="76200" marB="76200">
                    <a:lnR w="5715">
                      <a:solidFill>
                        <a:srgbClr val="D3DCE2"/>
                      </a:solidFill>
                      <a:prstDash val="solid"/>
                    </a:lnR>
                    <a:lnB w="5715">
                      <a:solidFill>
                        <a:srgbClr val="D3DCE2"/>
                      </a:solidFill>
                      <a:prstDash val="solid"/>
                    </a:lnB>
                    <a:solidFill>
                      <a:srgbClr val="FFFFFF"/>
                    </a:solidFill>
                  </a:tcPr>
                </a:tc>
              </a:tr>
              <a:tr h="571500">
                <a:tc>
                  <a:txBody>
                    <a:bodyPr/>
                    <a:lstStyle/>
                    <a:p>
                      <a:r>
                        <a:rPr sz="1725">
                          <a:solidFill>
                            <a:srgbClr val="23313D"/>
                          </a:solidFill>
                          <a:latin typeface="Calibri"/>
                          <a:ea typeface="Calibri"/>
                          <a:cs typeface="Calibri"/>
                        </a:rPr>
                        <a:t>Later evaluation</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October 2025 to April 2026</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3,139 / 141</a:t>
                      </a:r>
                    </a:p>
                  </a:txBody>
                  <a:tcPr marL="114300" marR="114300" marT="76200" marB="76200">
                    <a:lnR w="5715">
                      <a:solidFill>
                        <a:srgbClr val="D3DCE2"/>
                      </a:solidFill>
                      <a:prstDash val="solid"/>
                    </a:lnR>
                    <a:lnB w="5715">
                      <a:solidFill>
                        <a:srgbClr val="D3DCE2"/>
                      </a:solidFill>
                      <a:prstDash val="solid"/>
                    </a:lnB>
                    <a:solidFill>
                      <a:srgbClr val="F1F4F6"/>
                    </a:solidFill>
                  </a:tcPr>
                </a:tc>
              </a:tr>
            </a:tbl>
          </a:graphicData>
        </a:graphic>
      </p:graphicFrame>
      <p:sp>
        <p:nvSpPr>
          <p:cNvPr id="6" name="">
            <a:extLst xmlns:a="http://schemas.openxmlformats.org/drawingml/2006/main">
              <a:ext uri="{FF2B5EF4-FFF2-40B4-BE49-F238E27FC236}">
                <a16:creationId xmlns:a16="http://schemas.microsoft.com/office/drawing/2014/main" id="{EFC6D9C6-D20A-473A-A456-280A20785B03}"/>
              </a:ext>
            </a:extLst>
          </p:cNvPr>
          <p:cNvSpPr>
            <a:spLocks xmlns:a="http://schemas.openxmlformats.org/drawingml/2006/main" noGrp="1"/>
          </p:cNvSpPr>
          <p:nvPr/>
        </p:nvSpPr>
        <p:spPr>
          <a:xfrm xmlns:a="http://schemas.openxmlformats.org/drawingml/2006/main">
            <a:off x="533400" y="45720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8C95"/>
                </a:solidFill>
                <a:latin typeface="Calibri"/>
                <a:ea typeface="Calibri"/>
                <a:cs typeface="Calibri"/>
              </a:defRPr>
            </a:defPPr>
          </a:lstStyle>
          <a:p xmlns:a="http://schemas.openxmlformats.org/drawingml/2006/main">
            <a:pPr>
              <a:defRPr sz="1950" b="1">
                <a:solidFill>
                  <a:srgbClr val="008C95"/>
                </a:solidFill>
                <a:latin typeface="Calibri"/>
                <a:ea typeface="Calibri"/>
                <a:cs typeface="Calibri"/>
              </a:defRPr>
            </a:pPr>
            <a:r>
              <a:rPr sz="1950" b="1">
                <a:solidFill>
                  <a:srgbClr val="008C95"/>
                </a:solidFill>
                <a:latin typeface="Calibri"/>
                <a:ea typeface="Calibri"/>
                <a:cs typeface="Calibri"/>
              </a:rPr>
              <a:t>Candidates: health rule, logistic regression and boosted decision trees</a:t>
            </a:r>
          </a:p>
        </p:txBody>
      </p:sp>
      <p:sp>
        <p:nvSpPr>
          <p:cNvPr id="7" name="">
            <a:extLst xmlns:a="http://schemas.openxmlformats.org/drawingml/2006/main">
              <a:ext uri="{FF2B5EF4-FFF2-40B4-BE49-F238E27FC236}">
                <a16:creationId xmlns:a16="http://schemas.microsoft.com/office/drawing/2014/main" id="{2E309107-2368-4E55-972D-BBCB0CFD1134}"/>
              </a:ext>
            </a:extLst>
          </p:cNvPr>
          <p:cNvSpPr>
            <a:spLocks xmlns:a="http://schemas.openxmlformats.org/drawingml/2006/main" noGrp="1"/>
          </p:cNvSpPr>
          <p:nvPr/>
        </p:nvSpPr>
        <p:spPr>
          <a:xfrm xmlns:a="http://schemas.openxmlformats.org/drawingml/2006/main">
            <a:off x="533400" y="528637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3313D"/>
                </a:solidFill>
                <a:latin typeface="Calibri"/>
                <a:ea typeface="Calibri"/>
                <a:cs typeface="Calibri"/>
              </a:defRPr>
            </a:defPPr>
          </a:lstStyle>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Refit uses 7,004 earlier observations.</a:t>
            </a:r>
          </a:p>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7,060 windows are excluded near fitting dates. 3,223 await outcomes.</a:t>
            </a:r>
          </a:p>
        </p:txBody>
      </p:sp>
      <p:sp>
        <p:nvSpPr>
          <p:cNvPr id="8" name="">
            <a:extLst xmlns:a="http://schemas.openxmlformats.org/drawingml/2006/main">
              <a:ext uri="{FF2B5EF4-FFF2-40B4-BE49-F238E27FC236}">
                <a16:creationId xmlns:a16="http://schemas.microsoft.com/office/drawing/2014/main" id="{98C0EC1C-6ECE-437E-836C-884E0446CB30}"/>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The modeling table contains 23,091 eligible subscription windows. Class weights were tested. No oversampling. Synthetic evaluation under fixed assumptions.</a:t>
            </a:r>
          </a:p>
        </p:txBody>
      </p:sp>
    </p:spTree>
    <p:extLst>
      <p:ext uri="{BB962C8B-B14F-4D97-AF65-F5344CB8AC3E}">
        <p14:creationId xmlns:p14="http://schemas.microsoft.com/office/powerpoint/2010/main" val="1557047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2BD3323-5424-40C7-BEFE-D4DD77960933}"/>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1ADA39-4457-4332-9923-3AA11686EEF8}"/>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2EE84C-5C6F-4560-8680-34FB1D82F2AE}"/>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The model learns useful ranking patterns</a:t>
            </a:r>
          </a:p>
        </p:txBody>
      </p:sp>
      <p:sp>
        <p:nvSpPr>
          <p:cNvPr id="4" name="">
            <a:extLst xmlns:a="http://schemas.openxmlformats.org/drawingml/2006/main">
              <a:ext uri="{FF2B5EF4-FFF2-40B4-BE49-F238E27FC236}">
                <a16:creationId xmlns:a16="http://schemas.microsoft.com/office/drawing/2014/main" id="{5FFA3CE7-A9D1-4EF4-AED3-C99B999FF977}"/>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14</a:t>
            </a:r>
          </a:p>
        </p:txBody>
      </p:sp>
      <p:graphicFrame>
        <p:nvGraphicFramePr>
          <p:cNvPr id="5" name="Chart">
            <a:extLst xmlns:a="http://schemas.openxmlformats.org/drawingml/2006/main">
              <a:ext uri="{FF2B5EF4-FFF2-40B4-BE49-F238E27FC236}">
                <a16:creationId xmlns:a16="http://schemas.microsoft.com/office/drawing/2014/main" id="{12773881-BB55-4845-A36F-4E9700E49D7F}"/>
              </a:ext>
            </a:extLst>
          </p:cNvPr>
          <p:cNvGraphicFramePr/>
          <p:nvPr/>
        </p:nvGraphicFramePr>
        <p:xfrm>
          <a:off xmlns:a="http://schemas.openxmlformats.org/drawingml/2006/main" x="476250" y="1381125"/>
          <a:ext xmlns:a="http://schemas.openxmlformats.org/drawingml/2006/main" cx="7191375" cy="4048125"/>
        </p:xfrm>
        <a:graphic xmlns:a="http://schemas.openxmlformats.org/drawingml/2006/main">
          <a:graphicData uri="http://schemas.openxmlformats.org/drawingml/2006/chart">
            <c:chart xmlns:r="http://schemas.openxmlformats.org/officeDocument/2006/relationships" xmlns:c="http://schemas.openxmlformats.org/drawingml/2006/chart" r:id="R0dc195da555c4f77"/>
          </a:graphicData>
        </a:graphic>
      </p:graphicFrame>
      <p:sp>
        <p:nvSpPr>
          <p:cNvPr id="6" name="">
            <a:extLst xmlns:a="http://schemas.openxmlformats.org/drawingml/2006/main">
              <a:ext uri="{FF2B5EF4-FFF2-40B4-BE49-F238E27FC236}">
                <a16:creationId xmlns:a16="http://schemas.microsoft.com/office/drawing/2014/main" id="{FBF21715-8B5B-4EEF-A43C-D0673F7CCB04}"/>
              </a:ext>
            </a:extLst>
          </p:cNvPr>
          <p:cNvSpPr>
            <a:spLocks xmlns:a="http://schemas.openxmlformats.org/drawingml/2006/main" noGrp="1"/>
          </p:cNvSpPr>
          <p:nvPr/>
        </p:nvSpPr>
        <p:spPr>
          <a:xfrm xmlns:a="http://schemas.openxmlformats.org/drawingml/2006/main">
            <a:off x="8143875" y="147637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Later synthetic evaluation</a:t>
            </a:r>
          </a:p>
        </p:txBody>
      </p:sp>
      <p:sp>
        <p:nvSpPr>
          <p:cNvPr id="7" name="">
            <a:extLst xmlns:a="http://schemas.openxmlformats.org/drawingml/2006/main">
              <a:ext uri="{FF2B5EF4-FFF2-40B4-BE49-F238E27FC236}">
                <a16:creationId xmlns:a16="http://schemas.microsoft.com/office/drawing/2014/main" id="{30238143-0979-4897-9F83-0E77043E474A}"/>
              </a:ext>
            </a:extLst>
          </p:cNvPr>
          <p:cNvSpPr>
            <a:spLocks xmlns:a="http://schemas.openxmlformats.org/drawingml/2006/main" noGrp="1"/>
          </p:cNvSpPr>
          <p:nvPr/>
        </p:nvSpPr>
        <p:spPr>
          <a:xfrm xmlns:a="http://schemas.openxmlformats.org/drawingml/2006/main">
            <a:off x="8143875" y="2190750"/>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F5A1F"/>
                </a:solidFill>
                <a:latin typeface="Calibri"/>
                <a:ea typeface="Calibri"/>
                <a:cs typeface="Calibri"/>
              </a:defRPr>
            </a:defPPr>
          </a:lstStyle>
          <a:p xmlns:a="http://schemas.openxmlformats.org/drawingml/2006/main">
            <a:pPr>
              <a:defRPr sz="2325" b="1">
                <a:solidFill>
                  <a:srgbClr val="FF5A1F"/>
                </a:solidFill>
                <a:latin typeface="Calibri"/>
                <a:ea typeface="Calibri"/>
                <a:cs typeface="Calibri"/>
              </a:defRPr>
            </a:pPr>
            <a:r>
              <a:rPr sz="2325" b="1">
                <a:solidFill>
                  <a:srgbClr val="FF5A1F"/>
                </a:solidFill>
                <a:latin typeface="Calibri"/>
                <a:ea typeface="Calibri"/>
                <a:cs typeface="Calibri"/>
              </a:rPr>
              <a:t>Average precision</a:t>
            </a:r>
          </a:p>
          <a:p xmlns:a="http://schemas.openxmlformats.org/drawingml/2006/main">
            <a:pPr>
              <a:defRPr sz="2325" b="1">
                <a:solidFill>
                  <a:srgbClr val="FF5A1F"/>
                </a:solidFill>
                <a:latin typeface="Calibri"/>
                <a:ea typeface="Calibri"/>
                <a:cs typeface="Calibri"/>
              </a:defRPr>
            </a:pPr>
            <a:r>
              <a:rPr sz="2325" b="1">
                <a:solidFill>
                  <a:srgbClr val="FF5A1F"/>
                </a:solidFill>
                <a:latin typeface="Calibri"/>
                <a:ea typeface="Calibri"/>
                <a:cs typeface="Calibri"/>
              </a:rPr>
              <a:t>Model 0.2464</a:t>
            </a:r>
          </a:p>
          <a:p xmlns:a="http://schemas.openxmlformats.org/drawingml/2006/main">
            <a:pPr>
              <a:defRPr sz="2325" b="1">
                <a:solidFill>
                  <a:srgbClr val="FF5A1F"/>
                </a:solidFill>
                <a:latin typeface="Calibri"/>
                <a:ea typeface="Calibri"/>
                <a:cs typeface="Calibri"/>
              </a:defRPr>
            </a:pPr>
            <a:r>
              <a:rPr sz="2325" b="1">
                <a:solidFill>
                  <a:srgbClr val="FF5A1F"/>
                </a:solidFill>
                <a:latin typeface="Calibri"/>
                <a:ea typeface="Calibri"/>
                <a:cs typeface="Calibri"/>
              </a:rPr>
              <a:t>Rules 0.1315</a:t>
            </a:r>
          </a:p>
        </p:txBody>
      </p:sp>
      <p:sp>
        <p:nvSpPr>
          <p:cNvPr id="8" name="">
            <a:extLst xmlns:a="http://schemas.openxmlformats.org/drawingml/2006/main">
              <a:ext uri="{FF2B5EF4-FFF2-40B4-BE49-F238E27FC236}">
                <a16:creationId xmlns:a16="http://schemas.microsoft.com/office/drawing/2014/main" id="{4F3FECE1-70EB-4DA5-8E12-B0DE2E9EA052}"/>
              </a:ext>
            </a:extLst>
          </p:cNvPr>
          <p:cNvSpPr>
            <a:spLocks xmlns:a="http://schemas.openxmlformats.org/drawingml/2006/main" noGrp="1"/>
          </p:cNvSpPr>
          <p:nvPr/>
        </p:nvSpPr>
        <p:spPr>
          <a:xfrm xmlns:a="http://schemas.openxmlformats.org/drawingml/2006/main">
            <a:off x="8143875" y="42386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3313D"/>
                </a:solidFill>
                <a:latin typeface="Calibri"/>
                <a:ea typeface="Calibri"/>
                <a:cs typeface="Calibri"/>
              </a:defRPr>
            </a:defPPr>
          </a:lstStyle>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ROC-AUC: 0.792</a:t>
            </a:r>
          </a:p>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Overall separation of outcomes</a:t>
            </a:r>
          </a:p>
        </p:txBody>
      </p:sp>
      <p:sp>
        <p:nvSpPr>
          <p:cNvPr id="9" name="">
            <a:extLst xmlns:a="http://schemas.openxmlformats.org/drawingml/2006/main">
              <a:ext uri="{FF2B5EF4-FFF2-40B4-BE49-F238E27FC236}">
                <a16:creationId xmlns:a16="http://schemas.microsoft.com/office/drawing/2014/main" id="{135694EE-162E-4E9F-8003-5F8E04881AD2}"/>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Model selection uses historical AP. The business comparison uses precision at 30 account reviews.</a:t>
            </a:r>
          </a:p>
        </p:txBody>
      </p:sp>
    </p:spTree>
    <p:extLst>
      <p:ext uri="{BB962C8B-B14F-4D97-AF65-F5344CB8AC3E}">
        <p14:creationId xmlns:p14="http://schemas.microsoft.com/office/powerpoint/2010/main" val="21291258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785529-9A21-4CAC-AA9C-E1719E8A2DE4}"/>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830181-FEC2-440E-9814-FF59B8BF417E}"/>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C0B9CDC-FCAD-42F5-BA1F-6CD3D686985C}"/>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Successful use and coverage lead model importance</a:t>
            </a:r>
          </a:p>
        </p:txBody>
      </p:sp>
      <p:sp>
        <p:nvSpPr>
          <p:cNvPr id="4" name="">
            <a:extLst xmlns:a="http://schemas.openxmlformats.org/drawingml/2006/main">
              <a:ext uri="{FF2B5EF4-FFF2-40B4-BE49-F238E27FC236}">
                <a16:creationId xmlns:a16="http://schemas.microsoft.com/office/drawing/2014/main" id="{14C11174-E9D4-495C-A6EE-96D5D1364D93}"/>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15</a:t>
            </a:r>
          </a:p>
        </p:txBody>
      </p:sp>
      <p:graphicFrame>
        <p:nvGraphicFramePr>
          <p:cNvPr id="5" name="Chart">
            <a:extLst xmlns:a="http://schemas.openxmlformats.org/drawingml/2006/main">
              <a:ext uri="{FF2B5EF4-FFF2-40B4-BE49-F238E27FC236}">
                <a16:creationId xmlns:a16="http://schemas.microsoft.com/office/drawing/2014/main" id="{6DB398BA-3DA0-43D3-9332-AEEF6CF5130D}"/>
              </a:ext>
            </a:extLst>
          </p:cNvPr>
          <p:cNvGraphicFramePr/>
          <p:nvPr/>
        </p:nvGraphicFramePr>
        <p:xfrm>
          <a:off xmlns:a="http://schemas.openxmlformats.org/drawingml/2006/main" x="428625" y="1428750"/>
          <a:ext xmlns:a="http://schemas.openxmlformats.org/drawingml/2006/main" cx="7524750" cy="3905250"/>
        </p:xfrm>
        <a:graphic xmlns:a="http://schemas.openxmlformats.org/drawingml/2006/main">
          <a:graphicData uri="http://schemas.openxmlformats.org/drawingml/2006/chart">
            <c:chart xmlns:r="http://schemas.openxmlformats.org/officeDocument/2006/relationships" xmlns:c="http://schemas.openxmlformats.org/drawingml/2006/chart" r:id="Rb1b9742c1b14498e"/>
          </a:graphicData>
        </a:graphic>
      </p:graphicFrame>
      <p:sp>
        <p:nvSpPr>
          <p:cNvPr id="6" name="">
            <a:extLst xmlns:a="http://schemas.openxmlformats.org/drawingml/2006/main">
              <a:ext uri="{FF2B5EF4-FFF2-40B4-BE49-F238E27FC236}">
                <a16:creationId xmlns:a16="http://schemas.microsoft.com/office/drawing/2014/main" id="{AF0BD2BC-30B3-4CEA-A907-3A40B3D0A727}"/>
              </a:ext>
            </a:extLst>
          </p:cNvPr>
          <p:cNvSpPr>
            <a:spLocks xmlns:a="http://schemas.openxmlformats.org/drawingml/2006/main" noGrp="1"/>
          </p:cNvSpPr>
          <p:nvPr/>
        </p:nvSpPr>
        <p:spPr>
          <a:xfrm xmlns:a="http://schemas.openxmlformats.org/drawingml/2006/main">
            <a:off x="8286750" y="1714500"/>
            <a:ext cx="314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3313D"/>
                </a:solidFill>
                <a:latin typeface="Calibri"/>
                <a:ea typeface="Calibri"/>
                <a:cs typeface="Calibri"/>
              </a:defRPr>
            </a:defPPr>
          </a:lstStyle>
          <a:p xmlns:a="http://schemas.openxmlformats.org/drawingml/2006/main">
            <a:pPr>
              <a:defRPr sz="1875" b="0">
                <a:solidFill>
                  <a:srgbClr val="23313D"/>
                </a:solidFill>
                <a:latin typeface="Calibri"/>
                <a:ea typeface="Calibri"/>
                <a:cs typeface="Calibri"/>
              </a:defRPr>
            </a:pPr>
            <a:r>
              <a:rPr sz="1875" b="0">
                <a:solidFill>
                  <a:srgbClr val="23313D"/>
                </a:solidFill>
                <a:latin typeface="Calibri"/>
                <a:ea typeface="Calibri"/>
                <a:cs typeface="Calibri"/>
              </a:rPr>
              <a:t>Strongest clues</a:t>
            </a:r>
          </a:p>
          <a:p xmlns:a="http://schemas.openxmlformats.org/drawingml/2006/main">
            <a:pPr>
              <a:defRPr sz="1875" b="0">
                <a:solidFill>
                  <a:srgbClr val="23313D"/>
                </a:solidFill>
                <a:latin typeface="Calibri"/>
                <a:ea typeface="Calibri"/>
                <a:cs typeface="Calibri"/>
              </a:defRPr>
            </a:pPr>
            <a:r>
              <a:rPr sz="1875" b="0">
                <a:solidFill>
                  <a:srgbClr val="23313D"/>
                </a:solidFill>
                <a:latin typeface="Calibri"/>
                <a:ea typeface="Calibri"/>
                <a:cs typeface="Calibri"/>
              </a:rPr>
              <a:t>Successful workflows and protection coverage.</a:t>
            </a:r>
          </a:p>
          <a:p xmlns:a="http://schemas.openxmlformats.org/drawingml/2006/main">
            <a:r>
              <a:t/>
            </a:r>
          </a:p>
          <a:p xmlns:a="http://schemas.openxmlformats.org/drawingml/2006/main">
            <a:pPr>
              <a:defRPr sz="1875" b="0">
                <a:solidFill>
                  <a:srgbClr val="23313D"/>
                </a:solidFill>
                <a:latin typeface="Calibri"/>
                <a:ea typeface="Calibri"/>
                <a:cs typeface="Calibri"/>
              </a:defRPr>
            </a:pPr>
            <a:r>
              <a:rPr sz="1875" b="0">
                <a:solidFill>
                  <a:srgbClr val="23313D"/>
                </a:solidFill>
                <a:latin typeface="Calibri"/>
                <a:ea typeface="Calibri"/>
                <a:cs typeface="Calibri"/>
              </a:rPr>
              <a:t>Context</a:t>
            </a:r>
          </a:p>
          <a:p xmlns:a="http://schemas.openxmlformats.org/drawingml/2006/main">
            <a:pPr>
              <a:defRPr sz="1875" b="0">
                <a:solidFill>
                  <a:srgbClr val="23313D"/>
                </a:solidFill>
                <a:latin typeface="Calibri"/>
                <a:ea typeface="Calibri"/>
                <a:cs typeface="Calibri"/>
              </a:defRPr>
            </a:pPr>
            <a:r>
              <a:rPr sz="1875" b="0">
                <a:solidFill>
                  <a:srgbClr val="23313D"/>
                </a:solidFill>
                <a:latin typeface="Calibri"/>
                <a:ea typeface="Calibri"/>
                <a:cs typeface="Calibri"/>
              </a:rPr>
              <a:t>Size affects the assumed baseline risk.</a:t>
            </a:r>
          </a:p>
        </p:txBody>
      </p:sp>
      <p:sp>
        <p:nvSpPr>
          <p:cNvPr id="7" name="">
            <a:extLst xmlns:a="http://schemas.openxmlformats.org/drawingml/2006/main">
              <a:ext uri="{FF2B5EF4-FFF2-40B4-BE49-F238E27FC236}">
                <a16:creationId xmlns:a16="http://schemas.microsoft.com/office/drawing/2014/main" id="{9CFD22AD-98AD-4847-9479-7AA75AAAC5C8}"/>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These are model reliance measures within the simulation. Correlated features share information. Smaller importances are less stable.</a:t>
            </a:r>
          </a:p>
        </p:txBody>
      </p:sp>
    </p:spTree>
    <p:extLst>
      <p:ext uri="{BB962C8B-B14F-4D97-AF65-F5344CB8AC3E}">
        <p14:creationId xmlns:p14="http://schemas.microsoft.com/office/powerpoint/2010/main" val="19012213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51CC91A-7F38-4707-9552-2E56BFEA7122}"/>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393801-6FD0-4454-97BC-9393DA7A19F6}"/>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EEB38B-FB93-4457-AE7C-A8A798467FDF}"/>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Risk score and value-based priority</a:t>
            </a:r>
          </a:p>
        </p:txBody>
      </p:sp>
      <p:sp>
        <p:nvSpPr>
          <p:cNvPr id="4" name="">
            <a:extLst xmlns:a="http://schemas.openxmlformats.org/drawingml/2006/main">
              <a:ext uri="{FF2B5EF4-FFF2-40B4-BE49-F238E27FC236}">
                <a16:creationId xmlns:a16="http://schemas.microsoft.com/office/drawing/2014/main" id="{4FCE1F5A-7504-4855-8958-D673D5C09554}"/>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16</a:t>
            </a:r>
          </a:p>
        </p:txBody>
      </p:sp>
      <p:sp>
        <p:nvSpPr>
          <p:cNvPr id="5" name="">
            <a:extLst xmlns:a="http://schemas.openxmlformats.org/drawingml/2006/main">
              <a:ext uri="{FF2B5EF4-FFF2-40B4-BE49-F238E27FC236}">
                <a16:creationId xmlns:a16="http://schemas.microsoft.com/office/drawing/2014/main" id="{1632C528-6E3D-48EB-8DE8-2FBE0AF3897B}"/>
              </a:ext>
            </a:extLst>
          </p:cNvPr>
          <p:cNvSpPr>
            <a:spLocks xmlns:a="http://schemas.openxmlformats.org/drawingml/2006/main" noGrp="1"/>
          </p:cNvSpPr>
          <p:nvPr/>
        </p:nvSpPr>
        <p:spPr>
          <a:xfrm xmlns:a="http://schemas.openxmlformats.org/drawingml/2006/main">
            <a:off x="533400" y="12573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C95"/>
                </a:solidFill>
                <a:latin typeface="Calibri"/>
                <a:ea typeface="Calibri"/>
                <a:cs typeface="Calibri"/>
              </a:defRPr>
            </a:defPPr>
          </a:lstStyle>
          <a:p xmlns:a="http://schemas.openxmlformats.org/drawingml/2006/main">
            <a:pPr>
              <a:defRPr sz="2175" b="1">
                <a:solidFill>
                  <a:srgbClr val="008C95"/>
                </a:solidFill>
                <a:latin typeface="Calibri"/>
                <a:ea typeface="Calibri"/>
                <a:cs typeface="Calibri"/>
              </a:defRPr>
            </a:pPr>
            <a:r>
              <a:rPr sz="2175" b="1">
                <a:solidFill>
                  <a:srgbClr val="008C95"/>
                </a:solidFill>
                <a:latin typeface="Calibri"/>
                <a:ea typeface="Calibri"/>
                <a:cs typeface="Calibri"/>
              </a:rPr>
              <a:t>Customer history</a:t>
            </a:r>
          </a:p>
        </p:txBody>
      </p:sp>
      <p:sp>
        <p:nvSpPr>
          <p:cNvPr id="6" name="">
            <a:extLst xmlns:a="http://schemas.openxmlformats.org/drawingml/2006/main">
              <a:ext uri="{FF2B5EF4-FFF2-40B4-BE49-F238E27FC236}">
                <a16:creationId xmlns:a16="http://schemas.microsoft.com/office/drawing/2014/main" id="{509C9ACC-C475-4422-B0E1-060C25A8E08F}"/>
              </a:ext>
            </a:extLst>
          </p:cNvPr>
          <p:cNvSpPr>
            <a:spLocks xmlns:a="http://schemas.openxmlformats.org/drawingml/2006/main" noGrp="1"/>
          </p:cNvSpPr>
          <p:nvPr/>
        </p:nvSpPr>
        <p:spPr>
          <a:xfrm xmlns:a="http://schemas.openxmlformats.org/drawingml/2006/main">
            <a:off x="4429125" y="125730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C95"/>
                </a:solidFill>
                <a:latin typeface="Calibri"/>
                <a:ea typeface="Calibri"/>
                <a:cs typeface="Calibri"/>
              </a:defRPr>
            </a:defPPr>
          </a:lstStyle>
          <a:p xmlns:a="http://schemas.openxmlformats.org/drawingml/2006/main">
            <a:pPr>
              <a:defRPr sz="2175" b="1">
                <a:solidFill>
                  <a:srgbClr val="008C95"/>
                </a:solidFill>
                <a:latin typeface="Calibri"/>
                <a:ea typeface="Calibri"/>
                <a:cs typeface="Calibri"/>
              </a:defRPr>
            </a:pPr>
            <a:r>
              <a:rPr sz="2175" b="1">
                <a:solidFill>
                  <a:srgbClr val="008C95"/>
                </a:solidFill>
                <a:latin typeface="Calibri"/>
                <a:ea typeface="Calibri"/>
                <a:cs typeface="Calibri"/>
              </a:rPr>
              <a:t>Trained decision trees</a:t>
            </a:r>
          </a:p>
        </p:txBody>
      </p:sp>
      <p:sp>
        <p:nvSpPr>
          <p:cNvPr id="7" name="">
            <a:extLst xmlns:a="http://schemas.openxmlformats.org/drawingml/2006/main">
              <a:ext uri="{FF2B5EF4-FFF2-40B4-BE49-F238E27FC236}">
                <a16:creationId xmlns:a16="http://schemas.microsoft.com/office/drawing/2014/main" id="{2D60831E-0E02-492E-A958-407EA4DA3ADA}"/>
              </a:ext>
            </a:extLst>
          </p:cNvPr>
          <p:cNvSpPr>
            <a:spLocks xmlns:a="http://schemas.openxmlformats.org/drawingml/2006/main" noGrp="1"/>
          </p:cNvSpPr>
          <p:nvPr/>
        </p:nvSpPr>
        <p:spPr>
          <a:xfrm xmlns:a="http://schemas.openxmlformats.org/drawingml/2006/main">
            <a:off x="8572500" y="12573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C95"/>
                </a:solidFill>
                <a:latin typeface="Calibri"/>
                <a:ea typeface="Calibri"/>
                <a:cs typeface="Calibri"/>
              </a:defRPr>
            </a:defPPr>
          </a:lstStyle>
          <a:p xmlns:a="http://schemas.openxmlformats.org/drawingml/2006/main">
            <a:pPr>
              <a:defRPr sz="2175" b="1">
                <a:solidFill>
                  <a:srgbClr val="008C95"/>
                </a:solidFill>
                <a:latin typeface="Calibri"/>
                <a:ea typeface="Calibri"/>
                <a:cs typeface="Calibri"/>
              </a:defRPr>
            </a:pPr>
            <a:r>
              <a:rPr sz="2175" b="1">
                <a:solidFill>
                  <a:srgbClr val="008C95"/>
                </a:solidFill>
                <a:latin typeface="Calibri"/>
                <a:ea typeface="Calibri"/>
                <a:cs typeface="Calibri"/>
              </a:rPr>
              <a:t>Risk score: 0 to 1</a:t>
            </a:r>
          </a:p>
        </p:txBody>
      </p:sp>
      <p:sp>
        <p:nvSpPr>
          <p:cNvPr id="8" name="">
            <a:extLst xmlns:a="http://schemas.openxmlformats.org/drawingml/2006/main">
              <a:ext uri="{FF2B5EF4-FFF2-40B4-BE49-F238E27FC236}">
                <a16:creationId xmlns:a16="http://schemas.microsoft.com/office/drawing/2014/main" id="{0B086720-88F5-48E3-8F71-3967AC1CC414}"/>
              </a:ext>
            </a:extLst>
          </p:cNvPr>
          <p:cNvSpPr>
            <a:spLocks xmlns:a="http://schemas.openxmlformats.org/drawingml/2006/main" noGrp="1"/>
          </p:cNvSpPr>
          <p:nvPr/>
        </p:nvSpPr>
        <p:spPr>
          <a:xfrm xmlns:a="http://schemas.openxmlformats.org/drawingml/2006/main">
            <a:off x="533400" y="18097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3313D"/>
                </a:solidFill>
                <a:latin typeface="Calibri"/>
                <a:ea typeface="Calibri"/>
                <a:cs typeface="Calibri"/>
              </a:defRPr>
            </a:defPPr>
          </a:lstStyle>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Deployment, use, service</a:t>
            </a:r>
          </a:p>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and commercial context</a:t>
            </a:r>
          </a:p>
        </p:txBody>
      </p:sp>
      <p:sp>
        <p:nvSpPr>
          <p:cNvPr id="9" name="">
            <a:extLst xmlns:a="http://schemas.openxmlformats.org/drawingml/2006/main">
              <a:ext uri="{FF2B5EF4-FFF2-40B4-BE49-F238E27FC236}">
                <a16:creationId xmlns:a16="http://schemas.microsoft.com/office/drawing/2014/main" id="{96B818A5-DE8C-47C6-BC79-4624DFA62DB7}"/>
              </a:ext>
            </a:extLst>
          </p:cNvPr>
          <p:cNvSpPr>
            <a:spLocks xmlns:a="http://schemas.openxmlformats.org/drawingml/2006/main" noGrp="1"/>
          </p:cNvSpPr>
          <p:nvPr/>
        </p:nvSpPr>
        <p:spPr>
          <a:xfrm xmlns:a="http://schemas.openxmlformats.org/drawingml/2006/main">
            <a:off x="4429125" y="1809750"/>
            <a:ext cx="361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3313D"/>
                </a:solidFill>
                <a:latin typeface="Calibri"/>
                <a:ea typeface="Calibri"/>
                <a:cs typeface="Calibri"/>
              </a:defRPr>
            </a:defPPr>
          </a:lstStyle>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Each tree adjusts a starting score.</a:t>
            </a:r>
          </a:p>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The total becomes a 0 to 1 score.</a:t>
            </a:r>
          </a:p>
        </p:txBody>
      </p:sp>
      <p:sp>
        <p:nvSpPr>
          <p:cNvPr id="10" name="">
            <a:extLst xmlns:a="http://schemas.openxmlformats.org/drawingml/2006/main">
              <a:ext uri="{FF2B5EF4-FFF2-40B4-BE49-F238E27FC236}">
                <a16:creationId xmlns:a16="http://schemas.microsoft.com/office/drawing/2014/main" id="{AC0A74BF-D1A8-4286-B557-BD6BD1B09D88}"/>
              </a:ext>
            </a:extLst>
          </p:cNvPr>
          <p:cNvSpPr>
            <a:spLocks xmlns:a="http://schemas.openxmlformats.org/drawingml/2006/main" noGrp="1"/>
          </p:cNvSpPr>
          <p:nvPr/>
        </p:nvSpPr>
        <p:spPr>
          <a:xfrm xmlns:a="http://schemas.openxmlformats.org/drawingml/2006/main">
            <a:off x="8572500" y="18097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3313D"/>
                </a:solidFill>
                <a:latin typeface="Calibri"/>
                <a:ea typeface="Calibri"/>
                <a:cs typeface="Calibri"/>
              </a:defRPr>
            </a:defPPr>
          </a:lstStyle>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A relative ranking signal</a:t>
            </a:r>
          </a:p>
        </p:txBody>
      </p:sp>
      <p:sp>
        <p:nvSpPr>
          <p:cNvPr id="11" name="">
            <a:extLst xmlns:a="http://schemas.openxmlformats.org/drawingml/2006/main">
              <a:ext uri="{FF2B5EF4-FFF2-40B4-BE49-F238E27FC236}">
                <a16:creationId xmlns:a16="http://schemas.microsoft.com/office/drawing/2014/main" id="{7D2662A4-CFCE-48A3-A76C-BD87721170C7}"/>
              </a:ext>
            </a:extLst>
          </p:cNvPr>
          <p:cNvSpPr>
            <a:spLocks xmlns:a="http://schemas.openxmlformats.org/drawingml/2006/main" noGrp="1"/>
          </p:cNvSpPr>
          <p:nvPr/>
        </p:nvSpPr>
        <p:spPr>
          <a:xfrm xmlns:a="http://schemas.openxmlformats.org/drawingml/2006/main">
            <a:off x="533400" y="29051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FF5A1F"/>
                </a:solidFill>
                <a:latin typeface="Calibri"/>
                <a:ea typeface="Calibri"/>
                <a:cs typeface="Calibri"/>
              </a:defRPr>
            </a:defPPr>
          </a:lstStyle>
          <a:p xmlns:a="http://schemas.openxmlformats.org/drawingml/2006/main">
            <a:pPr>
              <a:defRPr sz="2250" b="1">
                <a:solidFill>
                  <a:srgbClr val="FF5A1F"/>
                </a:solidFill>
                <a:latin typeface="Calibri"/>
                <a:ea typeface="Calibri"/>
                <a:cs typeface="Calibri"/>
              </a:defRPr>
            </a:pPr>
            <a:r>
              <a:rPr sz="2250" b="1">
                <a:solidFill>
                  <a:srgbClr val="FF5A1F"/>
                </a:solidFill>
                <a:latin typeface="Calibri"/>
                <a:ea typeface="Calibri"/>
                <a:cs typeface="Calibri"/>
              </a:rPr>
              <a:t>Priority index = model risk score × annual contract value (ACV)</a:t>
            </a:r>
          </a:p>
        </p:txBody>
      </p:sp>
      <p:graphicFrame>
        <p:nvGraphicFramePr>
          <p:cNvPr id="12" name="">
            <a:extLst xmlns:a="http://schemas.openxmlformats.org/drawingml/2006/main">
              <a:ext uri="{FF2B5EF4-FFF2-40B4-BE49-F238E27FC236}">
                <a16:creationId xmlns:a16="http://schemas.microsoft.com/office/drawing/2014/main" id="{CBAEA558-F2B0-47CF-A8EB-4A61EFAFE743}"/>
              </a:ext>
            </a:extLst>
          </p:cNvPr>
          <p:cNvGraphicFramePr/>
          <p:nvPr/>
        </p:nvGraphicFramePr>
        <p:xfrm>
          <a:off xmlns:a="http://schemas.openxmlformats.org/drawingml/2006/main" x="533400" y="3857625"/>
          <a:ext xmlns:a="http://schemas.openxmlformats.org/drawingml/2006/main" cx="11125200" cy="1476375"/>
        </p:xfrm>
        <a:graphic xmlns:a="http://schemas.openxmlformats.org/drawingml/2006/main">
          <a:graphicData uri="http://schemas.openxmlformats.org/drawingml/2006/table">
            <a:tbl>
              <a:tblPr/>
              <a:tblGrid>
                <a:gridCol w="4191000"/>
                <a:gridCol w="2095500"/>
                <a:gridCol w="2381250"/>
                <a:gridCol w="2457450"/>
              </a:tblGrid>
              <a:tr h="492125">
                <a:tc>
                  <a:txBody>
                    <a:bodyPr/>
                    <a:lstStyle/>
                    <a:p>
                      <a:r>
                        <a:rPr sz="1725" b="1">
                          <a:solidFill>
                            <a:srgbClr val="FFFFFF"/>
                          </a:solidFill>
                          <a:latin typeface="Calibri"/>
                          <a:ea typeface="Calibri"/>
                          <a:cs typeface="Calibri"/>
                        </a:rPr>
                        <a:t>Illustrative contract</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Model score</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Annual value</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Priority index</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492125">
                <a:tc>
                  <a:txBody>
                    <a:bodyPr/>
                    <a:lstStyle/>
                    <a:p>
                      <a:r>
                        <a:rPr sz="1725">
                          <a:solidFill>
                            <a:srgbClr val="23313D"/>
                          </a:solidFill>
                          <a:latin typeface="Calibri"/>
                          <a:ea typeface="Calibri"/>
                          <a:cs typeface="Calibri"/>
                        </a:rPr>
                        <a:t>A: higher modeled risk</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0.40</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$50,000</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20,000</a:t>
                      </a:r>
                    </a:p>
                  </a:txBody>
                  <a:tcPr marL="114300" marR="114300" marT="76200" marB="76200">
                    <a:lnR w="5715">
                      <a:solidFill>
                        <a:srgbClr val="D3DCE2"/>
                      </a:solidFill>
                      <a:prstDash val="solid"/>
                    </a:lnR>
                    <a:lnB w="5715">
                      <a:solidFill>
                        <a:srgbClr val="D3DCE2"/>
                      </a:solidFill>
                      <a:prstDash val="solid"/>
                    </a:lnB>
                    <a:solidFill>
                      <a:srgbClr val="FFFFFF"/>
                    </a:solidFill>
                  </a:tcPr>
                </a:tc>
              </a:tr>
              <a:tr h="492125">
                <a:tc>
                  <a:txBody>
                    <a:bodyPr/>
                    <a:lstStyle/>
                    <a:p>
                      <a:r>
                        <a:rPr sz="1725">
                          <a:solidFill>
                            <a:srgbClr val="23313D"/>
                          </a:solidFill>
                          <a:latin typeface="Calibri"/>
                          <a:ea typeface="Calibri"/>
                          <a:cs typeface="Calibri"/>
                        </a:rPr>
                        <a:t>B: higher financial exposure</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0.20</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$200,000</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40,000</a:t>
                      </a:r>
                    </a:p>
                  </a:txBody>
                  <a:tcPr marL="114300" marR="114300" marT="76200" marB="76200">
                    <a:lnR w="5715">
                      <a:solidFill>
                        <a:srgbClr val="D3DCE2"/>
                      </a:solidFill>
                      <a:prstDash val="solid"/>
                    </a:lnR>
                    <a:lnB w="5715">
                      <a:solidFill>
                        <a:srgbClr val="D3DCE2"/>
                      </a:solidFill>
                      <a:prstDash val="solid"/>
                    </a:lnB>
                    <a:solidFill>
                      <a:srgbClr val="F1F4F6"/>
                    </a:solidFill>
                  </a:tcPr>
                </a:tc>
              </a:tr>
            </a:tbl>
          </a:graphicData>
        </a:graphic>
      </p:graphicFrame>
      <p:sp>
        <p:nvSpPr>
          <p:cNvPr id="13" name="">
            <a:extLst xmlns:a="http://schemas.openxmlformats.org/drawingml/2006/main">
              <a:ext uri="{FF2B5EF4-FFF2-40B4-BE49-F238E27FC236}">
                <a16:creationId xmlns:a16="http://schemas.microsoft.com/office/drawing/2014/main" id="{0DBB3C1A-E09B-4A55-AE30-5BDF7C847902}"/>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Example numbers are illustrative. Scores are uncalibrated, so the index is a ranking tool rather than expected dollars lost.</a:t>
            </a:r>
          </a:p>
        </p:txBody>
      </p:sp>
    </p:spTree>
    <p:extLst>
      <p:ext uri="{BB962C8B-B14F-4D97-AF65-F5344CB8AC3E}">
        <p14:creationId xmlns:p14="http://schemas.microsoft.com/office/powerpoint/2010/main" val="51271482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9E337FC-E451-4437-A2AD-D0CC48A5946F}"/>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CA3F49-13AB-42E5-9D95-7B041F594C60}"/>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E359AE-702C-486E-AA6A-FCC955223F4A}"/>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Renewals for the April customer review</a:t>
            </a:r>
          </a:p>
        </p:txBody>
      </p:sp>
      <p:sp>
        <p:nvSpPr>
          <p:cNvPr id="4" name="">
            <a:extLst xmlns:a="http://schemas.openxmlformats.org/drawingml/2006/main">
              <a:ext uri="{FF2B5EF4-FFF2-40B4-BE49-F238E27FC236}">
                <a16:creationId xmlns:a16="http://schemas.microsoft.com/office/drawing/2014/main" id="{8EC9C7D5-4DF3-4A0A-BC3F-E77CAE31DE97}"/>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17</a:t>
            </a:r>
          </a:p>
        </p:txBody>
      </p:sp>
      <p:sp>
        <p:nvSpPr>
          <p:cNvPr id="5" name="">
            <a:extLst xmlns:a="http://schemas.openxmlformats.org/drawingml/2006/main">
              <a:ext uri="{FF2B5EF4-FFF2-40B4-BE49-F238E27FC236}">
                <a16:creationId xmlns:a16="http://schemas.microsoft.com/office/drawing/2014/main" id="{8465A914-3622-4A8B-AE34-6ABC26803E18}"/>
              </a:ext>
            </a:extLst>
          </p:cNvPr>
          <p:cNvSpPr>
            <a:spLocks xmlns:a="http://schemas.openxmlformats.org/drawingml/2006/main" noGrp="1"/>
          </p:cNvSpPr>
          <p:nvPr/>
        </p:nvSpPr>
        <p:spPr>
          <a:xfrm xmlns:a="http://schemas.openxmlformats.org/drawingml/2006/main">
            <a:off x="533400" y="13811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Review date</a:t>
            </a:r>
          </a:p>
        </p:txBody>
      </p:sp>
      <p:sp>
        <p:nvSpPr>
          <p:cNvPr id="6" name="">
            <a:extLst xmlns:a="http://schemas.openxmlformats.org/drawingml/2006/main">
              <a:ext uri="{FF2B5EF4-FFF2-40B4-BE49-F238E27FC236}">
                <a16:creationId xmlns:a16="http://schemas.microsoft.com/office/drawing/2014/main" id="{2A43FCA5-A45E-4DAE-A4A1-13770E489B87}"/>
              </a:ext>
            </a:extLst>
          </p:cNvPr>
          <p:cNvSpPr>
            <a:spLocks xmlns:a="http://schemas.openxmlformats.org/drawingml/2006/main" noGrp="1"/>
          </p:cNvSpPr>
          <p:nvPr/>
        </p:nvSpPr>
        <p:spPr>
          <a:xfrm xmlns:a="http://schemas.openxmlformats.org/drawingml/2006/main">
            <a:off x="533400" y="1952625"/>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23313D"/>
                </a:solidFill>
                <a:latin typeface="Calibri"/>
                <a:ea typeface="Calibri"/>
                <a:cs typeface="Calibri"/>
              </a:defRPr>
            </a:defPPr>
          </a:lstStyle>
          <a:p xmlns:a="http://schemas.openxmlformats.org/drawingml/2006/main">
            <a:pPr>
              <a:defRPr sz="2925" b="1">
                <a:solidFill>
                  <a:srgbClr val="23313D"/>
                </a:solidFill>
                <a:latin typeface="Calibri"/>
                <a:ea typeface="Calibri"/>
                <a:cs typeface="Calibri"/>
              </a:defRPr>
            </a:pPr>
            <a:r>
              <a:rPr sz="2925" b="1">
                <a:solidFill>
                  <a:srgbClr val="23313D"/>
                </a:solidFill>
                <a:latin typeface="Calibri"/>
                <a:ea typeface="Calibri"/>
                <a:cs typeface="Calibri"/>
              </a:rPr>
              <a:t>1 April 2026</a:t>
            </a:r>
          </a:p>
        </p:txBody>
      </p:sp>
      <p:sp>
        <p:nvSpPr>
          <p:cNvPr id="7" name="">
            <a:extLst xmlns:a="http://schemas.openxmlformats.org/drawingml/2006/main">
              <a:ext uri="{FF2B5EF4-FFF2-40B4-BE49-F238E27FC236}">
                <a16:creationId xmlns:a16="http://schemas.microsoft.com/office/drawing/2014/main" id="{7C0E3214-1FE9-4A44-8151-30A16CAC2121}"/>
              </a:ext>
            </a:extLst>
          </p:cNvPr>
          <p:cNvSpPr>
            <a:spLocks xmlns:a="http://schemas.openxmlformats.org/drawingml/2006/main" noGrp="1"/>
          </p:cNvSpPr>
          <p:nvPr/>
        </p:nvSpPr>
        <p:spPr>
          <a:xfrm xmlns:a="http://schemas.openxmlformats.org/drawingml/2006/main">
            <a:off x="6429375" y="13811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Expiry window</a:t>
            </a:r>
          </a:p>
        </p:txBody>
      </p:sp>
      <p:sp>
        <p:nvSpPr>
          <p:cNvPr id="8" name="">
            <a:extLst xmlns:a="http://schemas.openxmlformats.org/drawingml/2006/main">
              <a:ext uri="{FF2B5EF4-FFF2-40B4-BE49-F238E27FC236}">
                <a16:creationId xmlns:a16="http://schemas.microsoft.com/office/drawing/2014/main" id="{46178B54-00EE-46F0-9E24-BF82502F0915}"/>
              </a:ext>
            </a:extLst>
          </p:cNvPr>
          <p:cNvSpPr>
            <a:spLocks xmlns:a="http://schemas.openxmlformats.org/drawingml/2006/main" noGrp="1"/>
          </p:cNvSpPr>
          <p:nvPr/>
        </p:nvSpPr>
        <p:spPr>
          <a:xfrm xmlns:a="http://schemas.openxmlformats.org/drawingml/2006/main">
            <a:off x="6429375" y="1952625"/>
            <a:ext cx="5095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23313D"/>
                </a:solidFill>
                <a:latin typeface="Calibri"/>
                <a:ea typeface="Calibri"/>
                <a:cs typeface="Calibri"/>
              </a:defRPr>
            </a:defPPr>
          </a:lstStyle>
          <a:p xmlns:a="http://schemas.openxmlformats.org/drawingml/2006/main">
            <a:pPr>
              <a:defRPr sz="2625" b="1">
                <a:solidFill>
                  <a:srgbClr val="23313D"/>
                </a:solidFill>
                <a:latin typeface="Calibri"/>
                <a:ea typeface="Calibri"/>
                <a:cs typeface="Calibri"/>
              </a:defRPr>
            </a:pPr>
            <a:r>
              <a:rPr sz="2625" b="1">
                <a:solidFill>
                  <a:srgbClr val="23313D"/>
                </a:solidFill>
                <a:latin typeface="Calibri"/>
                <a:ea typeface="Calibri"/>
                <a:cs typeface="Calibri"/>
              </a:rPr>
              <a:t>2 April to 30 June 2026</a:t>
            </a:r>
          </a:p>
        </p:txBody>
      </p:sp>
      <p:sp>
        <p:nvSpPr>
          <p:cNvPr id="9" name="">
            <a:extLst xmlns:a="http://schemas.openxmlformats.org/drawingml/2006/main">
              <a:ext uri="{FF2B5EF4-FFF2-40B4-BE49-F238E27FC236}">
                <a16:creationId xmlns:a16="http://schemas.microsoft.com/office/drawing/2014/main" id="{6F20D16D-FAFE-4D93-BB99-D4E82F082C1E}"/>
              </a:ext>
            </a:extLst>
          </p:cNvPr>
          <p:cNvSpPr>
            <a:spLocks xmlns:a="http://schemas.openxmlformats.org/drawingml/2006/main" noGrp="1"/>
          </p:cNvSpPr>
          <p:nvPr/>
        </p:nvSpPr>
        <p:spPr>
          <a:xfrm xmlns:a="http://schemas.openxmlformats.org/drawingml/2006/main">
            <a:off x="533400" y="32861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FF5A1F"/>
                </a:solidFill>
                <a:latin typeface="Calibri"/>
                <a:ea typeface="Calibri"/>
                <a:cs typeface="Calibri"/>
              </a:defRPr>
            </a:defPPr>
          </a:lstStyle>
          <a:p xmlns:a="http://schemas.openxmlformats.org/drawingml/2006/main">
            <a:pPr>
              <a:defRPr sz="2925" b="1">
                <a:solidFill>
                  <a:srgbClr val="FF5A1F"/>
                </a:solidFill>
                <a:latin typeface="Calibri"/>
                <a:ea typeface="Calibri"/>
                <a:cs typeface="Calibri"/>
              </a:defRPr>
            </a:pPr>
            <a:r>
              <a:rPr sz="2925" b="1">
                <a:solidFill>
                  <a:srgbClr val="FF5A1F"/>
                </a:solidFill>
                <a:latin typeface="Calibri"/>
                <a:ea typeface="Calibri"/>
                <a:cs typeface="Calibri"/>
              </a:rPr>
              <a:t>1,540 subscription contracts</a:t>
            </a:r>
          </a:p>
        </p:txBody>
      </p:sp>
      <p:sp>
        <p:nvSpPr>
          <p:cNvPr id="10" name="">
            <a:extLst xmlns:a="http://schemas.openxmlformats.org/drawingml/2006/main">
              <a:ext uri="{FF2B5EF4-FFF2-40B4-BE49-F238E27FC236}">
                <a16:creationId xmlns:a16="http://schemas.microsoft.com/office/drawing/2014/main" id="{7F32B51B-AAE3-43D2-A6A9-104F5F4FA355}"/>
              </a:ext>
            </a:extLst>
          </p:cNvPr>
          <p:cNvSpPr>
            <a:spLocks xmlns:a="http://schemas.openxmlformats.org/drawingml/2006/main" noGrp="1"/>
          </p:cNvSpPr>
          <p:nvPr/>
        </p:nvSpPr>
        <p:spPr>
          <a:xfrm xmlns:a="http://schemas.openxmlformats.org/drawingml/2006/main">
            <a:off x="533400" y="40481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3313D"/>
                </a:solidFill>
                <a:latin typeface="Calibri"/>
                <a:ea typeface="Calibri"/>
                <a:cs typeface="Calibri"/>
              </a:defRPr>
            </a:defPPr>
          </a:lstStyle>
          <a:p xmlns:a="http://schemas.openxmlformats.org/drawingml/2006/main">
            <a:pPr>
              <a:defRPr sz="2250" b="1">
                <a:solidFill>
                  <a:srgbClr val="23313D"/>
                </a:solidFill>
                <a:latin typeface="Calibri"/>
                <a:ea typeface="Calibri"/>
                <a:cs typeface="Calibri"/>
              </a:defRPr>
            </a:pPr>
            <a:r>
              <a:rPr sz="2250" b="1">
                <a:solidFill>
                  <a:srgbClr val="23313D"/>
                </a:solidFill>
                <a:latin typeface="Calibri"/>
                <a:ea typeface="Calibri"/>
                <a:cs typeface="Calibri"/>
              </a:rPr>
              <a:t>Across 1,237 purchasing accounts</a:t>
            </a:r>
          </a:p>
        </p:txBody>
      </p:sp>
      <p:sp>
        <p:nvSpPr>
          <p:cNvPr id="11" name="">
            <a:extLst xmlns:a="http://schemas.openxmlformats.org/drawingml/2006/main">
              <a:ext uri="{FF2B5EF4-FFF2-40B4-BE49-F238E27FC236}">
                <a16:creationId xmlns:a16="http://schemas.microsoft.com/office/drawing/2014/main" id="{45A96695-1DD2-4AF2-9F75-6F585E89AEBD}"/>
              </a:ext>
            </a:extLst>
          </p:cNvPr>
          <p:cNvSpPr>
            <a:spLocks xmlns:a="http://schemas.openxmlformats.org/drawingml/2006/main" noGrp="1"/>
          </p:cNvSpPr>
          <p:nvPr/>
        </p:nvSpPr>
        <p:spPr>
          <a:xfrm xmlns:a="http://schemas.openxmlformats.org/drawingml/2006/main">
            <a:off x="533400" y="509587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3313D"/>
                </a:solidFill>
                <a:latin typeface="Calibri"/>
                <a:ea typeface="Calibri"/>
                <a:cs typeface="Calibri"/>
              </a:defRPr>
            </a:defPPr>
          </a:lstStyle>
          <a:p xmlns:a="http://schemas.openxmlformats.org/drawingml/2006/main">
            <a:pPr>
              <a:defRPr sz="1950" b="0">
                <a:solidFill>
                  <a:srgbClr val="23313D"/>
                </a:solidFill>
                <a:latin typeface="Calibri"/>
                <a:ea typeface="Calibri"/>
                <a:cs typeface="Calibri"/>
              </a:defRPr>
            </a:pPr>
            <a:r>
              <a:rPr sz="1950" b="0">
                <a:solidFill>
                  <a:srgbClr val="23313D"/>
                </a:solidFill>
                <a:latin typeface="Calibri"/>
                <a:ea typeface="Calibri"/>
                <a:cs typeface="Calibri"/>
              </a:rPr>
              <a:t>Before contact: confirm recent outreach, measurement quality, open escalations and renewal urgency.</a:t>
            </a:r>
          </a:p>
        </p:txBody>
      </p:sp>
      <p:sp>
        <p:nvSpPr>
          <p:cNvPr id="12" name="">
            <a:extLst xmlns:a="http://schemas.openxmlformats.org/drawingml/2006/main">
              <a:ext uri="{FF2B5EF4-FFF2-40B4-BE49-F238E27FC236}">
                <a16:creationId xmlns:a16="http://schemas.microsoft.com/office/drawing/2014/main" id="{3A4F637B-40EC-46DD-9331-FC2E39285CA8}"/>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All accounts are assumed directly managed. Stored scores can be up to 89 days old when the April review begins.</a:t>
            </a:r>
          </a:p>
        </p:txBody>
      </p:sp>
    </p:spTree>
    <p:extLst>
      <p:ext uri="{BB962C8B-B14F-4D97-AF65-F5344CB8AC3E}">
        <p14:creationId xmlns:p14="http://schemas.microsoft.com/office/powerpoint/2010/main" val="8017724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29C2E9-B9F3-47A2-9A97-A5A3099C5D6A}"/>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636412-2D10-469B-9D6A-6C77FCCFC101}"/>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B83DF7-5338-4F5A-82AD-328A829C889C}"/>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The model finds more cancellations in 30 reviews</a:t>
            </a:r>
          </a:p>
        </p:txBody>
      </p:sp>
      <p:sp>
        <p:nvSpPr>
          <p:cNvPr id="4" name="">
            <a:extLst xmlns:a="http://schemas.openxmlformats.org/drawingml/2006/main">
              <a:ext uri="{FF2B5EF4-FFF2-40B4-BE49-F238E27FC236}">
                <a16:creationId xmlns:a16="http://schemas.microsoft.com/office/drawing/2014/main" id="{07813EAC-2CEA-4D8C-8310-C5FD4AF163F3}"/>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18</a:t>
            </a:r>
          </a:p>
        </p:txBody>
      </p:sp>
      <p:graphicFrame>
        <p:nvGraphicFramePr>
          <p:cNvPr id="5" name="">
            <a:extLst xmlns:a="http://schemas.openxmlformats.org/drawingml/2006/main">
              <a:ext uri="{FF2B5EF4-FFF2-40B4-BE49-F238E27FC236}">
                <a16:creationId xmlns:a16="http://schemas.microsoft.com/office/drawing/2014/main" id="{ABCFB310-B6E5-443F-AC7A-085E5617BE0C}"/>
              </a:ext>
            </a:extLst>
          </p:cNvPr>
          <p:cNvGraphicFramePr/>
          <p:nvPr/>
        </p:nvGraphicFramePr>
        <p:xfrm>
          <a:off xmlns:a="http://schemas.openxmlformats.org/drawingml/2006/main" x="533400" y="1428750"/>
          <a:ext xmlns:a="http://schemas.openxmlformats.org/drawingml/2006/main" cx="11125200" cy="2952750"/>
        </p:xfrm>
        <a:graphic xmlns:a="http://schemas.openxmlformats.org/drawingml/2006/main">
          <a:graphicData uri="http://schemas.openxmlformats.org/drawingml/2006/table">
            <a:tbl>
              <a:tblPr/>
              <a:tblGrid>
                <a:gridCol w="3524250"/>
                <a:gridCol w="2190750"/>
                <a:gridCol w="1714500"/>
                <a:gridCol w="3695700"/>
              </a:tblGrid>
              <a:tr h="590550">
                <a:tc>
                  <a:txBody>
                    <a:bodyPr/>
                    <a:lstStyle/>
                    <a:p>
                      <a:r>
                        <a:rPr sz="1800" b="1">
                          <a:solidFill>
                            <a:srgbClr val="FFFFFF"/>
                          </a:solidFill>
                          <a:latin typeface="Calibri"/>
                          <a:ea typeface="Calibri"/>
                          <a:cs typeface="Calibri"/>
                        </a:rPr>
                        <a:t>Ranking method</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800" b="1">
                          <a:solidFill>
                            <a:srgbClr val="FFFFFF"/>
                          </a:solidFill>
                          <a:latin typeface="Calibri"/>
                          <a:ea typeface="Calibri"/>
                          <a:cs typeface="Calibri"/>
                        </a:rPr>
                        <a:t>Cancelled leads</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800" b="1">
                          <a:solidFill>
                            <a:srgbClr val="FFFFFF"/>
                          </a:solidFill>
                          <a:latin typeface="Calibri"/>
                          <a:ea typeface="Calibri"/>
                          <a:cs typeface="Calibri"/>
                        </a:rPr>
                        <a:t>Precision</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800" b="1">
                          <a:solidFill>
                            <a:srgbClr val="FFFFFF"/>
                          </a:solidFill>
                          <a:latin typeface="Calibri"/>
                          <a:ea typeface="Calibri"/>
                          <a:cs typeface="Calibri"/>
                        </a:rPr>
                        <a:t>Cancelled value captured</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590550">
                <a:tc>
                  <a:txBody>
                    <a:bodyPr/>
                    <a:lstStyle/>
                    <a:p>
                      <a:r>
                        <a:rPr sz="1800">
                          <a:solidFill>
                            <a:srgbClr val="23313D"/>
                          </a:solidFill>
                          <a:latin typeface="Calibri"/>
                          <a:ea typeface="Calibri"/>
                          <a:cs typeface="Calibri"/>
                        </a:rPr>
                        <a:t>Customer-health rules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3 / 30</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10.0%</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8.0%</a:t>
                      </a:r>
                    </a:p>
                  </a:txBody>
                  <a:tcPr marL="114300" marR="114300" marT="76200" marB="76200">
                    <a:lnR w="5715">
                      <a:solidFill>
                        <a:srgbClr val="D3DCE2"/>
                      </a:solidFill>
                      <a:prstDash val="solid"/>
                    </a:lnR>
                    <a:lnB w="5715">
                      <a:solidFill>
                        <a:srgbClr val="D3DCE2"/>
                      </a:solidFill>
                      <a:prstDash val="solid"/>
                    </a:lnB>
                    <a:solidFill>
                      <a:srgbClr val="FFFFFF"/>
                    </a:solidFill>
                  </a:tcPr>
                </a:tc>
              </a:tr>
              <a:tr h="590550">
                <a:tc>
                  <a:txBody>
                    <a:bodyPr/>
                    <a:lstStyle/>
                    <a:p>
                      <a:r>
                        <a:rPr sz="1800">
                          <a:solidFill>
                            <a:srgbClr val="23313D"/>
                          </a:solidFill>
                          <a:latin typeface="Calibri"/>
                          <a:ea typeface="Calibri"/>
                          <a:cs typeface="Calibri"/>
                        </a:rPr>
                        <a:t>Model risk score</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13 / 30</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43.3%</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7.3%</a:t>
                      </a:r>
                    </a:p>
                  </a:txBody>
                  <a:tcPr marL="114300" marR="114300" marT="76200" marB="76200">
                    <a:lnR w="5715">
                      <a:solidFill>
                        <a:srgbClr val="D3DCE2"/>
                      </a:solidFill>
                      <a:prstDash val="solid"/>
                    </a:lnR>
                    <a:lnB w="5715">
                      <a:solidFill>
                        <a:srgbClr val="D3DCE2"/>
                      </a:solidFill>
                      <a:prstDash val="solid"/>
                    </a:lnB>
                    <a:solidFill>
                      <a:srgbClr val="F1F4F6"/>
                    </a:solidFill>
                  </a:tcPr>
                </a:tc>
              </a:tr>
              <a:tr h="590550">
                <a:tc>
                  <a:txBody>
                    <a:bodyPr/>
                    <a:lstStyle/>
                    <a:p>
                      <a:r>
                        <a:rPr sz="1800">
                          <a:solidFill>
                            <a:srgbClr val="23313D"/>
                          </a:solidFill>
                          <a:latin typeface="Calibri"/>
                          <a:ea typeface="Calibri"/>
                          <a:cs typeface="Calibri"/>
                        </a:rPr>
                        <a:t>Model score × ACV</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11 / 30</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36.7%</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34.1%</a:t>
                      </a:r>
                    </a:p>
                  </a:txBody>
                  <a:tcPr marL="114300" marR="114300" marT="76200" marB="76200">
                    <a:lnR w="5715">
                      <a:solidFill>
                        <a:srgbClr val="D3DCE2"/>
                      </a:solidFill>
                      <a:prstDash val="solid"/>
                    </a:lnR>
                    <a:lnB w="5715">
                      <a:solidFill>
                        <a:srgbClr val="D3DCE2"/>
                      </a:solidFill>
                      <a:prstDash val="solid"/>
                    </a:lnB>
                    <a:solidFill>
                      <a:srgbClr val="FFFFFF"/>
                    </a:solidFill>
                  </a:tcPr>
                </a:tc>
              </a:tr>
              <a:tr h="590550">
                <a:tc>
                  <a:txBody>
                    <a:bodyPr/>
                    <a:lstStyle/>
                    <a:p>
                      <a:r>
                        <a:rPr sz="1800">
                          <a:solidFill>
                            <a:srgbClr val="23313D"/>
                          </a:solidFill>
                          <a:latin typeface="Calibri"/>
                          <a:ea typeface="Calibri"/>
                          <a:cs typeface="Calibri"/>
                        </a:rPr>
                        <a:t>Annual contract value only</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0 / 30</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0.0%</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0.0%</a:t>
                      </a:r>
                    </a:p>
                  </a:txBody>
                  <a:tcPr marL="114300" marR="114300" marT="76200" marB="76200">
                    <a:lnR w="5715">
                      <a:solidFill>
                        <a:srgbClr val="D3DCE2"/>
                      </a:solidFill>
                      <a:prstDash val="solid"/>
                    </a:lnR>
                    <a:lnB w="5715">
                      <a:solidFill>
                        <a:srgbClr val="D3DCE2"/>
                      </a:solidFill>
                      <a:prstDash val="solid"/>
                    </a:lnB>
                    <a:solidFill>
                      <a:srgbClr val="F1F4F6"/>
                    </a:solidFill>
                  </a:tcPr>
                </a:tc>
              </a:tr>
            </a:tbl>
          </a:graphicData>
        </a:graphic>
      </p:graphicFrame>
      <p:sp>
        <p:nvSpPr>
          <p:cNvPr id="6" name="">
            <a:extLst xmlns:a="http://schemas.openxmlformats.org/drawingml/2006/main">
              <a:ext uri="{FF2B5EF4-FFF2-40B4-BE49-F238E27FC236}">
                <a16:creationId xmlns:a16="http://schemas.microsoft.com/office/drawing/2014/main" id="{505F4999-138F-45C5-9D28-204EF2E0949D}"/>
              </a:ext>
            </a:extLst>
          </p:cNvPr>
          <p:cNvSpPr>
            <a:spLocks xmlns:a="http://schemas.openxmlformats.org/drawingml/2006/main" noGrp="1"/>
          </p:cNvSpPr>
          <p:nvPr/>
        </p:nvSpPr>
        <p:spPr>
          <a:xfrm xmlns:a="http://schemas.openxmlformats.org/drawingml/2006/main">
            <a:off x="533400" y="47625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C95"/>
                </a:solidFill>
                <a:latin typeface="Calibri"/>
                <a:ea typeface="Calibri"/>
                <a:cs typeface="Calibri"/>
              </a:defRPr>
            </a:defPPr>
          </a:lstStyle>
          <a:p xmlns:a="http://schemas.openxmlformats.org/drawingml/2006/main">
            <a:pPr>
              <a:defRPr sz="2100" b="1">
                <a:solidFill>
                  <a:srgbClr val="008C95"/>
                </a:solidFill>
                <a:latin typeface="Calibri"/>
                <a:ea typeface="Calibri"/>
                <a:cs typeface="Calibri"/>
              </a:defRPr>
            </a:pPr>
            <a:r>
              <a:rPr sz="2100" b="1">
                <a:solidFill>
                  <a:srgbClr val="008C95"/>
                </a:solidFill>
                <a:latin typeface="Calibri"/>
                <a:ea typeface="Calibri"/>
                <a:cs typeface="Calibri"/>
              </a:rPr>
              <a:t>Model score finds more cancellations. Score × ACV prioritizes financial exposure.</a:t>
            </a:r>
          </a:p>
        </p:txBody>
      </p:sp>
      <p:sp>
        <p:nvSpPr>
          <p:cNvPr id="7" name="">
            <a:extLst xmlns:a="http://schemas.openxmlformats.org/drawingml/2006/main">
              <a:ext uri="{FF2B5EF4-FFF2-40B4-BE49-F238E27FC236}">
                <a16:creationId xmlns:a16="http://schemas.microsoft.com/office/drawing/2014/main" id="{D8149EFB-605C-4E2F-8DDB-F3A8CF446C5C}"/>
              </a:ext>
            </a:extLst>
          </p:cNvPr>
          <p:cNvSpPr>
            <a:spLocks xmlns:a="http://schemas.openxmlformats.org/drawingml/2006/main" noGrp="1"/>
          </p:cNvSpPr>
          <p:nvPr/>
        </p:nvSpPr>
        <p:spPr>
          <a:xfrm xmlns:a="http://schemas.openxmlformats.org/drawingml/2006/main">
            <a:off x="533400" y="561975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271"/>
                </a:solidFill>
                <a:latin typeface="Calibri"/>
                <a:ea typeface="Calibri"/>
                <a:cs typeface="Calibri"/>
              </a:defRPr>
            </a:defPPr>
          </a:lstStyle>
          <a:p xmlns:a="http://schemas.openxmlformats.org/drawingml/2006/main">
            <a:pPr>
              <a:defRPr sz="1725" b="0">
                <a:solidFill>
                  <a:srgbClr val="526271"/>
                </a:solidFill>
                <a:latin typeface="Calibri"/>
                <a:ea typeface="Calibri"/>
                <a:cs typeface="Calibri"/>
              </a:defRPr>
            </a:pPr>
            <a:r>
              <a:rPr sz="1725" b="0">
                <a:solidFill>
                  <a:srgbClr val="526271"/>
                </a:solidFill>
                <a:latin typeface="Calibri"/>
                <a:ea typeface="Calibri"/>
                <a:cs typeface="Calibri"/>
              </a:rPr>
              <a:t>Model minus rules: +33.3 percentage points.</a:t>
            </a:r>
          </a:p>
          <a:p xmlns:a="http://schemas.openxmlformats.org/drawingml/2006/main">
            <a:pPr>
              <a:defRPr sz="1725" b="0">
                <a:solidFill>
                  <a:srgbClr val="526271"/>
                </a:solidFill>
                <a:latin typeface="Calibri"/>
                <a:ea typeface="Calibri"/>
                <a:cs typeface="Calibri"/>
              </a:defRPr>
            </a:pPr>
            <a:r>
              <a:rPr sz="1725" b="0">
                <a:solidFill>
                  <a:srgbClr val="526271"/>
                </a:solidFill>
                <a:latin typeface="Calibri"/>
                <a:ea typeface="Calibri"/>
                <a:cs typeface="Calibri"/>
              </a:rPr>
              <a:t>Paired 90% interval: +16.7 to +53.3 points.</a:t>
            </a:r>
          </a:p>
        </p:txBody>
      </p:sp>
      <p:sp>
        <p:nvSpPr>
          <p:cNvPr id="8" name="">
            <a:extLst xmlns:a="http://schemas.openxmlformats.org/drawingml/2006/main">
              <a:ext uri="{FF2B5EF4-FFF2-40B4-BE49-F238E27FC236}">
                <a16:creationId xmlns:a16="http://schemas.microsoft.com/office/drawing/2014/main" id="{ADDB707E-DB9B-4FE4-B592-31B16868391A}"/>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Historical outcomes on synthetic histories. Cancelled value captured does not mean revenue saved.</a:t>
            </a:r>
          </a:p>
        </p:txBody>
      </p:sp>
    </p:spTree>
    <p:extLst>
      <p:ext uri="{BB962C8B-B14F-4D97-AF65-F5344CB8AC3E}">
        <p14:creationId xmlns:p14="http://schemas.microsoft.com/office/powerpoint/2010/main" val="8147253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431391D-31EA-4D49-A9A1-8EF187D9A581}"/>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D3DF9C-C5C8-413B-B9C1-34156CC2A030}"/>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B6F504-FB02-4A6E-A9EE-643CA7037357}"/>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The advantage repeats in fresh synthetic populations</a:t>
            </a:r>
          </a:p>
        </p:txBody>
      </p:sp>
      <p:sp>
        <p:nvSpPr>
          <p:cNvPr id="4" name="">
            <a:extLst xmlns:a="http://schemas.openxmlformats.org/drawingml/2006/main">
              <a:ext uri="{FF2B5EF4-FFF2-40B4-BE49-F238E27FC236}">
                <a16:creationId xmlns:a16="http://schemas.microsoft.com/office/drawing/2014/main" id="{7B5BD55A-15A5-4356-BB2C-A7314477AE3F}"/>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19</a:t>
            </a:r>
          </a:p>
        </p:txBody>
      </p:sp>
      <p:graphicFrame>
        <p:nvGraphicFramePr>
          <p:cNvPr id="5" name="Chart">
            <a:extLst xmlns:a="http://schemas.openxmlformats.org/drawingml/2006/main">
              <a:ext uri="{FF2B5EF4-FFF2-40B4-BE49-F238E27FC236}">
                <a16:creationId xmlns:a16="http://schemas.microsoft.com/office/drawing/2014/main" id="{FE543437-EF48-47FC-9432-6B64AE6D4D5C}"/>
              </a:ext>
            </a:extLst>
          </p:cNvPr>
          <p:cNvGraphicFramePr/>
          <p:nvPr/>
        </p:nvGraphicFramePr>
        <p:xfrm>
          <a:off xmlns:a="http://schemas.openxmlformats.org/drawingml/2006/main" x="381000" y="1333500"/>
          <a:ext xmlns:a="http://schemas.openxmlformats.org/drawingml/2006/main" cx="7524750" cy="4238625"/>
        </p:xfrm>
        <a:graphic xmlns:a="http://schemas.openxmlformats.org/drawingml/2006/main">
          <a:graphicData uri="http://schemas.openxmlformats.org/drawingml/2006/chart">
            <c:chart xmlns:r="http://schemas.openxmlformats.org/officeDocument/2006/relationships" xmlns:c="http://schemas.openxmlformats.org/drawingml/2006/chart" r:id="R6bb413c39d344531"/>
          </a:graphicData>
        </a:graphic>
      </p:graphicFrame>
      <p:sp>
        <p:nvSpPr>
          <p:cNvPr id="6" name="">
            <a:extLst xmlns:a="http://schemas.openxmlformats.org/drawingml/2006/main">
              <a:ext uri="{FF2B5EF4-FFF2-40B4-BE49-F238E27FC236}">
                <a16:creationId xmlns:a16="http://schemas.microsoft.com/office/drawing/2014/main" id="{0D8543C6-7661-4ED0-AE1A-EC01073E04E7}"/>
              </a:ext>
            </a:extLst>
          </p:cNvPr>
          <p:cNvSpPr>
            <a:spLocks xmlns:a="http://schemas.openxmlformats.org/drawingml/2006/main" noGrp="1"/>
          </p:cNvSpPr>
          <p:nvPr/>
        </p:nvSpPr>
        <p:spPr>
          <a:xfrm xmlns:a="http://schemas.openxmlformats.org/drawingml/2006/main">
            <a:off x="8286750" y="14763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One frozen model</a:t>
            </a:r>
          </a:p>
        </p:txBody>
      </p:sp>
      <p:sp>
        <p:nvSpPr>
          <p:cNvPr id="7" name="">
            <a:extLst xmlns:a="http://schemas.openxmlformats.org/drawingml/2006/main">
              <a:ext uri="{FF2B5EF4-FFF2-40B4-BE49-F238E27FC236}">
                <a16:creationId xmlns:a16="http://schemas.microsoft.com/office/drawing/2014/main" id="{559D8DFB-0ECC-4423-A9EE-F5589D8CAD8F}"/>
              </a:ext>
            </a:extLst>
          </p:cNvPr>
          <p:cNvSpPr>
            <a:spLocks xmlns:a="http://schemas.openxmlformats.org/drawingml/2006/main" noGrp="1"/>
          </p:cNvSpPr>
          <p:nvPr/>
        </p:nvSpPr>
        <p:spPr>
          <a:xfrm xmlns:a="http://schemas.openxmlformats.org/drawingml/2006/main">
            <a:off x="8286750" y="2190750"/>
            <a:ext cx="3190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C95"/>
                </a:solidFill>
                <a:latin typeface="Calibri"/>
                <a:ea typeface="Calibri"/>
                <a:cs typeface="Calibri"/>
              </a:defRPr>
            </a:defPPr>
          </a:lstStyle>
          <a:p xmlns:a="http://schemas.openxmlformats.org/drawingml/2006/main">
            <a:pPr>
              <a:defRPr sz="2175" b="1">
                <a:solidFill>
                  <a:srgbClr val="008C95"/>
                </a:solidFill>
                <a:latin typeface="Calibri"/>
                <a:ea typeface="Calibri"/>
                <a:cs typeface="Calibri"/>
              </a:defRPr>
            </a:pPr>
            <a:r>
              <a:rPr sz="2175" b="1">
                <a:solidFill>
                  <a:srgbClr val="008C95"/>
                </a:solidFill>
                <a:latin typeface="Calibri"/>
                <a:ea typeface="Calibri"/>
                <a:cs typeface="Calibri"/>
              </a:rPr>
              <a:t>Primary: 13 vs 3</a:t>
            </a:r>
          </a:p>
          <a:p xmlns:a="http://schemas.openxmlformats.org/drawingml/2006/main">
            <a:pPr>
              <a:defRPr sz="2175" b="1">
                <a:solidFill>
                  <a:srgbClr val="008C95"/>
                </a:solidFill>
                <a:latin typeface="Calibri"/>
                <a:ea typeface="Calibri"/>
                <a:cs typeface="Calibri"/>
              </a:defRPr>
            </a:pPr>
            <a:r>
              <a:rPr sz="2175" b="1">
                <a:solidFill>
                  <a:srgbClr val="008C95"/>
                </a:solidFill>
                <a:latin typeface="Calibri"/>
                <a:ea typeface="Calibri"/>
                <a:cs typeface="Calibri"/>
              </a:rPr>
              <a:t>Replication 1: 16 vs 8</a:t>
            </a:r>
          </a:p>
          <a:p xmlns:a="http://schemas.openxmlformats.org/drawingml/2006/main">
            <a:pPr>
              <a:defRPr sz="2175" b="1">
                <a:solidFill>
                  <a:srgbClr val="008C95"/>
                </a:solidFill>
                <a:latin typeface="Calibri"/>
                <a:ea typeface="Calibri"/>
                <a:cs typeface="Calibri"/>
              </a:defRPr>
            </a:pPr>
            <a:r>
              <a:rPr sz="2175" b="1">
                <a:solidFill>
                  <a:srgbClr val="008C95"/>
                </a:solidFill>
                <a:latin typeface="Calibri"/>
                <a:ea typeface="Calibri"/>
                <a:cs typeface="Calibri"/>
              </a:rPr>
              <a:t>Replication 2: 9 vs 7</a:t>
            </a:r>
          </a:p>
        </p:txBody>
      </p:sp>
      <p:sp>
        <p:nvSpPr>
          <p:cNvPr id="8" name="">
            <a:extLst xmlns:a="http://schemas.openxmlformats.org/drawingml/2006/main">
              <a:ext uri="{FF2B5EF4-FFF2-40B4-BE49-F238E27FC236}">
                <a16:creationId xmlns:a16="http://schemas.microsoft.com/office/drawing/2014/main" id="{C4BC2C97-A924-4E04-A2BD-6F0F633570DC}"/>
              </a:ext>
            </a:extLst>
          </p:cNvPr>
          <p:cNvSpPr>
            <a:spLocks xmlns:a="http://schemas.openxmlformats.org/drawingml/2006/main" noGrp="1"/>
          </p:cNvSpPr>
          <p:nvPr/>
        </p:nvSpPr>
        <p:spPr>
          <a:xfrm xmlns:a="http://schemas.openxmlformats.org/drawingml/2006/main">
            <a:off x="8286750" y="4429125"/>
            <a:ext cx="319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3313D"/>
                </a:solidFill>
                <a:latin typeface="Calibri"/>
                <a:ea typeface="Calibri"/>
                <a:cs typeface="Calibri"/>
              </a:defRPr>
            </a:defPPr>
          </a:lstStyle>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No refitting on either replication.</a:t>
            </a:r>
          </a:p>
          <a:p xmlns:a="http://schemas.openxmlformats.org/drawingml/2006/main">
            <a:pPr>
              <a:defRPr sz="1800" b="0">
                <a:solidFill>
                  <a:srgbClr val="23313D"/>
                </a:solidFill>
                <a:latin typeface="Calibri"/>
                <a:ea typeface="Calibri"/>
                <a:cs typeface="Calibri"/>
              </a:defRPr>
            </a:pPr>
            <a:r>
              <a:rPr sz="1800" b="0">
                <a:solidFill>
                  <a:srgbClr val="23313D"/>
                </a:solidFill>
                <a:latin typeface="Calibri"/>
                <a:ea typeface="Calibri"/>
                <a:cs typeface="Calibri"/>
              </a:rPr>
              <a:t>All three populations reported.</a:t>
            </a:r>
          </a:p>
        </p:txBody>
      </p:sp>
      <p:sp>
        <p:nvSpPr>
          <p:cNvPr id="9" name="">
            <a:extLst xmlns:a="http://schemas.openxmlformats.org/drawingml/2006/main">
              <a:ext uri="{FF2B5EF4-FFF2-40B4-BE49-F238E27FC236}">
                <a16:creationId xmlns:a16="http://schemas.microsoft.com/office/drawing/2014/main" id="{470EF076-D2E6-4FBB-A812-87FCF4DB41EE}"/>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Seeds 137, 991 and 2027. Each population has 10,000 generated accounts. Shared simulation assumptions limit real-world conclusions.</a:t>
            </a:r>
          </a:p>
        </p:txBody>
      </p:sp>
    </p:spTree>
    <p:extLst>
      <p:ext uri="{BB962C8B-B14F-4D97-AF65-F5344CB8AC3E}">
        <p14:creationId xmlns:p14="http://schemas.microsoft.com/office/powerpoint/2010/main" val="10442706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B6E6F1-52C0-4708-A7B0-0D1B28DFCC24}"/>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7D30F7-655D-4A70-A36B-CE5BA74D2241}"/>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5E844D-8416-403A-A47C-4F538E92FE09}"/>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A high-risk account and a practical response</a:t>
            </a:r>
          </a:p>
        </p:txBody>
      </p:sp>
      <p:sp>
        <p:nvSpPr>
          <p:cNvPr id="4" name="">
            <a:extLst xmlns:a="http://schemas.openxmlformats.org/drawingml/2006/main">
              <a:ext uri="{FF2B5EF4-FFF2-40B4-BE49-F238E27FC236}">
                <a16:creationId xmlns:a16="http://schemas.microsoft.com/office/drawing/2014/main" id="{4AD35EBC-41C9-4782-9269-64F92684F4BF}"/>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20</a:t>
            </a:r>
          </a:p>
        </p:txBody>
      </p:sp>
      <p:sp>
        <p:nvSpPr>
          <p:cNvPr id="5" name="">
            <a:extLst xmlns:a="http://schemas.openxmlformats.org/drawingml/2006/main">
              <a:ext uri="{FF2B5EF4-FFF2-40B4-BE49-F238E27FC236}">
                <a16:creationId xmlns:a16="http://schemas.microsoft.com/office/drawing/2014/main" id="{9966E59D-D3C5-4528-A802-8CAC937743BD}"/>
              </a:ext>
            </a:extLst>
          </p:cNvPr>
          <p:cNvSpPr>
            <a:spLocks xmlns:a="http://schemas.openxmlformats.org/drawingml/2006/main" noGrp="1"/>
          </p:cNvSpPr>
          <p:nvPr/>
        </p:nvSpPr>
        <p:spPr>
          <a:xfrm xmlns:a="http://schemas.openxmlformats.org/drawingml/2006/main">
            <a:off x="533400" y="11430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13D"/>
                </a:solidFill>
                <a:latin typeface="Calibri"/>
                <a:ea typeface="Calibri"/>
                <a:cs typeface="Calibri"/>
              </a:defRPr>
            </a:defPPr>
          </a:lstStyle>
          <a:p xmlns:a="http://schemas.openxmlformats.org/drawingml/2006/main">
            <a:pPr>
              <a:defRPr sz="2025" b="0">
                <a:solidFill>
                  <a:srgbClr val="23313D"/>
                </a:solidFill>
                <a:latin typeface="Calibri"/>
                <a:ea typeface="Calibri"/>
                <a:cs typeface="Calibri"/>
              </a:defRPr>
            </a:pPr>
            <a:r>
              <a:rPr sz="2025" b="0">
                <a:solidFill>
                  <a:srgbClr val="23313D"/>
                </a:solidFill>
                <a:latin typeface="Calibri"/>
                <a:ea typeface="Calibri"/>
                <a:cs typeface="Calibri"/>
              </a:rPr>
              <a:t>Account CA00009456   Prisma Access Remote Networks</a:t>
            </a:r>
          </a:p>
          <a:p xmlns:a="http://schemas.openxmlformats.org/drawingml/2006/main">
            <a:pPr>
              <a:defRPr sz="2025" b="0">
                <a:solidFill>
                  <a:srgbClr val="23313D"/>
                </a:solidFill>
                <a:latin typeface="Calibri"/>
                <a:ea typeface="Calibri"/>
                <a:cs typeface="Calibri"/>
              </a:defRPr>
            </a:pPr>
            <a:r>
              <a:rPr sz="2025" b="0">
                <a:solidFill>
                  <a:srgbClr val="23313D"/>
                </a:solidFill>
                <a:latin typeface="Calibri"/>
                <a:ea typeface="Calibri"/>
                <a:cs typeface="Calibri"/>
              </a:rPr>
              <a:t>Renewal: 24 June 2026</a:t>
            </a:r>
          </a:p>
        </p:txBody>
      </p:sp>
      <p:graphicFrame>
        <p:nvGraphicFramePr>
          <p:cNvPr id="6" name="">
            <a:extLst xmlns:a="http://schemas.openxmlformats.org/drawingml/2006/main">
              <a:ext uri="{FF2B5EF4-FFF2-40B4-BE49-F238E27FC236}">
                <a16:creationId xmlns:a16="http://schemas.microsoft.com/office/drawing/2014/main" id="{4788505A-C809-4A09-80F2-886DD399D63C}"/>
              </a:ext>
            </a:extLst>
          </p:cNvPr>
          <p:cNvGraphicFramePr/>
          <p:nvPr/>
        </p:nvGraphicFramePr>
        <p:xfrm>
          <a:off xmlns:a="http://schemas.openxmlformats.org/drawingml/2006/main" x="533400" y="2333625"/>
          <a:ext xmlns:a="http://schemas.openxmlformats.org/drawingml/2006/main" cx="11125200" cy="2476500"/>
        </p:xfrm>
        <a:graphic xmlns:a="http://schemas.openxmlformats.org/drawingml/2006/main">
          <a:graphicData uri="http://schemas.openxmlformats.org/drawingml/2006/table">
            <a:tbl>
              <a:tblPr/>
              <a:tblGrid>
                <a:gridCol w="4191000"/>
                <a:gridCol w="6934200"/>
              </a:tblGrid>
              <a:tr h="619125">
                <a:tc>
                  <a:txBody>
                    <a:bodyPr/>
                    <a:lstStyle/>
                    <a:p>
                      <a:r>
                        <a:rPr sz="1800" b="1">
                          <a:solidFill>
                            <a:srgbClr val="FFFFFF"/>
                          </a:solidFill>
                          <a:latin typeface="Calibri"/>
                          <a:ea typeface="Calibri"/>
                          <a:cs typeface="Calibri"/>
                        </a:rPr>
                        <a:t>What we observe</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800" b="1">
                          <a:solidFill>
                            <a:srgbClr val="FFFFFF"/>
                          </a:solidFill>
                          <a:latin typeface="Calibri"/>
                          <a:ea typeface="Calibri"/>
                          <a:cs typeface="Calibri"/>
                        </a:rPr>
                        <a:t>What the customer-success manager should ask</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619125">
                <a:tc>
                  <a:txBody>
                    <a:bodyPr/>
                    <a:lstStyle/>
                    <a:p>
                      <a:r>
                        <a:rPr sz="1800">
                          <a:solidFill>
                            <a:srgbClr val="23313D"/>
                          </a:solidFill>
                          <a:latin typeface="Calibri"/>
                          <a:ea typeface="Calibri"/>
                          <a:cs typeface="Calibri"/>
                        </a:rPr>
                        <a:t>5% of intended scope deployed</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What prevents deployment across the agreed scope?</a:t>
                      </a:r>
                    </a:p>
                  </a:txBody>
                  <a:tcPr marL="114300" marR="114300" marT="76200" marB="76200">
                    <a:lnR w="5715">
                      <a:solidFill>
                        <a:srgbClr val="D3DCE2"/>
                      </a:solidFill>
                      <a:prstDash val="solid"/>
                    </a:lnR>
                    <a:lnB w="5715">
                      <a:solidFill>
                        <a:srgbClr val="D3DCE2"/>
                      </a:solidFill>
                      <a:prstDash val="solid"/>
                    </a:lnB>
                    <a:solidFill>
                      <a:srgbClr val="FFFFFF"/>
                    </a:solidFill>
                  </a:tcPr>
                </a:tc>
              </a:tr>
              <a:tr h="619125">
                <a:tc>
                  <a:txBody>
                    <a:bodyPr/>
                    <a:lstStyle/>
                    <a:p>
                      <a:r>
                        <a:rPr sz="1800">
                          <a:solidFill>
                            <a:srgbClr val="23313D"/>
                          </a:solidFill>
                          <a:latin typeface="Calibri"/>
                          <a:ea typeface="Calibri"/>
                          <a:cs typeface="Calibri"/>
                        </a:rPr>
                        <a:t>45.2% of workflow attempts succeed</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Which workflows fail and what blocks successful use?</a:t>
                      </a:r>
                    </a:p>
                  </a:txBody>
                  <a:tcPr marL="114300" marR="114300" marT="76200" marB="76200">
                    <a:lnR w="5715">
                      <a:solidFill>
                        <a:srgbClr val="D3DCE2"/>
                      </a:solidFill>
                      <a:prstDash val="solid"/>
                    </a:lnR>
                    <a:lnB w="5715">
                      <a:solidFill>
                        <a:srgbClr val="D3DCE2"/>
                      </a:solidFill>
                      <a:prstDash val="solid"/>
                    </a:lnB>
                    <a:solidFill>
                      <a:srgbClr val="F1F4F6"/>
                    </a:solidFill>
                  </a:tcPr>
                </a:tc>
              </a:tr>
              <a:tr h="619125">
                <a:tc>
                  <a:txBody>
                    <a:bodyPr/>
                    <a:lstStyle/>
                    <a:p>
                      <a:r>
                        <a:rPr sz="1800">
                          <a:solidFill>
                            <a:srgbClr val="23313D"/>
                          </a:solidFill>
                          <a:latin typeface="Calibri"/>
                          <a:ea typeface="Calibri"/>
                          <a:cs typeface="Calibri"/>
                        </a:rPr>
                        <a:t>0 critical tickets and no recorded budget concern</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Confirm the implementation issue before proposing an action.</a:t>
                      </a:r>
                    </a:p>
                  </a:txBody>
                  <a:tcPr marL="114300" marR="114300" marT="76200" marB="76200">
                    <a:lnR w="5715">
                      <a:solidFill>
                        <a:srgbClr val="D3DCE2"/>
                      </a:solidFill>
                      <a:prstDash val="solid"/>
                    </a:lnR>
                    <a:lnB w="5715">
                      <a:solidFill>
                        <a:srgbClr val="D3DCE2"/>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AADBCD9-7B03-439C-B778-47B3D8489A2F}"/>
              </a:ext>
            </a:extLst>
          </p:cNvPr>
          <p:cNvSpPr>
            <a:spLocks xmlns:a="http://schemas.openxmlformats.org/drawingml/2006/main" noGrp="1"/>
          </p:cNvSpPr>
          <p:nvPr/>
        </p:nvSpPr>
        <p:spPr>
          <a:xfrm xmlns:a="http://schemas.openxmlformats.org/drawingml/2006/main">
            <a:off x="533400" y="52387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C95"/>
                </a:solidFill>
                <a:latin typeface="Calibri"/>
                <a:ea typeface="Calibri"/>
                <a:cs typeface="Calibri"/>
              </a:defRPr>
            </a:defPPr>
          </a:lstStyle>
          <a:p xmlns:a="http://schemas.openxmlformats.org/drawingml/2006/main">
            <a:pPr>
              <a:defRPr sz="2100" b="1">
                <a:solidFill>
                  <a:srgbClr val="008C95"/>
                </a:solidFill>
                <a:latin typeface="Calibri"/>
                <a:ea typeface="Calibri"/>
                <a:cs typeface="Calibri"/>
              </a:defRPr>
            </a:pPr>
            <a:r>
              <a:rPr sz="2100" b="1">
                <a:solidFill>
                  <a:srgbClr val="008C95"/>
                </a:solidFill>
                <a:latin typeface="Calibri"/>
                <a:ea typeface="Calibri"/>
                <a:cs typeface="Calibri"/>
              </a:rPr>
              <a:t>Proposed action: agree a deployment milestone, success target and owner before expiry.</a:t>
            </a:r>
          </a:p>
        </p:txBody>
      </p:sp>
      <p:sp>
        <p:nvSpPr>
          <p:cNvPr id="8" name="">
            <a:extLst xmlns:a="http://schemas.openxmlformats.org/drawingml/2006/main">
              <a:ext uri="{FF2B5EF4-FFF2-40B4-BE49-F238E27FC236}">
                <a16:creationId xmlns:a16="http://schemas.microsoft.com/office/drawing/2014/main" id="{C943FA17-C057-473D-A642-B5A6C84DD08B}"/>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Score 0.757. Annual value $13,941. Retrospective outcome: recorded cancellation. An account example does not establish treatment impact.</a:t>
            </a:r>
          </a:p>
        </p:txBody>
      </p:sp>
    </p:spTree>
    <p:extLst>
      <p:ext uri="{BB962C8B-B14F-4D97-AF65-F5344CB8AC3E}">
        <p14:creationId xmlns:p14="http://schemas.microsoft.com/office/powerpoint/2010/main" val="58016085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C118F4-0632-4BAE-BA98-1E0861768EDE}"/>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C52333-2CAC-4D8E-80B9-016CC9F65F98}"/>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698C7F-88C9-48D4-806C-106315DCB729}"/>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Financial retention and expansion</a:t>
            </a:r>
          </a:p>
        </p:txBody>
      </p:sp>
      <p:sp>
        <p:nvSpPr>
          <p:cNvPr id="4" name="">
            <a:extLst xmlns:a="http://schemas.openxmlformats.org/drawingml/2006/main">
              <a:ext uri="{FF2B5EF4-FFF2-40B4-BE49-F238E27FC236}">
                <a16:creationId xmlns:a16="http://schemas.microsoft.com/office/drawing/2014/main" id="{554FEFA3-AD6E-4C6C-8BB2-D816C4B4969B}"/>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21</a:t>
            </a:r>
          </a:p>
        </p:txBody>
      </p:sp>
      <p:graphicFrame>
        <p:nvGraphicFramePr>
          <p:cNvPr id="5" name="">
            <a:extLst xmlns:a="http://schemas.openxmlformats.org/drawingml/2006/main">
              <a:ext uri="{FF2B5EF4-FFF2-40B4-BE49-F238E27FC236}">
                <a16:creationId xmlns:a16="http://schemas.microsoft.com/office/drawing/2014/main" id="{7949EA43-EE2B-4B42-8333-91414419FCD3}"/>
              </a:ext>
            </a:extLst>
          </p:cNvPr>
          <p:cNvGraphicFramePr/>
          <p:nvPr/>
        </p:nvGraphicFramePr>
        <p:xfrm>
          <a:off xmlns:a="http://schemas.openxmlformats.org/drawingml/2006/main" x="533400" y="1428750"/>
          <a:ext xmlns:a="http://schemas.openxmlformats.org/drawingml/2006/main" cx="11125200" cy="3143250"/>
        </p:xfrm>
        <a:graphic xmlns:a="http://schemas.openxmlformats.org/drawingml/2006/main">
          <a:graphicData uri="http://schemas.openxmlformats.org/drawingml/2006/table">
            <a:tbl>
              <a:tblPr/>
              <a:tblGrid>
                <a:gridCol w="3524250"/>
                <a:gridCol w="2476500"/>
                <a:gridCol w="5124450"/>
              </a:tblGrid>
              <a:tr h="628650">
                <a:tc>
                  <a:txBody>
                    <a:bodyPr/>
                    <a:lstStyle/>
                    <a:p>
                      <a:r>
                        <a:rPr sz="1725" b="1">
                          <a:solidFill>
                            <a:srgbClr val="FFFFFF"/>
                          </a:solidFill>
                          <a:latin typeface="Calibri"/>
                          <a:ea typeface="Calibri"/>
                          <a:cs typeface="Calibri"/>
                        </a:rPr>
                        <a:t>Financial lens</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Observed synthetic result</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Business implication</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628650">
                <a:tc>
                  <a:txBody>
                    <a:bodyPr/>
                    <a:lstStyle/>
                    <a:p>
                      <a:r>
                        <a:rPr sz="1725">
                          <a:solidFill>
                            <a:srgbClr val="23313D"/>
                          </a:solidFill>
                          <a:latin typeface="Calibri"/>
                          <a:ea typeface="Calibri"/>
                          <a:cs typeface="Calibri"/>
                        </a:rPr>
                        <a:t>Gross revenue retention (GRR)</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95.95%</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Opening value falls through losses and reductions</a:t>
                      </a:r>
                    </a:p>
                  </a:txBody>
                  <a:tcPr marL="114300" marR="114300" marT="76200" marB="76200">
                    <a:lnR w="5715">
                      <a:solidFill>
                        <a:srgbClr val="D3DCE2"/>
                      </a:solidFill>
                      <a:prstDash val="solid"/>
                    </a:lnR>
                    <a:lnB w="5715">
                      <a:solidFill>
                        <a:srgbClr val="D3DCE2"/>
                      </a:solidFill>
                      <a:prstDash val="solid"/>
                    </a:lnB>
                    <a:solidFill>
                      <a:srgbClr val="FFFFFF"/>
                    </a:solidFill>
                  </a:tcPr>
                </a:tc>
              </a:tr>
              <a:tr h="628650">
                <a:tc>
                  <a:txBody>
                    <a:bodyPr/>
                    <a:lstStyle/>
                    <a:p>
                      <a:r>
                        <a:rPr sz="1725">
                          <a:solidFill>
                            <a:srgbClr val="23313D"/>
                          </a:solidFill>
                          <a:latin typeface="Calibri"/>
                          <a:ea typeface="Calibri"/>
                          <a:cs typeface="Calibri"/>
                        </a:rPr>
                        <a:t>Net revenue retention (NRR)</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98.58%</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Opening customers finish below their starting annual value</a:t>
                      </a:r>
                    </a:p>
                  </a:txBody>
                  <a:tcPr marL="114300" marR="114300" marT="76200" marB="76200">
                    <a:lnR w="5715">
                      <a:solidFill>
                        <a:srgbClr val="D3DCE2"/>
                      </a:solidFill>
                      <a:prstDash val="solid"/>
                    </a:lnR>
                    <a:lnB w="5715">
                      <a:solidFill>
                        <a:srgbClr val="D3DCE2"/>
                      </a:solidFill>
                      <a:prstDash val="solid"/>
                    </a:lnB>
                    <a:solidFill>
                      <a:srgbClr val="F1F4F6"/>
                    </a:solidFill>
                  </a:tcPr>
                </a:tc>
              </a:tr>
              <a:tr h="628650">
                <a:tc>
                  <a:txBody>
                    <a:bodyPr/>
                    <a:lstStyle/>
                    <a:p>
                      <a:r>
                        <a:rPr sz="1725">
                          <a:solidFill>
                            <a:srgbClr val="23313D"/>
                          </a:solidFill>
                          <a:latin typeface="Calibri"/>
                          <a:ea typeface="Calibri"/>
                          <a:cs typeface="Calibri"/>
                        </a:rPr>
                        <a:t>Full-history expansion</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$54.1M</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A separate opportunity alongside preventing losses</a:t>
                      </a:r>
                    </a:p>
                  </a:txBody>
                  <a:tcPr marL="114300" marR="114300" marT="76200" marB="76200">
                    <a:lnR w="5715">
                      <a:solidFill>
                        <a:srgbClr val="D3DCE2"/>
                      </a:solidFill>
                      <a:prstDash val="solid"/>
                    </a:lnR>
                    <a:lnB w="5715">
                      <a:solidFill>
                        <a:srgbClr val="D3DCE2"/>
                      </a:solidFill>
                      <a:prstDash val="solid"/>
                    </a:lnB>
                    <a:solidFill>
                      <a:srgbClr val="FFFFFF"/>
                    </a:solidFill>
                  </a:tcPr>
                </a:tc>
              </a:tr>
              <a:tr h="628650">
                <a:tc>
                  <a:txBody>
                    <a:bodyPr/>
                    <a:lstStyle/>
                    <a:p>
                      <a:r>
                        <a:rPr sz="1725">
                          <a:solidFill>
                            <a:srgbClr val="23313D"/>
                          </a:solidFill>
                          <a:latin typeface="Calibri"/>
                          <a:ea typeface="Calibri"/>
                          <a:cs typeface="Calibri"/>
                        </a:rPr>
                        <a:t>Quantity-dominant expansion</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88.5% of expansion value</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Review adoption and capacity before offering more</a:t>
                      </a:r>
                    </a:p>
                  </a:txBody>
                  <a:tcPr marL="114300" marR="114300" marT="76200" marB="76200">
                    <a:lnR w="5715">
                      <a:solidFill>
                        <a:srgbClr val="D3DCE2"/>
                      </a:solidFill>
                      <a:prstDash val="solid"/>
                    </a:lnR>
                    <a:lnB w="5715">
                      <a:solidFill>
                        <a:srgbClr val="D3DCE2"/>
                      </a:solidFill>
                      <a:prstDash val="solid"/>
                    </a:lnB>
                    <a:solidFill>
                      <a:srgbClr val="F1F4F6"/>
                    </a:solidFill>
                  </a:tcPr>
                </a:tc>
              </a:tr>
            </a:tbl>
          </a:graphicData>
        </a:graphic>
      </p:graphicFrame>
      <p:sp>
        <p:nvSpPr>
          <p:cNvPr id="6" name="">
            <a:extLst xmlns:a="http://schemas.openxmlformats.org/drawingml/2006/main">
              <a:ext uri="{FF2B5EF4-FFF2-40B4-BE49-F238E27FC236}">
                <a16:creationId xmlns:a16="http://schemas.microsoft.com/office/drawing/2014/main" id="{A6778952-8C42-457D-B1CF-3B61FE464EB3}"/>
              </a:ext>
            </a:extLst>
          </p:cNvPr>
          <p:cNvSpPr>
            <a:spLocks xmlns:a="http://schemas.openxmlformats.org/drawingml/2006/main" noGrp="1"/>
          </p:cNvSpPr>
          <p:nvPr/>
        </p:nvSpPr>
        <p:spPr>
          <a:xfrm xmlns:a="http://schemas.openxmlformats.org/drawingml/2006/main">
            <a:off x="533400" y="504825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8C95"/>
                </a:solidFill>
                <a:latin typeface="Calibri"/>
                <a:ea typeface="Calibri"/>
                <a:cs typeface="Calibri"/>
              </a:defRPr>
            </a:defPPr>
          </a:lstStyle>
          <a:p xmlns:a="http://schemas.openxmlformats.org/drawingml/2006/main">
            <a:pPr>
              <a:defRPr sz="2100" b="1">
                <a:solidFill>
                  <a:srgbClr val="008C95"/>
                </a:solidFill>
                <a:latin typeface="Calibri"/>
                <a:ea typeface="Calibri"/>
                <a:cs typeface="Calibri"/>
              </a:defRPr>
            </a:pPr>
            <a:r>
              <a:rPr sz="2100" b="1">
                <a:solidFill>
                  <a:srgbClr val="008C95"/>
                </a:solidFill>
                <a:latin typeface="Calibri"/>
                <a:ea typeface="Calibri"/>
                <a:cs typeface="Calibri"/>
              </a:rPr>
              <a:t>Annual recurring value: $850M opening and $957.1M closing</a:t>
            </a:r>
          </a:p>
        </p:txBody>
      </p:sp>
      <p:sp>
        <p:nvSpPr>
          <p:cNvPr id="7" name="">
            <a:extLst xmlns:a="http://schemas.openxmlformats.org/drawingml/2006/main">
              <a:ext uri="{FF2B5EF4-FFF2-40B4-BE49-F238E27FC236}">
                <a16:creationId xmlns:a16="http://schemas.microsoft.com/office/drawing/2014/main" id="{90C38BB6-3524-44A5-9D94-0A451D248854}"/>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The snapshot bridge covers October 2024 to September 2025. Expansion uses the full history. Synthetic amounts are not PANW financial estimates.</a:t>
            </a:r>
          </a:p>
        </p:txBody>
      </p:sp>
    </p:spTree>
    <p:extLst>
      <p:ext uri="{BB962C8B-B14F-4D97-AF65-F5344CB8AC3E}">
        <p14:creationId xmlns:p14="http://schemas.microsoft.com/office/powerpoint/2010/main" val="38793090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CA0884-F454-4518-A4D0-E1586B7112BC}"/>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65536F-780C-432F-8928-B2A969382DF4}"/>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8EFD16-14D8-435E-B332-781D0353351B}"/>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Recommended actions and success measures</a:t>
            </a:r>
          </a:p>
        </p:txBody>
      </p:sp>
      <p:sp>
        <p:nvSpPr>
          <p:cNvPr id="4" name="">
            <a:extLst xmlns:a="http://schemas.openxmlformats.org/drawingml/2006/main">
              <a:ext uri="{FF2B5EF4-FFF2-40B4-BE49-F238E27FC236}">
                <a16:creationId xmlns:a16="http://schemas.microsoft.com/office/drawing/2014/main" id="{FA7CC878-5538-4F07-887D-10E4846CFF61}"/>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22</a:t>
            </a:r>
          </a:p>
        </p:txBody>
      </p:sp>
      <p:graphicFrame>
        <p:nvGraphicFramePr>
          <p:cNvPr id="5" name="">
            <a:extLst xmlns:a="http://schemas.openxmlformats.org/drawingml/2006/main">
              <a:ext uri="{FF2B5EF4-FFF2-40B4-BE49-F238E27FC236}">
                <a16:creationId xmlns:a16="http://schemas.microsoft.com/office/drawing/2014/main" id="{FE941016-D542-4018-8DED-75085C4F672B}"/>
              </a:ext>
            </a:extLst>
          </p:cNvPr>
          <p:cNvGraphicFramePr/>
          <p:nvPr/>
        </p:nvGraphicFramePr>
        <p:xfrm>
          <a:off xmlns:a="http://schemas.openxmlformats.org/drawingml/2006/main" x="533400" y="1428750"/>
          <a:ext xmlns:a="http://schemas.openxmlformats.org/drawingml/2006/main" cx="11125200" cy="3333750"/>
        </p:xfrm>
        <a:graphic xmlns:a="http://schemas.openxmlformats.org/drawingml/2006/main">
          <a:graphicData uri="http://schemas.openxmlformats.org/drawingml/2006/table">
            <a:tbl>
              <a:tblPr/>
              <a:tblGrid>
                <a:gridCol w="3429000"/>
                <a:gridCol w="3429000"/>
                <a:gridCol w="4267200"/>
              </a:tblGrid>
              <a:tr h="833438">
                <a:tc>
                  <a:txBody>
                    <a:bodyPr/>
                    <a:lstStyle/>
                    <a:p>
                      <a:r>
                        <a:rPr sz="1800" b="1">
                          <a:solidFill>
                            <a:srgbClr val="FFFFFF"/>
                          </a:solidFill>
                          <a:latin typeface="Calibri"/>
                          <a:ea typeface="Calibri"/>
                          <a:cs typeface="Calibri"/>
                        </a:rPr>
                        <a:t>Recommendation</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800" b="1">
                          <a:solidFill>
                            <a:srgbClr val="FFFFFF"/>
                          </a:solidFill>
                          <a:latin typeface="Calibri"/>
                          <a:ea typeface="Calibri"/>
                          <a:cs typeface="Calibri"/>
                        </a:rPr>
                        <a:t>Evidence in this study</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800" b="1">
                          <a:solidFill>
                            <a:srgbClr val="FFFFFF"/>
                          </a:solidFill>
                          <a:latin typeface="Calibri"/>
                          <a:ea typeface="Calibri"/>
                          <a:cs typeface="Calibri"/>
                        </a:rPr>
                        <a:t>How to measure success</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833438">
                <a:tc>
                  <a:txBody>
                    <a:bodyPr/>
                    <a:lstStyle/>
                    <a:p>
                      <a:r>
                        <a:rPr sz="1800">
                          <a:solidFill>
                            <a:srgbClr val="23313D"/>
                          </a:solidFill>
                          <a:latin typeface="Calibri"/>
                          <a:ea typeface="Calibri"/>
                          <a:cs typeface="Calibri"/>
                        </a:rPr>
                        <a:t>Product-recovery review</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Workflow success and protection coverage lead model importance</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Agreed milestones reached and service issues resolved</a:t>
                      </a:r>
                    </a:p>
                  </a:txBody>
                  <a:tcPr marL="114300" marR="114300" marT="76200" marB="76200">
                    <a:lnR w="5715">
                      <a:solidFill>
                        <a:srgbClr val="D3DCE2"/>
                      </a:solidFill>
                      <a:prstDash val="solid"/>
                    </a:lnR>
                    <a:lnB w="5715">
                      <a:solidFill>
                        <a:srgbClr val="D3DCE2"/>
                      </a:solidFill>
                      <a:prstDash val="solid"/>
                    </a:lnB>
                    <a:solidFill>
                      <a:srgbClr val="FFFFFF"/>
                    </a:solidFill>
                  </a:tcPr>
                </a:tc>
              </a:tr>
              <a:tr h="833438">
                <a:tc>
                  <a:txBody>
                    <a:bodyPr/>
                    <a:lstStyle/>
                    <a:p>
                      <a:r>
                        <a:rPr sz="1800">
                          <a:solidFill>
                            <a:srgbClr val="23313D"/>
                          </a:solidFill>
                          <a:latin typeface="Calibri"/>
                          <a:ea typeface="Calibri"/>
                          <a:cs typeface="Calibri"/>
                        </a:rPr>
                        <a:t>A capacity-based outreach policy</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Different rankings select different 30-account lists</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Cancelled leads found, staff time and outcome uncertainty</a:t>
                      </a:r>
                    </a:p>
                  </a:txBody>
                  <a:tcPr marL="114300" marR="114300" marT="76200" marB="76200">
                    <a:lnR w="5715">
                      <a:solidFill>
                        <a:srgbClr val="D3DCE2"/>
                      </a:solidFill>
                      <a:prstDash val="solid"/>
                    </a:lnR>
                    <a:lnB w="5715">
                      <a:solidFill>
                        <a:srgbClr val="D3DCE2"/>
                      </a:solidFill>
                      <a:prstDash val="solid"/>
                    </a:lnB>
                    <a:solidFill>
                      <a:srgbClr val="F1F4F6"/>
                    </a:solidFill>
                  </a:tcPr>
                </a:tc>
              </a:tr>
              <a:tr h="833438">
                <a:tc>
                  <a:txBody>
                    <a:bodyPr/>
                    <a:lstStyle/>
                    <a:p>
                      <a:r>
                        <a:rPr sz="1800">
                          <a:solidFill>
                            <a:srgbClr val="23313D"/>
                          </a:solidFill>
                          <a:latin typeface="Calibri"/>
                          <a:ea typeface="Calibri"/>
                          <a:cs typeface="Calibri"/>
                        </a:rPr>
                        <a:t>An adoption and capacity review before expansion</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88.5% of expansion sits in quantity-dominant categories</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Verified additional annual value and sustained product adoption</a:t>
                      </a:r>
                    </a:p>
                  </a:txBody>
                  <a:tcPr marL="114300" marR="114300" marT="76200" marB="76200">
                    <a:lnR w="5715">
                      <a:solidFill>
                        <a:srgbClr val="D3DCE2"/>
                      </a:solidFill>
                      <a:prstDash val="solid"/>
                    </a:lnR>
                    <a:lnB w="5715">
                      <a:solidFill>
                        <a:srgbClr val="D3DCE2"/>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FF66CB9-A173-4334-B562-C18F95E61974}"/>
              </a:ext>
            </a:extLst>
          </p:cNvPr>
          <p:cNvSpPr>
            <a:spLocks xmlns:a="http://schemas.openxmlformats.org/drawingml/2006/main" noGrp="1"/>
          </p:cNvSpPr>
          <p:nvPr/>
        </p:nvSpPr>
        <p:spPr>
          <a:xfrm xmlns:a="http://schemas.openxmlformats.org/drawingml/2006/main">
            <a:off x="533400" y="51911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3313D"/>
                </a:solidFill>
                <a:latin typeface="Calibri"/>
                <a:ea typeface="Calibri"/>
                <a:cs typeface="Calibri"/>
              </a:defRPr>
            </a:defPPr>
          </a:lstStyle>
          <a:p xmlns:a="http://schemas.openxmlformats.org/drawingml/2006/main">
            <a:pPr>
              <a:defRPr sz="2100" b="0">
                <a:solidFill>
                  <a:srgbClr val="23313D"/>
                </a:solidFill>
                <a:latin typeface="Calibri"/>
                <a:ea typeface="Calibri"/>
                <a:cs typeface="Calibri"/>
              </a:defRPr>
            </a:pPr>
            <a:r>
              <a:rPr sz="2100" b="0">
                <a:solidFill>
                  <a:srgbClr val="23313D"/>
                </a:solidFill>
                <a:latin typeface="Calibri"/>
                <a:ea typeface="Calibri"/>
                <a:cs typeface="Calibri"/>
              </a:rPr>
              <a:t>The next step is a measurable customer action, followed by a fair comparison.</a:t>
            </a:r>
          </a:p>
        </p:txBody>
      </p:sp>
      <p:sp>
        <p:nvSpPr>
          <p:cNvPr id="7" name="">
            <a:extLst xmlns:a="http://schemas.openxmlformats.org/drawingml/2006/main">
              <a:ext uri="{FF2B5EF4-FFF2-40B4-BE49-F238E27FC236}">
                <a16:creationId xmlns:a16="http://schemas.microsoft.com/office/drawing/2014/main" id="{083F707F-6C5C-4231-A16F-EC08A2BC6C7B}"/>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Proposals are hypotheses. A model score alone cannot establish an intervention effect or revenue saved.</a:t>
            </a:r>
          </a:p>
        </p:txBody>
      </p:sp>
    </p:spTree>
    <p:extLst>
      <p:ext uri="{BB962C8B-B14F-4D97-AF65-F5344CB8AC3E}">
        <p14:creationId xmlns:p14="http://schemas.microsoft.com/office/powerpoint/2010/main" val="74350161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FBBA63-68A1-4D8E-868B-C50233C494F9}"/>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D28864-2676-4FA9-98E6-BCAF1B485CE3}"/>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3854FF-5C7D-495F-9E9D-EF4F5BF8911D}"/>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Validation, pilot and next steps</a:t>
            </a:r>
          </a:p>
        </p:txBody>
      </p:sp>
      <p:sp>
        <p:nvSpPr>
          <p:cNvPr id="4" name="">
            <a:extLst xmlns:a="http://schemas.openxmlformats.org/drawingml/2006/main">
              <a:ext uri="{FF2B5EF4-FFF2-40B4-BE49-F238E27FC236}">
                <a16:creationId xmlns:a16="http://schemas.microsoft.com/office/drawing/2014/main" id="{080E4FFD-D702-4C6B-8195-59CEB9D3428E}"/>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23</a:t>
            </a:r>
          </a:p>
        </p:txBody>
      </p:sp>
      <p:sp>
        <p:nvSpPr>
          <p:cNvPr id="5" name="">
            <a:extLst xmlns:a="http://schemas.openxmlformats.org/drawingml/2006/main">
              <a:ext uri="{FF2B5EF4-FFF2-40B4-BE49-F238E27FC236}">
                <a16:creationId xmlns:a16="http://schemas.microsoft.com/office/drawing/2014/main" id="{F7946E6C-C4B6-4B09-B638-47F735942CB8}"/>
              </a:ext>
            </a:extLst>
          </p:cNvPr>
          <p:cNvSpPr>
            <a:spLocks xmlns:a="http://schemas.openxmlformats.org/drawingml/2006/main" noGrp="1"/>
          </p:cNvSpPr>
          <p:nvPr/>
        </p:nvSpPr>
        <p:spPr>
          <a:xfrm xmlns:a="http://schemas.openxmlformats.org/drawingml/2006/main">
            <a:off x="533400" y="13811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Prediction quality</a:t>
            </a:r>
          </a:p>
        </p:txBody>
      </p:sp>
      <p:sp>
        <p:nvSpPr>
          <p:cNvPr id="6" name="">
            <a:extLst xmlns:a="http://schemas.openxmlformats.org/drawingml/2006/main">
              <a:ext uri="{FF2B5EF4-FFF2-40B4-BE49-F238E27FC236}">
                <a16:creationId xmlns:a16="http://schemas.microsoft.com/office/drawing/2014/main" id="{DD607635-DECA-45A4-A232-91A1F0569EB1}"/>
              </a:ext>
            </a:extLst>
          </p:cNvPr>
          <p:cNvSpPr>
            <a:spLocks xmlns:a="http://schemas.openxmlformats.org/drawingml/2006/main" noGrp="1"/>
          </p:cNvSpPr>
          <p:nvPr/>
        </p:nvSpPr>
        <p:spPr>
          <a:xfrm xmlns:a="http://schemas.openxmlformats.org/drawingml/2006/main">
            <a:off x="533400" y="209550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13D"/>
                </a:solidFill>
                <a:latin typeface="Calibri"/>
                <a:ea typeface="Calibri"/>
                <a:cs typeface="Calibri"/>
              </a:defRPr>
            </a:defPPr>
          </a:lstStyle>
          <a:p xmlns:a="http://schemas.openxmlformats.org/drawingml/2006/main">
            <a:pPr>
              <a:defRPr sz="2025" b="0">
                <a:solidFill>
                  <a:srgbClr val="23313D"/>
                </a:solidFill>
                <a:latin typeface="Calibri"/>
                <a:ea typeface="Calibri"/>
                <a:cs typeface="Calibri"/>
              </a:defRPr>
            </a:pPr>
            <a:r>
              <a:rPr sz="2025" b="0">
                <a:solidFill>
                  <a:srgbClr val="23313D"/>
                </a:solidFill>
                <a:latin typeface="Calibri"/>
                <a:ea typeface="Calibri"/>
                <a:cs typeface="Calibri"/>
              </a:rPr>
              <a:t>Freeze the model and review policy.</a:t>
            </a:r>
          </a:p>
          <a:p xmlns:a="http://schemas.openxmlformats.org/drawingml/2006/main">
            <a:pPr>
              <a:defRPr sz="2025" b="0">
                <a:solidFill>
                  <a:srgbClr val="23313D"/>
                </a:solidFill>
                <a:latin typeface="Calibri"/>
                <a:ea typeface="Calibri"/>
                <a:cs typeface="Calibri"/>
              </a:defRPr>
            </a:pPr>
            <a:r>
              <a:rPr sz="2025" b="0">
                <a:solidFill>
                  <a:srgbClr val="23313D"/>
                </a:solidFill>
                <a:latin typeface="Calibri"/>
                <a:ea typeface="Calibri"/>
                <a:cs typeface="Calibri"/>
              </a:rPr>
              <a:t>Evaluate on fresh, untreated observations.</a:t>
            </a:r>
          </a:p>
          <a:p xmlns:a="http://schemas.openxmlformats.org/drawingml/2006/main">
            <a:pPr>
              <a:defRPr sz="2025" b="0">
                <a:solidFill>
                  <a:srgbClr val="23313D"/>
                </a:solidFill>
                <a:latin typeface="Calibri"/>
                <a:ea typeface="Calibri"/>
                <a:cs typeface="Calibri"/>
              </a:defRPr>
            </a:pPr>
            <a:r>
              <a:rPr sz="2025" b="0">
                <a:solidFill>
                  <a:srgbClr val="23313D"/>
                </a:solidFill>
                <a:latin typeface="Calibri"/>
                <a:ea typeface="Calibri"/>
                <a:cs typeface="Calibri"/>
              </a:rPr>
              <a:t>Confirm performance on real customer data.</a:t>
            </a:r>
          </a:p>
        </p:txBody>
      </p:sp>
      <p:sp>
        <p:nvSpPr>
          <p:cNvPr id="7" name="">
            <a:extLst xmlns:a="http://schemas.openxmlformats.org/drawingml/2006/main">
              <a:ext uri="{FF2B5EF4-FFF2-40B4-BE49-F238E27FC236}">
                <a16:creationId xmlns:a16="http://schemas.microsoft.com/office/drawing/2014/main" id="{E8A50824-3507-4371-8B39-C38BFD04CD51}"/>
              </a:ext>
            </a:extLst>
          </p:cNvPr>
          <p:cNvSpPr>
            <a:spLocks xmlns:a="http://schemas.openxmlformats.org/drawingml/2006/main" noGrp="1"/>
          </p:cNvSpPr>
          <p:nvPr/>
        </p:nvSpPr>
        <p:spPr>
          <a:xfrm xmlns:a="http://schemas.openxmlformats.org/drawingml/2006/main">
            <a:off x="6667500" y="13811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C95"/>
                </a:solidFill>
                <a:latin typeface="Calibri"/>
                <a:ea typeface="Calibri"/>
                <a:cs typeface="Calibri"/>
              </a:defRPr>
            </a:defPPr>
          </a:lstStyle>
          <a:p xmlns:a="http://schemas.openxmlformats.org/drawingml/2006/main">
            <a:pPr>
              <a:defRPr sz="2025" b="1">
                <a:solidFill>
                  <a:srgbClr val="008C95"/>
                </a:solidFill>
                <a:latin typeface="Calibri"/>
                <a:ea typeface="Calibri"/>
                <a:cs typeface="Calibri"/>
              </a:defRPr>
            </a:pPr>
            <a:r>
              <a:rPr sz="2025" b="1">
                <a:solidFill>
                  <a:srgbClr val="008C95"/>
                </a:solidFill>
                <a:latin typeface="Calibri"/>
                <a:ea typeface="Calibri"/>
                <a:cs typeface="Calibri"/>
              </a:rPr>
              <a:t>Customer outcomes</a:t>
            </a:r>
          </a:p>
        </p:txBody>
      </p:sp>
      <p:sp>
        <p:nvSpPr>
          <p:cNvPr id="8" name="">
            <a:extLst xmlns:a="http://schemas.openxmlformats.org/drawingml/2006/main">
              <a:ext uri="{FF2B5EF4-FFF2-40B4-BE49-F238E27FC236}">
                <a16:creationId xmlns:a16="http://schemas.microsoft.com/office/drawing/2014/main" id="{2A1EE7F9-921E-4296-9D9A-6D83F70E005F}"/>
              </a:ext>
            </a:extLst>
          </p:cNvPr>
          <p:cNvSpPr>
            <a:spLocks xmlns:a="http://schemas.openxmlformats.org/drawingml/2006/main" noGrp="1"/>
          </p:cNvSpPr>
          <p:nvPr/>
        </p:nvSpPr>
        <p:spPr>
          <a:xfrm xmlns:a="http://schemas.openxmlformats.org/drawingml/2006/main">
            <a:off x="6667500" y="2095500"/>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3313D"/>
                </a:solidFill>
                <a:latin typeface="Calibri"/>
                <a:ea typeface="Calibri"/>
                <a:cs typeface="Calibri"/>
              </a:defRPr>
            </a:defPPr>
          </a:lstStyle>
          <a:p xmlns:a="http://schemas.openxmlformats.org/drawingml/2006/main">
            <a:pPr>
              <a:defRPr sz="2025" b="0">
                <a:solidFill>
                  <a:srgbClr val="23313D"/>
                </a:solidFill>
                <a:latin typeface="Calibri"/>
                <a:ea typeface="Calibri"/>
                <a:cs typeface="Calibri"/>
              </a:defRPr>
            </a:pPr>
            <a:r>
              <a:rPr sz="2025" b="0">
                <a:solidFill>
                  <a:srgbClr val="23313D"/>
                </a:solidFill>
                <a:latin typeface="Calibri"/>
                <a:ea typeface="Calibri"/>
                <a:cs typeface="Calibri"/>
              </a:rPr>
              <a:t>Check readiness before contacting accounts.</a:t>
            </a:r>
          </a:p>
          <a:p xmlns:a="http://schemas.openxmlformats.org/drawingml/2006/main">
            <a:pPr>
              <a:defRPr sz="2025" b="0">
                <a:solidFill>
                  <a:srgbClr val="23313D"/>
                </a:solidFill>
                <a:latin typeface="Calibri"/>
                <a:ea typeface="Calibri"/>
                <a:cs typeface="Calibri"/>
              </a:defRPr>
            </a:pPr>
            <a:r>
              <a:rPr sz="2025" b="0">
                <a:solidFill>
                  <a:srgbClr val="23313D"/>
                </a:solidFill>
                <a:latin typeface="Calibri"/>
                <a:ea typeface="Calibri"/>
                <a:cs typeface="Calibri"/>
              </a:rPr>
              <a:t>Pilot a documented recovery action.</a:t>
            </a:r>
          </a:p>
          <a:p xmlns:a="http://schemas.openxmlformats.org/drawingml/2006/main">
            <a:pPr>
              <a:defRPr sz="2025" b="0">
                <a:solidFill>
                  <a:srgbClr val="23313D"/>
                </a:solidFill>
                <a:latin typeface="Calibri"/>
                <a:ea typeface="Calibri"/>
                <a:cs typeface="Calibri"/>
              </a:defRPr>
            </a:pPr>
            <a:r>
              <a:rPr sz="2025" b="0">
                <a:solidFill>
                  <a:srgbClr val="23313D"/>
                </a:solidFill>
                <a:latin typeface="Calibri"/>
                <a:ea typeface="Calibri"/>
                <a:cs typeface="Calibri"/>
              </a:rPr>
              <a:t>Follow cancellation through expiry + 90 days.</a:t>
            </a:r>
          </a:p>
        </p:txBody>
      </p:sp>
      <p:sp>
        <p:nvSpPr>
          <p:cNvPr id="9" name="">
            <a:extLst xmlns:a="http://schemas.openxmlformats.org/drawingml/2006/main">
              <a:ext uri="{FF2B5EF4-FFF2-40B4-BE49-F238E27FC236}">
                <a16:creationId xmlns:a16="http://schemas.microsoft.com/office/drawing/2014/main" id="{BD865608-31E9-4284-BFA6-580D75CC9F31}"/>
              </a:ext>
            </a:extLst>
          </p:cNvPr>
          <p:cNvSpPr>
            <a:spLocks xmlns:a="http://schemas.openxmlformats.org/drawingml/2006/main" noGrp="1"/>
          </p:cNvSpPr>
          <p:nvPr/>
        </p:nvSpPr>
        <p:spPr>
          <a:xfrm xmlns:a="http://schemas.openxmlformats.org/drawingml/2006/main">
            <a:off x="533400" y="48101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F5A1F"/>
                </a:solidFill>
                <a:latin typeface="Calibri"/>
                <a:ea typeface="Calibri"/>
                <a:cs typeface="Calibri"/>
              </a:defRPr>
            </a:defPPr>
          </a:lstStyle>
          <a:p xmlns:a="http://schemas.openxmlformats.org/drawingml/2006/main">
            <a:pPr>
              <a:defRPr sz="2325" b="1">
                <a:solidFill>
                  <a:srgbClr val="FF5A1F"/>
                </a:solidFill>
                <a:latin typeface="Calibri"/>
                <a:ea typeface="Calibri"/>
                <a:cs typeface="Calibri"/>
              </a:defRPr>
            </a:pPr>
            <a:r>
              <a:rPr sz="2325" b="1">
                <a:solidFill>
                  <a:srgbClr val="FF5A1F"/>
                </a:solidFill>
                <a:latin typeface="Calibri"/>
                <a:ea typeface="Calibri"/>
                <a:cs typeface="Calibri"/>
              </a:rPr>
              <a:t>Discussion: which objective, review capacity and interventions should guide the pilot?</a:t>
            </a:r>
          </a:p>
        </p:txBody>
      </p:sp>
      <p:sp>
        <p:nvSpPr>
          <p:cNvPr id="10" name="">
            <a:extLst xmlns:a="http://schemas.openxmlformats.org/drawingml/2006/main">
              <a:ext uri="{FF2B5EF4-FFF2-40B4-BE49-F238E27FC236}">
                <a16:creationId xmlns:a16="http://schemas.microsoft.com/office/drawing/2014/main" id="{B32A26FB-A489-4909-AFD0-6C85860969FF}"/>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Synthetic results demonstrate ranking behavior. A future controlled pilot must test whether actions improve actual retention.</a:t>
            </a:r>
          </a:p>
        </p:txBody>
      </p:sp>
    </p:spTree>
    <p:extLst>
      <p:ext uri="{BB962C8B-B14F-4D97-AF65-F5344CB8AC3E}">
        <p14:creationId xmlns:p14="http://schemas.microsoft.com/office/powerpoint/2010/main" val="2040087428"/>
      </p:ext>
    </p:extLst>
  </p:cSld>
</p:sld>
</file>

<file path=ppt/slides/slide24.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D08D22-58CF-46FD-ADB0-1452605B3F5D}"/>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5A3E94-70CB-45D3-9E40-9227DE74197B}"/>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D8975F-2A96-433E-9937-51AAAD900EB7}"/>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Discussion</a:t>
            </a:r>
          </a:p>
        </p:txBody>
      </p:sp>
      <p:sp>
        <p:nvSpPr>
          <p:cNvPr id="4" name="">
            <a:extLst xmlns:a="http://schemas.openxmlformats.org/drawingml/2006/main">
              <a:ext uri="{FF2B5EF4-FFF2-40B4-BE49-F238E27FC236}">
                <a16:creationId xmlns:a16="http://schemas.microsoft.com/office/drawing/2014/main" id="{D117A1B7-8CE4-40CF-956A-796C48016B42}"/>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24</a:t>
            </a:r>
          </a:p>
        </p:txBody>
      </p:sp>
      <p:sp>
        <p:nvSpPr>
          <p:cNvPr id="5" name="">
            <a:extLst xmlns:a="http://schemas.openxmlformats.org/drawingml/2006/main">
              <a:ext uri="{FF2B5EF4-FFF2-40B4-BE49-F238E27FC236}">
                <a16:creationId xmlns:a16="http://schemas.microsoft.com/office/drawing/2014/main" id="{E9824F2F-46D0-4A0C-8127-F3FA768308AE}"/>
              </a:ext>
            </a:extLst>
          </p:cNvPr>
          <p:cNvSpPr>
            <a:spLocks xmlns:a="http://schemas.openxmlformats.org/drawingml/2006/main" noGrp="1"/>
          </p:cNvSpPr>
          <p:nvPr/>
        </p:nvSpPr>
        <p:spPr>
          <a:xfrm xmlns:a="http://schemas.openxmlformats.org/drawingml/2006/main">
            <a:off x="666750" y="2095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FFFFFF"/>
                </a:solidFill>
                <a:latin typeface="Calibri"/>
                <a:ea typeface="Calibri"/>
                <a:cs typeface="Calibri"/>
              </a:defRPr>
            </a:defPPr>
          </a:lstStyle>
          <a:p xmlns:a="http://schemas.openxmlformats.org/drawingml/2006/main">
            <a:pPr>
              <a:defRPr sz="4950" b="1">
                <a:solidFill>
                  <a:srgbClr val="FFFFFF"/>
                </a:solidFill>
                <a:latin typeface="Calibri"/>
                <a:ea typeface="Calibri"/>
                <a:cs typeface="Calibri"/>
              </a:defRPr>
            </a:pPr>
            <a:r>
              <a:rPr sz="4950" b="1">
                <a:solidFill>
                  <a:srgbClr val="FFFFFF"/>
                </a:solidFill>
                <a:latin typeface="Calibri"/>
                <a:ea typeface="Calibri"/>
                <a:cs typeface="Calibri"/>
              </a:rPr>
              <a:t>Thank you</a:t>
            </a:r>
          </a:p>
        </p:txBody>
      </p:sp>
      <p:sp>
        <p:nvSpPr>
          <p:cNvPr id="6" name="">
            <a:extLst xmlns:a="http://schemas.openxmlformats.org/drawingml/2006/main">
              <a:ext uri="{FF2B5EF4-FFF2-40B4-BE49-F238E27FC236}">
                <a16:creationId xmlns:a16="http://schemas.microsoft.com/office/drawing/2014/main" id="{02D72390-71FC-4E93-8429-A48EFA768841}"/>
              </a:ext>
            </a:extLst>
          </p:cNvPr>
          <p:cNvSpPr>
            <a:spLocks xmlns:a="http://schemas.openxmlformats.org/drawingml/2006/main" noGrp="1"/>
          </p:cNvSpPr>
          <p:nvPr/>
        </p:nvSpPr>
        <p:spPr>
          <a:xfrm xmlns:a="http://schemas.openxmlformats.org/drawingml/2006/main">
            <a:off x="666750" y="3381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FF5A1F"/>
                </a:solidFill>
                <a:latin typeface="Calibri"/>
                <a:ea typeface="Calibri"/>
                <a:cs typeface="Calibri"/>
              </a:defRPr>
            </a:defPPr>
          </a:lstStyle>
          <a:p xmlns:a="http://schemas.openxmlformats.org/drawingml/2006/main">
            <a:pPr>
              <a:defRPr sz="2550" b="0">
                <a:solidFill>
                  <a:srgbClr val="FF5A1F"/>
                </a:solidFill>
                <a:latin typeface="Calibri"/>
                <a:ea typeface="Calibri"/>
                <a:cs typeface="Calibri"/>
              </a:defRPr>
            </a:pPr>
            <a:r>
              <a:rPr sz="2550" b="0">
                <a:solidFill>
                  <a:srgbClr val="FF5A1F"/>
                </a:solidFill>
                <a:latin typeface="Calibri"/>
                <a:ea typeface="Calibri"/>
                <a:cs typeface="Calibri"/>
              </a:rPr>
              <a:t>Questions and discussion</a:t>
            </a:r>
          </a:p>
        </p:txBody>
      </p:sp>
    </p:spTree>
    <p:extLst>
      <p:ext uri="{BB962C8B-B14F-4D97-AF65-F5344CB8AC3E}">
        <p14:creationId xmlns:p14="http://schemas.microsoft.com/office/powerpoint/2010/main" val="7678889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6F172C-B011-4382-A501-2D838FC84905}"/>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43AD8D-A97F-4B9D-AAF4-3F9C2FE9DA36}"/>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B0296E-B3A0-4A72-89AD-2B16DEE333D6}"/>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Appendix: simulation outcome check</a:t>
            </a:r>
          </a:p>
        </p:txBody>
      </p:sp>
      <p:sp>
        <p:nvSpPr>
          <p:cNvPr id="4" name="">
            <a:extLst xmlns:a="http://schemas.openxmlformats.org/drawingml/2006/main">
              <a:ext uri="{FF2B5EF4-FFF2-40B4-BE49-F238E27FC236}">
                <a16:creationId xmlns:a16="http://schemas.microsoft.com/office/drawing/2014/main" id="{594DCD71-BF41-4EAE-B9D6-9FD37EB9F72E}"/>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25</a:t>
            </a:r>
          </a:p>
        </p:txBody>
      </p:sp>
      <p:graphicFrame>
        <p:nvGraphicFramePr>
          <p:cNvPr id="5" name="Chart">
            <a:extLst xmlns:a="http://schemas.openxmlformats.org/drawingml/2006/main">
              <a:ext uri="{FF2B5EF4-FFF2-40B4-BE49-F238E27FC236}">
                <a16:creationId xmlns:a16="http://schemas.microsoft.com/office/drawing/2014/main" id="{2CC5F012-2D5E-43CD-B75F-A91C98344052}"/>
              </a:ext>
            </a:extLst>
          </p:cNvPr>
          <p:cNvGraphicFramePr/>
          <p:nvPr/>
        </p:nvGraphicFramePr>
        <p:xfrm>
          <a:off xmlns:a="http://schemas.openxmlformats.org/drawingml/2006/main" x="428625" y="1381125"/>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06de5fb0bc124656"/>
          </a:graphicData>
        </a:graphic>
      </p:graphicFrame>
      <p:sp>
        <p:nvSpPr>
          <p:cNvPr id="6" name="">
            <a:extLst xmlns:a="http://schemas.openxmlformats.org/drawingml/2006/main">
              <a:ext uri="{FF2B5EF4-FFF2-40B4-BE49-F238E27FC236}">
                <a16:creationId xmlns:a16="http://schemas.microsoft.com/office/drawing/2014/main" id="{886FD1D8-DA75-4B0C-B990-4FED83AD5EE7}"/>
              </a:ext>
            </a:extLst>
          </p:cNvPr>
          <p:cNvSpPr>
            <a:spLocks xmlns:a="http://schemas.openxmlformats.org/drawingml/2006/main" noGrp="1"/>
          </p:cNvSpPr>
          <p:nvPr/>
        </p:nvSpPr>
        <p:spPr>
          <a:xfrm xmlns:a="http://schemas.openxmlformats.org/drawingml/2006/main">
            <a:off x="8048625" y="152400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FF5A1F"/>
                </a:solidFill>
                <a:latin typeface="Calibri"/>
                <a:ea typeface="Calibri"/>
                <a:cs typeface="Calibri"/>
              </a:defRPr>
            </a:defPPr>
          </a:lstStyle>
          <a:p xmlns:a="http://schemas.openxmlformats.org/drawingml/2006/main">
            <a:pPr>
              <a:defRPr sz="2025" b="1">
                <a:solidFill>
                  <a:srgbClr val="FF5A1F"/>
                </a:solidFill>
                <a:latin typeface="Calibri"/>
                <a:ea typeface="Calibri"/>
                <a:cs typeface="Calibri"/>
              </a:defRPr>
            </a:pPr>
            <a:r>
              <a:rPr sz="2025" b="1">
                <a:solidFill>
                  <a:srgbClr val="FF5A1F"/>
                </a:solidFill>
                <a:latin typeface="Calibri"/>
                <a:ea typeface="Calibri"/>
                <a:cs typeface="Calibri"/>
              </a:rPr>
              <a:t>663 cancellations</a:t>
            </a:r>
          </a:p>
        </p:txBody>
      </p:sp>
      <p:sp>
        <p:nvSpPr>
          <p:cNvPr id="7" name="">
            <a:extLst xmlns:a="http://schemas.openxmlformats.org/drawingml/2006/main">
              <a:ext uri="{FF2B5EF4-FFF2-40B4-BE49-F238E27FC236}">
                <a16:creationId xmlns:a16="http://schemas.microsoft.com/office/drawing/2014/main" id="{14DB1B47-7EDA-456A-ACA9-5D54B846106D}"/>
              </a:ext>
            </a:extLst>
          </p:cNvPr>
          <p:cNvSpPr>
            <a:spLocks xmlns:a="http://schemas.openxmlformats.org/drawingml/2006/main" noGrp="1"/>
          </p:cNvSpPr>
          <p:nvPr/>
        </p:nvSpPr>
        <p:spPr>
          <a:xfrm xmlns:a="http://schemas.openxmlformats.org/drawingml/2006/main">
            <a:off x="8048625" y="2143125"/>
            <a:ext cx="34766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3313D"/>
                </a:solidFill>
                <a:latin typeface="Calibri"/>
                <a:ea typeface="Calibri"/>
                <a:cs typeface="Calibri"/>
              </a:defRPr>
            </a:defPPr>
          </a:lstStyle>
          <a:p xmlns:a="http://schemas.openxmlformats.org/drawingml/2006/main">
            <a:pPr>
              <a:defRPr sz="1875" b="0">
                <a:solidFill>
                  <a:srgbClr val="23313D"/>
                </a:solidFill>
                <a:latin typeface="Calibri"/>
                <a:ea typeface="Calibri"/>
                <a:cs typeface="Calibri"/>
              </a:defRPr>
            </a:pPr>
            <a:r>
              <a:rPr sz="1875" b="0">
                <a:solidFill>
                  <a:srgbClr val="23313D"/>
                </a:solidFill>
                <a:latin typeface="Calibri"/>
                <a:ea typeface="Calibri"/>
                <a:cs typeface="Calibri"/>
              </a:rPr>
              <a:t>Across 12,808 mature observations</a:t>
            </a:r>
          </a:p>
          <a:p xmlns:a="http://schemas.openxmlformats.org/drawingml/2006/main">
            <a:r>
              <a:t/>
            </a:r>
          </a:p>
          <a:p xmlns:a="http://schemas.openxmlformats.org/drawingml/2006/main">
            <a:pPr>
              <a:defRPr sz="1875" b="0">
                <a:solidFill>
                  <a:srgbClr val="23313D"/>
                </a:solidFill>
                <a:latin typeface="Calibri"/>
                <a:ea typeface="Calibri"/>
                <a:cs typeface="Calibri"/>
              </a:defRPr>
            </a:pPr>
            <a:r>
              <a:rPr sz="1875" b="0">
                <a:solidFill>
                  <a:srgbClr val="23313D"/>
                </a:solidFill>
                <a:latin typeface="Calibri"/>
                <a:ea typeface="Calibri"/>
                <a:cs typeface="Calibri"/>
              </a:rPr>
              <a:t>About 5.2% of contracts</a:t>
            </a:r>
          </a:p>
          <a:p xmlns:a="http://schemas.openxmlformats.org/drawingml/2006/main">
            <a:r>
              <a:t/>
            </a:r>
          </a:p>
          <a:p xmlns:a="http://schemas.openxmlformats.org/drawingml/2006/main">
            <a:pPr>
              <a:defRPr sz="1875" b="0">
                <a:solidFill>
                  <a:srgbClr val="23313D"/>
                </a:solidFill>
                <a:latin typeface="Calibri"/>
                <a:ea typeface="Calibri"/>
                <a:cs typeface="Calibri"/>
              </a:defRPr>
            </a:pPr>
            <a:r>
              <a:rPr sz="1875" b="0">
                <a:solidFill>
                  <a:srgbClr val="23313D"/>
                </a:solidFill>
                <a:latin typeface="Calibri"/>
                <a:ea typeface="Calibri"/>
                <a:cs typeface="Calibri"/>
              </a:rPr>
              <a:t>A model must do more than predict the common outcome.</a:t>
            </a:r>
          </a:p>
        </p:txBody>
      </p:sp>
      <p:sp>
        <p:nvSpPr>
          <p:cNvPr id="8" name="">
            <a:extLst xmlns:a="http://schemas.openxmlformats.org/drawingml/2006/main">
              <a:ext uri="{FF2B5EF4-FFF2-40B4-BE49-F238E27FC236}">
                <a16:creationId xmlns:a16="http://schemas.microsoft.com/office/drawing/2014/main" id="{184A8890-6649-4F47-B030-BF65401822E7}"/>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Observed contract rates differ from annual anchors. The large-enterprise group has 1 recorded cancellation.</a:t>
            </a:r>
          </a:p>
        </p:txBody>
      </p:sp>
    </p:spTree>
    <p:extLst>
      <p:ext uri="{BB962C8B-B14F-4D97-AF65-F5344CB8AC3E}">
        <p14:creationId xmlns:p14="http://schemas.microsoft.com/office/powerpoint/2010/main" val="208676838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B91D6D-0AB9-4B48-B894-0475CA4A1F55}"/>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618E09-93F6-43E9-8BEA-B88A368206B5}"/>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E19C6E-D9C2-4B36-B711-4734294B89E8}"/>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Appendix: top-20 products by order count</a:t>
            </a:r>
          </a:p>
        </p:txBody>
      </p:sp>
      <p:sp>
        <p:nvSpPr>
          <p:cNvPr id="4" name="">
            <a:extLst xmlns:a="http://schemas.openxmlformats.org/drawingml/2006/main">
              <a:ext uri="{FF2B5EF4-FFF2-40B4-BE49-F238E27FC236}">
                <a16:creationId xmlns:a16="http://schemas.microsoft.com/office/drawing/2014/main" id="{AA9C7738-9A68-4219-B86F-48EF5D5B1A73}"/>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26</a:t>
            </a:r>
          </a:p>
        </p:txBody>
      </p:sp>
      <p:graphicFrame>
        <p:nvGraphicFramePr>
          <p:cNvPr id="5" name="">
            <a:extLst xmlns:a="http://schemas.openxmlformats.org/drawingml/2006/main">
              <a:ext uri="{FF2B5EF4-FFF2-40B4-BE49-F238E27FC236}">
                <a16:creationId xmlns:a16="http://schemas.microsoft.com/office/drawing/2014/main" id="{31C032F8-022F-4F50-A4FD-E162B6C78AF1}"/>
              </a:ext>
            </a:extLst>
          </p:cNvPr>
          <p:cNvGraphicFramePr/>
          <p:nvPr/>
        </p:nvGraphicFramePr>
        <p:xfrm>
          <a:off xmlns:a="http://schemas.openxmlformats.org/drawingml/2006/main" x="533400" y="1266825"/>
          <a:ext xmlns:a="http://schemas.openxmlformats.org/drawingml/2006/main" cx="5467350" cy="4762500"/>
        </p:xfrm>
        <a:graphic xmlns:a="http://schemas.openxmlformats.org/drawingml/2006/main">
          <a:graphicData uri="http://schemas.openxmlformats.org/drawingml/2006/table">
            <a:tbl>
              <a:tblPr/>
              <a:tblGrid>
                <a:gridCol w="666750"/>
                <a:gridCol w="3657600"/>
                <a:gridCol w="1143000"/>
              </a:tblGrid>
              <a:tr h="432955">
                <a:tc>
                  <a:txBody>
                    <a:bodyPr/>
                    <a:lstStyle/>
                    <a:p>
                      <a:r>
                        <a:rPr sz="1500" b="1">
                          <a:solidFill>
                            <a:srgbClr val="FFFFFF"/>
                          </a:solidFill>
                          <a:latin typeface="Calibri"/>
                          <a:ea typeface="Calibri"/>
                          <a:cs typeface="Calibri"/>
                        </a:rPr>
                        <a:t>No.</a:t>
                      </a:r>
                    </a:p>
                  </a:txBody>
                  <a:tcPr marL="114300" marR="114300" marT="38100" marB="381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500" b="1">
                          <a:solidFill>
                            <a:srgbClr val="FFFFFF"/>
                          </a:solidFill>
                          <a:latin typeface="Calibri"/>
                          <a:ea typeface="Calibri"/>
                          <a:cs typeface="Calibri"/>
                        </a:rPr>
                        <a:t>Product</a:t>
                      </a:r>
                    </a:p>
                  </a:txBody>
                  <a:tcPr marL="114300" marR="114300" marT="38100" marB="381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500" b="1">
                          <a:solidFill>
                            <a:srgbClr val="FFFFFF"/>
                          </a:solidFill>
                          <a:latin typeface="Calibri"/>
                          <a:ea typeface="Calibri"/>
                          <a:cs typeface="Calibri"/>
                        </a:rPr>
                        <a:t>Orders</a:t>
                      </a:r>
                    </a:p>
                  </a:txBody>
                  <a:tcPr marL="114300" marR="114300" marT="38100" marB="381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432955">
                <a:tc>
                  <a:txBody>
                    <a:bodyPr/>
                    <a:lstStyle/>
                    <a:p>
                      <a:r>
                        <a:rPr sz="1500">
                          <a:solidFill>
                            <a:srgbClr val="23313D"/>
                          </a:solidFill>
                          <a:latin typeface="Calibri"/>
                          <a:ea typeface="Calibri"/>
                          <a:cs typeface="Calibri"/>
                        </a:rPr>
                        <a:t>1</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Enhanced Support</a:t>
                      </a:r>
                    </a:p>
                  </a:txBody>
                  <a:tcPr marL="114300" marR="114300" marT="38100" marB="38100">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12,713</a:t>
                      </a:r>
                    </a:p>
                  </a:txBody>
                  <a:tcPr marL="114300" marR="114300" marT="38100" marB="38100">
                    <a:lnR w="5715">
                      <a:solidFill>
                        <a:srgbClr val="D3DCE2"/>
                      </a:solidFill>
                      <a:prstDash val="solid"/>
                    </a:lnR>
                    <a:lnB w="5715">
                      <a:solidFill>
                        <a:srgbClr val="D3DCE2"/>
                      </a:solidFill>
                      <a:prstDash val="solid"/>
                    </a:lnB>
                    <a:solidFill>
                      <a:srgbClr val="FFFFFF"/>
                    </a:solidFill>
                  </a:tcPr>
                </a:tc>
              </a:tr>
              <a:tr h="432955">
                <a:tc>
                  <a:txBody>
                    <a:bodyPr/>
                    <a:lstStyle/>
                    <a:p>
                      <a:r>
                        <a:rPr sz="1500">
                          <a:solidFill>
                            <a:srgbClr val="23313D"/>
                          </a:solidFill>
                          <a:latin typeface="Calibri"/>
                          <a:ea typeface="Calibri"/>
                          <a:cs typeface="Calibri"/>
                        </a:rPr>
                        <a:t>2</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CN-Series Container NGFW</a:t>
                      </a:r>
                    </a:p>
                  </a:txBody>
                  <a:tcPr marL="114300" marR="114300" marT="38100" marB="38100">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7,560</a:t>
                      </a:r>
                    </a:p>
                  </a:txBody>
                  <a:tcPr marL="114300" marR="114300" marT="38100" marB="38100">
                    <a:lnR w="5715">
                      <a:solidFill>
                        <a:srgbClr val="D3DCE2"/>
                      </a:solidFill>
                      <a:prstDash val="solid"/>
                    </a:lnR>
                    <a:lnB w="5715">
                      <a:solidFill>
                        <a:srgbClr val="D3DCE2"/>
                      </a:solidFill>
                      <a:prstDash val="solid"/>
                    </a:lnB>
                    <a:solidFill>
                      <a:srgbClr val="F1F4F6"/>
                    </a:solidFill>
                  </a:tcPr>
                </a:tc>
              </a:tr>
              <a:tr h="432955">
                <a:tc>
                  <a:txBody>
                    <a:bodyPr/>
                    <a:lstStyle/>
                    <a:p>
                      <a:r>
                        <a:rPr sz="1500">
                          <a:solidFill>
                            <a:srgbClr val="23313D"/>
                          </a:solidFill>
                          <a:latin typeface="Calibri"/>
                          <a:ea typeface="Calibri"/>
                          <a:cs typeface="Calibri"/>
                        </a:rPr>
                        <a:t>3</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VM-Series vNGFW</a:t>
                      </a:r>
                    </a:p>
                  </a:txBody>
                  <a:tcPr marL="114300" marR="114300" marT="38100" marB="38100">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5,949</a:t>
                      </a:r>
                    </a:p>
                  </a:txBody>
                  <a:tcPr marL="114300" marR="114300" marT="38100" marB="38100">
                    <a:lnR w="5715">
                      <a:solidFill>
                        <a:srgbClr val="D3DCE2"/>
                      </a:solidFill>
                      <a:prstDash val="solid"/>
                    </a:lnR>
                    <a:lnB w="5715">
                      <a:solidFill>
                        <a:srgbClr val="D3DCE2"/>
                      </a:solidFill>
                      <a:prstDash val="solid"/>
                    </a:lnB>
                    <a:solidFill>
                      <a:srgbClr val="FFFFFF"/>
                    </a:solidFill>
                  </a:tcPr>
                </a:tc>
              </a:tr>
              <a:tr h="432955">
                <a:tc>
                  <a:txBody>
                    <a:bodyPr/>
                    <a:lstStyle/>
                    <a:p>
                      <a:r>
                        <a:rPr sz="1500">
                          <a:solidFill>
                            <a:srgbClr val="23313D"/>
                          </a:solidFill>
                          <a:latin typeface="Calibri"/>
                          <a:ea typeface="Calibri"/>
                          <a:cs typeface="Calibri"/>
                        </a:rPr>
                        <a:t>4</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Premium Support</a:t>
                      </a:r>
                    </a:p>
                  </a:txBody>
                  <a:tcPr marL="114300" marR="114300" marT="38100" marB="38100">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3,764</a:t>
                      </a:r>
                    </a:p>
                  </a:txBody>
                  <a:tcPr marL="114300" marR="114300" marT="38100" marB="38100">
                    <a:lnR w="5715">
                      <a:solidFill>
                        <a:srgbClr val="D3DCE2"/>
                      </a:solidFill>
                      <a:prstDash val="solid"/>
                    </a:lnR>
                    <a:lnB w="5715">
                      <a:solidFill>
                        <a:srgbClr val="D3DCE2"/>
                      </a:solidFill>
                      <a:prstDash val="solid"/>
                    </a:lnB>
                    <a:solidFill>
                      <a:srgbClr val="F1F4F6"/>
                    </a:solidFill>
                  </a:tcPr>
                </a:tc>
              </a:tr>
              <a:tr h="432955">
                <a:tc>
                  <a:txBody>
                    <a:bodyPr/>
                    <a:lstStyle/>
                    <a:p>
                      <a:r>
                        <a:rPr sz="1500">
                          <a:solidFill>
                            <a:srgbClr val="23313D"/>
                          </a:solidFill>
                          <a:latin typeface="Calibri"/>
                          <a:ea typeface="Calibri"/>
                          <a:cs typeface="Calibri"/>
                        </a:rPr>
                        <a:t>5</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Cortex XDR</a:t>
                      </a:r>
                    </a:p>
                  </a:txBody>
                  <a:tcPr marL="114300" marR="114300" marT="38100" marB="38100">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3,379</a:t>
                      </a:r>
                    </a:p>
                  </a:txBody>
                  <a:tcPr marL="114300" marR="114300" marT="38100" marB="38100">
                    <a:lnR w="5715">
                      <a:solidFill>
                        <a:srgbClr val="D3DCE2"/>
                      </a:solidFill>
                      <a:prstDash val="solid"/>
                    </a:lnR>
                    <a:lnB w="5715">
                      <a:solidFill>
                        <a:srgbClr val="D3DCE2"/>
                      </a:solidFill>
                      <a:prstDash val="solid"/>
                    </a:lnB>
                    <a:solidFill>
                      <a:srgbClr val="FFFFFF"/>
                    </a:solidFill>
                  </a:tcPr>
                </a:tc>
              </a:tr>
              <a:tr h="432955">
                <a:tc>
                  <a:txBody>
                    <a:bodyPr/>
                    <a:lstStyle/>
                    <a:p>
                      <a:r>
                        <a:rPr sz="1500">
                          <a:solidFill>
                            <a:srgbClr val="23313D"/>
                          </a:solidFill>
                          <a:latin typeface="Calibri"/>
                          <a:ea typeface="Calibri"/>
                          <a:cs typeface="Calibri"/>
                        </a:rPr>
                        <a:t>6</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GlobalProtect</a:t>
                      </a:r>
                    </a:p>
                  </a:txBody>
                  <a:tcPr marL="114300" marR="114300" marT="38100" marB="38100">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3,105</a:t>
                      </a:r>
                    </a:p>
                  </a:txBody>
                  <a:tcPr marL="114300" marR="114300" marT="38100" marB="38100">
                    <a:lnR w="5715">
                      <a:solidFill>
                        <a:srgbClr val="D3DCE2"/>
                      </a:solidFill>
                      <a:prstDash val="solid"/>
                    </a:lnR>
                    <a:lnB w="5715">
                      <a:solidFill>
                        <a:srgbClr val="D3DCE2"/>
                      </a:solidFill>
                      <a:prstDash val="solid"/>
                    </a:lnB>
                    <a:solidFill>
                      <a:srgbClr val="F1F4F6"/>
                    </a:solidFill>
                  </a:tcPr>
                </a:tc>
              </a:tr>
              <a:tr h="432955">
                <a:tc>
                  <a:txBody>
                    <a:bodyPr/>
                    <a:lstStyle/>
                    <a:p>
                      <a:r>
                        <a:rPr sz="1500">
                          <a:solidFill>
                            <a:srgbClr val="23313D"/>
                          </a:solidFill>
                          <a:latin typeface="Calibri"/>
                          <a:ea typeface="Calibri"/>
                          <a:cs typeface="Calibri"/>
                        </a:rPr>
                        <a:t>7</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Prisma Access Mobile Users</a:t>
                      </a:r>
                    </a:p>
                  </a:txBody>
                  <a:tcPr marL="114300" marR="114300" marT="38100" marB="38100">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2,878</a:t>
                      </a:r>
                    </a:p>
                  </a:txBody>
                  <a:tcPr marL="114300" marR="114300" marT="38100" marB="38100">
                    <a:lnR w="5715">
                      <a:solidFill>
                        <a:srgbClr val="D3DCE2"/>
                      </a:solidFill>
                      <a:prstDash val="solid"/>
                    </a:lnR>
                    <a:lnB w="5715">
                      <a:solidFill>
                        <a:srgbClr val="D3DCE2"/>
                      </a:solidFill>
                      <a:prstDash val="solid"/>
                    </a:lnB>
                    <a:solidFill>
                      <a:srgbClr val="FFFFFF"/>
                    </a:solidFill>
                  </a:tcPr>
                </a:tc>
              </a:tr>
              <a:tr h="432955">
                <a:tc>
                  <a:txBody>
                    <a:bodyPr/>
                    <a:lstStyle/>
                    <a:p>
                      <a:r>
                        <a:rPr sz="1500">
                          <a:solidFill>
                            <a:srgbClr val="23313D"/>
                          </a:solidFill>
                          <a:latin typeface="Calibri"/>
                          <a:ea typeface="Calibri"/>
                          <a:cs typeface="Calibri"/>
                        </a:rPr>
                        <a:t>8</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Prisma Access Remote Networks</a:t>
                      </a:r>
                    </a:p>
                  </a:txBody>
                  <a:tcPr marL="114300" marR="114300" marT="38100" marB="38100">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2,786</a:t>
                      </a:r>
                    </a:p>
                  </a:txBody>
                  <a:tcPr marL="114300" marR="114300" marT="38100" marB="38100">
                    <a:lnR w="5715">
                      <a:solidFill>
                        <a:srgbClr val="D3DCE2"/>
                      </a:solidFill>
                      <a:prstDash val="solid"/>
                    </a:lnR>
                    <a:lnB w="5715">
                      <a:solidFill>
                        <a:srgbClr val="D3DCE2"/>
                      </a:solidFill>
                      <a:prstDash val="solid"/>
                    </a:lnB>
                    <a:solidFill>
                      <a:srgbClr val="F1F4F6"/>
                    </a:solidFill>
                  </a:tcPr>
                </a:tc>
              </a:tr>
              <a:tr h="432955">
                <a:tc>
                  <a:txBody>
                    <a:bodyPr/>
                    <a:lstStyle/>
                    <a:p>
                      <a:r>
                        <a:rPr sz="1500">
                          <a:solidFill>
                            <a:srgbClr val="23313D"/>
                          </a:solidFill>
                          <a:latin typeface="Calibri"/>
                          <a:ea typeface="Calibri"/>
                          <a:cs typeface="Calibri"/>
                        </a:rPr>
                        <a:t>9</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PA-Series NGFW Enterprise</a:t>
                      </a:r>
                    </a:p>
                  </a:txBody>
                  <a:tcPr marL="114300" marR="114300" marT="38100" marB="38100">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2,428</a:t>
                      </a:r>
                    </a:p>
                  </a:txBody>
                  <a:tcPr marL="114300" marR="114300" marT="38100" marB="38100">
                    <a:lnR w="5715">
                      <a:solidFill>
                        <a:srgbClr val="D3DCE2"/>
                      </a:solidFill>
                      <a:prstDash val="solid"/>
                    </a:lnR>
                    <a:lnB w="5715">
                      <a:solidFill>
                        <a:srgbClr val="D3DCE2"/>
                      </a:solidFill>
                      <a:prstDash val="solid"/>
                    </a:lnB>
                    <a:solidFill>
                      <a:srgbClr val="FFFFFF"/>
                    </a:solidFill>
                  </a:tcPr>
                </a:tc>
              </a:tr>
              <a:tr h="432955">
                <a:tc>
                  <a:txBody>
                    <a:bodyPr/>
                    <a:lstStyle/>
                    <a:p>
                      <a:r>
                        <a:rPr sz="1500">
                          <a:solidFill>
                            <a:srgbClr val="23313D"/>
                          </a:solidFill>
                          <a:latin typeface="Calibri"/>
                          <a:ea typeface="Calibri"/>
                          <a:cs typeface="Calibri"/>
                        </a:rPr>
                        <a:t>10</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Prisma Cloud CSPM</a:t>
                      </a:r>
                    </a:p>
                  </a:txBody>
                  <a:tcPr marL="114300" marR="114300" marT="38100" marB="38100">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2,279</a:t>
                      </a:r>
                    </a:p>
                  </a:txBody>
                  <a:tcPr marL="114300" marR="114300" marT="38100" marB="38100">
                    <a:lnR w="5715">
                      <a:solidFill>
                        <a:srgbClr val="D3DCE2"/>
                      </a:solidFill>
                      <a:prstDash val="solid"/>
                    </a:lnR>
                    <a:lnB w="5715">
                      <a:solidFill>
                        <a:srgbClr val="D3DCE2"/>
                      </a:solidFill>
                      <a:prstDash val="solid"/>
                    </a:lnB>
                    <a:solidFill>
                      <a:srgbClr val="F1F4F6"/>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7940C489-6970-4243-BC1C-416C72C0C1B5}"/>
              </a:ext>
            </a:extLst>
          </p:cNvPr>
          <p:cNvGraphicFramePr/>
          <p:nvPr/>
        </p:nvGraphicFramePr>
        <p:xfrm>
          <a:off xmlns:a="http://schemas.openxmlformats.org/drawingml/2006/main" x="6191250" y="1266825"/>
          <a:ext xmlns:a="http://schemas.openxmlformats.org/drawingml/2006/main" cx="5467350" cy="4762500"/>
        </p:xfrm>
        <a:graphic xmlns:a="http://schemas.openxmlformats.org/drawingml/2006/main">
          <a:graphicData uri="http://schemas.openxmlformats.org/drawingml/2006/table">
            <a:tbl>
              <a:tblPr/>
              <a:tblGrid>
                <a:gridCol w="666750"/>
                <a:gridCol w="3657600"/>
                <a:gridCol w="1143000"/>
              </a:tblGrid>
              <a:tr h="432955">
                <a:tc>
                  <a:txBody>
                    <a:bodyPr/>
                    <a:lstStyle/>
                    <a:p>
                      <a:r>
                        <a:rPr sz="1500" b="1">
                          <a:solidFill>
                            <a:srgbClr val="FFFFFF"/>
                          </a:solidFill>
                          <a:latin typeface="Calibri"/>
                          <a:ea typeface="Calibri"/>
                          <a:cs typeface="Calibri"/>
                        </a:rPr>
                        <a:t>No.</a:t>
                      </a:r>
                    </a:p>
                  </a:txBody>
                  <a:tcPr marL="114300" marR="114300" marT="38100" marB="381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500" b="1">
                          <a:solidFill>
                            <a:srgbClr val="FFFFFF"/>
                          </a:solidFill>
                          <a:latin typeface="Calibri"/>
                          <a:ea typeface="Calibri"/>
                          <a:cs typeface="Calibri"/>
                        </a:rPr>
                        <a:t>Product</a:t>
                      </a:r>
                    </a:p>
                  </a:txBody>
                  <a:tcPr marL="114300" marR="114300" marT="38100" marB="381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500" b="1">
                          <a:solidFill>
                            <a:srgbClr val="FFFFFF"/>
                          </a:solidFill>
                          <a:latin typeface="Calibri"/>
                          <a:ea typeface="Calibri"/>
                          <a:cs typeface="Calibri"/>
                        </a:rPr>
                        <a:t>Orders</a:t>
                      </a:r>
                    </a:p>
                  </a:txBody>
                  <a:tcPr marL="114300" marR="114300" marT="38100" marB="381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432955">
                <a:tc>
                  <a:txBody>
                    <a:bodyPr/>
                    <a:lstStyle/>
                    <a:p>
                      <a:r>
                        <a:rPr sz="1500">
                          <a:solidFill>
                            <a:srgbClr val="23313D"/>
                          </a:solidFill>
                          <a:latin typeface="Calibri"/>
                          <a:ea typeface="Calibri"/>
                          <a:cs typeface="Calibri"/>
                        </a:rPr>
                        <a:t>11</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Prisma Cloud CWP</a:t>
                      </a:r>
                    </a:p>
                  </a:txBody>
                  <a:tcPr marL="114300" marR="114300" marT="38100" marB="38100">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2,238</a:t>
                      </a:r>
                    </a:p>
                  </a:txBody>
                  <a:tcPr marL="114300" marR="114300" marT="38100" marB="38100">
                    <a:lnR w="5715">
                      <a:solidFill>
                        <a:srgbClr val="D3DCE2"/>
                      </a:solidFill>
                      <a:prstDash val="solid"/>
                    </a:lnR>
                    <a:lnB w="5715">
                      <a:solidFill>
                        <a:srgbClr val="D3DCE2"/>
                      </a:solidFill>
                      <a:prstDash val="solid"/>
                    </a:lnB>
                    <a:solidFill>
                      <a:srgbClr val="FFFFFF"/>
                    </a:solidFill>
                  </a:tcPr>
                </a:tc>
              </a:tr>
              <a:tr h="432955">
                <a:tc>
                  <a:txBody>
                    <a:bodyPr/>
                    <a:lstStyle/>
                    <a:p>
                      <a:r>
                        <a:rPr sz="1500">
                          <a:solidFill>
                            <a:srgbClr val="23313D"/>
                          </a:solidFill>
                          <a:latin typeface="Calibri"/>
                          <a:ea typeface="Calibri"/>
                          <a:cs typeface="Calibri"/>
                        </a:rPr>
                        <a:t>12</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PA-Series NGFW SMB</a:t>
                      </a:r>
                    </a:p>
                  </a:txBody>
                  <a:tcPr marL="114300" marR="114300" marT="38100" marB="38100">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1,954</a:t>
                      </a:r>
                    </a:p>
                  </a:txBody>
                  <a:tcPr marL="114300" marR="114300" marT="38100" marB="38100">
                    <a:lnR w="5715">
                      <a:solidFill>
                        <a:srgbClr val="D3DCE2"/>
                      </a:solidFill>
                      <a:prstDash val="solid"/>
                    </a:lnR>
                    <a:lnB w="5715">
                      <a:solidFill>
                        <a:srgbClr val="D3DCE2"/>
                      </a:solidFill>
                      <a:prstDash val="solid"/>
                    </a:lnB>
                    <a:solidFill>
                      <a:srgbClr val="F1F4F6"/>
                    </a:solidFill>
                  </a:tcPr>
                </a:tc>
              </a:tr>
              <a:tr h="432955">
                <a:tc>
                  <a:txBody>
                    <a:bodyPr/>
                    <a:lstStyle/>
                    <a:p>
                      <a:r>
                        <a:rPr sz="1500">
                          <a:solidFill>
                            <a:srgbClr val="23313D"/>
                          </a:solidFill>
                          <a:latin typeface="Calibri"/>
                          <a:ea typeface="Calibri"/>
                          <a:cs typeface="Calibri"/>
                        </a:rPr>
                        <a:t>13</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Cortex XSOAR</a:t>
                      </a:r>
                    </a:p>
                  </a:txBody>
                  <a:tcPr marL="114300" marR="114300" marT="38100" marB="38100">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1,882</a:t>
                      </a:r>
                    </a:p>
                  </a:txBody>
                  <a:tcPr marL="114300" marR="114300" marT="38100" marB="38100">
                    <a:lnR w="5715">
                      <a:solidFill>
                        <a:srgbClr val="D3DCE2"/>
                      </a:solidFill>
                      <a:prstDash val="solid"/>
                    </a:lnR>
                    <a:lnB w="5715">
                      <a:solidFill>
                        <a:srgbClr val="D3DCE2"/>
                      </a:solidFill>
                      <a:prstDash val="solid"/>
                    </a:lnB>
                    <a:solidFill>
                      <a:srgbClr val="FFFFFF"/>
                    </a:solidFill>
                  </a:tcPr>
                </a:tc>
              </a:tr>
              <a:tr h="432955">
                <a:tc>
                  <a:txBody>
                    <a:bodyPr/>
                    <a:lstStyle/>
                    <a:p>
                      <a:r>
                        <a:rPr sz="1500">
                          <a:solidFill>
                            <a:srgbClr val="23313D"/>
                          </a:solidFill>
                          <a:latin typeface="Calibri"/>
                          <a:ea typeface="Calibri"/>
                          <a:cs typeface="Calibri"/>
                        </a:rPr>
                        <a:t>14</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Cortex Xpanse</a:t>
                      </a:r>
                    </a:p>
                  </a:txBody>
                  <a:tcPr marL="114300" marR="114300" marT="38100" marB="38100">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1,162</a:t>
                      </a:r>
                    </a:p>
                  </a:txBody>
                  <a:tcPr marL="114300" marR="114300" marT="38100" marB="38100">
                    <a:lnR w="5715">
                      <a:solidFill>
                        <a:srgbClr val="D3DCE2"/>
                      </a:solidFill>
                      <a:prstDash val="solid"/>
                    </a:lnR>
                    <a:lnB w="5715">
                      <a:solidFill>
                        <a:srgbClr val="D3DCE2"/>
                      </a:solidFill>
                      <a:prstDash val="solid"/>
                    </a:lnB>
                    <a:solidFill>
                      <a:srgbClr val="F1F4F6"/>
                    </a:solidFill>
                  </a:tcPr>
                </a:tc>
              </a:tr>
              <a:tr h="432955">
                <a:tc>
                  <a:txBody>
                    <a:bodyPr/>
                    <a:lstStyle/>
                    <a:p>
                      <a:r>
                        <a:rPr sz="1500">
                          <a:solidFill>
                            <a:srgbClr val="23313D"/>
                          </a:solidFill>
                          <a:latin typeface="Calibri"/>
                          <a:ea typeface="Calibri"/>
                          <a:cs typeface="Calibri"/>
                        </a:rPr>
                        <a:t>15</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Prisma Cloud AppSec</a:t>
                      </a:r>
                    </a:p>
                  </a:txBody>
                  <a:tcPr marL="114300" marR="114300" marT="38100" marB="38100">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1,019</a:t>
                      </a:r>
                    </a:p>
                  </a:txBody>
                  <a:tcPr marL="114300" marR="114300" marT="38100" marB="38100">
                    <a:lnR w="5715">
                      <a:solidFill>
                        <a:srgbClr val="D3DCE2"/>
                      </a:solidFill>
                      <a:prstDash val="solid"/>
                    </a:lnR>
                    <a:lnB w="5715">
                      <a:solidFill>
                        <a:srgbClr val="D3DCE2"/>
                      </a:solidFill>
                      <a:prstDash val="solid"/>
                    </a:lnB>
                    <a:solidFill>
                      <a:srgbClr val="FFFFFF"/>
                    </a:solidFill>
                  </a:tcPr>
                </a:tc>
              </a:tr>
              <a:tr h="432955">
                <a:tc>
                  <a:txBody>
                    <a:bodyPr/>
                    <a:lstStyle/>
                    <a:p>
                      <a:r>
                        <a:rPr sz="1500">
                          <a:solidFill>
                            <a:srgbClr val="23313D"/>
                          </a:solidFill>
                          <a:latin typeface="Calibri"/>
                          <a:ea typeface="Calibri"/>
                          <a:cs typeface="Calibri"/>
                        </a:rPr>
                        <a:t>16</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Prisma Cloud DSPM</a:t>
                      </a:r>
                    </a:p>
                  </a:txBody>
                  <a:tcPr marL="114300" marR="114300" marT="38100" marB="38100">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702</a:t>
                      </a:r>
                    </a:p>
                  </a:txBody>
                  <a:tcPr marL="114300" marR="114300" marT="38100" marB="38100">
                    <a:lnR w="5715">
                      <a:solidFill>
                        <a:srgbClr val="D3DCE2"/>
                      </a:solidFill>
                      <a:prstDash val="solid"/>
                    </a:lnR>
                    <a:lnB w="5715">
                      <a:solidFill>
                        <a:srgbClr val="D3DCE2"/>
                      </a:solidFill>
                      <a:prstDash val="solid"/>
                    </a:lnB>
                    <a:solidFill>
                      <a:srgbClr val="F1F4F6"/>
                    </a:solidFill>
                  </a:tcPr>
                </a:tc>
              </a:tr>
              <a:tr h="432955">
                <a:tc>
                  <a:txBody>
                    <a:bodyPr/>
                    <a:lstStyle/>
                    <a:p>
                      <a:r>
                        <a:rPr sz="1500">
                          <a:solidFill>
                            <a:srgbClr val="23313D"/>
                          </a:solidFill>
                          <a:latin typeface="Calibri"/>
                          <a:ea typeface="Calibri"/>
                          <a:cs typeface="Calibri"/>
                        </a:rPr>
                        <a:t>17</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Cortex XSIAM</a:t>
                      </a:r>
                    </a:p>
                  </a:txBody>
                  <a:tcPr marL="114300" marR="114300" marT="38100" marB="38100">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675</a:t>
                      </a:r>
                    </a:p>
                  </a:txBody>
                  <a:tcPr marL="114300" marR="114300" marT="38100" marB="38100">
                    <a:lnR w="5715">
                      <a:solidFill>
                        <a:srgbClr val="D3DCE2"/>
                      </a:solidFill>
                      <a:prstDash val="solid"/>
                    </a:lnR>
                    <a:lnB w="5715">
                      <a:solidFill>
                        <a:srgbClr val="D3DCE2"/>
                      </a:solidFill>
                      <a:prstDash val="solid"/>
                    </a:lnB>
                    <a:solidFill>
                      <a:srgbClr val="FFFFFF"/>
                    </a:solidFill>
                  </a:tcPr>
                </a:tc>
              </a:tr>
              <a:tr h="432955">
                <a:tc>
                  <a:txBody>
                    <a:bodyPr/>
                    <a:lstStyle/>
                    <a:p>
                      <a:r>
                        <a:rPr sz="1500">
                          <a:solidFill>
                            <a:srgbClr val="23313D"/>
                          </a:solidFill>
                          <a:latin typeface="Calibri"/>
                          <a:ea typeface="Calibri"/>
                          <a:cs typeface="Calibri"/>
                        </a:rPr>
                        <a:t>18</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Professional Services SMB</a:t>
                      </a:r>
                    </a:p>
                  </a:txBody>
                  <a:tcPr marL="114300" marR="114300" marT="38100" marB="38100">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517</a:t>
                      </a:r>
                    </a:p>
                  </a:txBody>
                  <a:tcPr marL="114300" marR="114300" marT="38100" marB="38100">
                    <a:lnR w="5715">
                      <a:solidFill>
                        <a:srgbClr val="D3DCE2"/>
                      </a:solidFill>
                      <a:prstDash val="solid"/>
                    </a:lnR>
                    <a:lnB w="5715">
                      <a:solidFill>
                        <a:srgbClr val="D3DCE2"/>
                      </a:solidFill>
                      <a:prstDash val="solid"/>
                    </a:lnB>
                    <a:solidFill>
                      <a:srgbClr val="F1F4F6"/>
                    </a:solidFill>
                  </a:tcPr>
                </a:tc>
              </a:tr>
              <a:tr h="432955">
                <a:tc>
                  <a:txBody>
                    <a:bodyPr/>
                    <a:lstStyle/>
                    <a:p>
                      <a:r>
                        <a:rPr sz="1500">
                          <a:solidFill>
                            <a:srgbClr val="23313D"/>
                          </a:solidFill>
                          <a:latin typeface="Calibri"/>
                          <a:ea typeface="Calibri"/>
                          <a:cs typeface="Calibri"/>
                        </a:rPr>
                        <a:t>19</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Professional Services Enterprise</a:t>
                      </a:r>
                    </a:p>
                  </a:txBody>
                  <a:tcPr marL="114300" marR="114300" marT="38100" marB="38100">
                    <a:lnR w="5715">
                      <a:solidFill>
                        <a:srgbClr val="D3DCE2"/>
                      </a:solidFill>
                      <a:prstDash val="solid"/>
                    </a:lnR>
                    <a:lnB w="5715">
                      <a:solidFill>
                        <a:srgbClr val="D3DCE2"/>
                      </a:solidFill>
                      <a:prstDash val="solid"/>
                    </a:lnB>
                    <a:solidFill>
                      <a:srgbClr val="FFFFFF"/>
                    </a:solidFill>
                  </a:tcPr>
                </a:tc>
                <a:tc>
                  <a:txBody>
                    <a:bodyPr/>
                    <a:lstStyle/>
                    <a:p>
                      <a:r>
                        <a:rPr sz="1500">
                          <a:solidFill>
                            <a:srgbClr val="23313D"/>
                          </a:solidFill>
                          <a:latin typeface="Calibri"/>
                          <a:ea typeface="Calibri"/>
                          <a:cs typeface="Calibri"/>
                        </a:rPr>
                        <a:t>508</a:t>
                      </a:r>
                    </a:p>
                  </a:txBody>
                  <a:tcPr marL="114300" marR="114300" marT="38100" marB="38100">
                    <a:lnR w="5715">
                      <a:solidFill>
                        <a:srgbClr val="D3DCE2"/>
                      </a:solidFill>
                      <a:prstDash val="solid"/>
                    </a:lnR>
                    <a:lnB w="5715">
                      <a:solidFill>
                        <a:srgbClr val="D3DCE2"/>
                      </a:solidFill>
                      <a:prstDash val="solid"/>
                    </a:lnB>
                    <a:solidFill>
                      <a:srgbClr val="FFFFFF"/>
                    </a:solidFill>
                  </a:tcPr>
                </a:tc>
              </a:tr>
              <a:tr h="432955">
                <a:tc>
                  <a:txBody>
                    <a:bodyPr/>
                    <a:lstStyle/>
                    <a:p>
                      <a:r>
                        <a:rPr sz="1500">
                          <a:solidFill>
                            <a:srgbClr val="23313D"/>
                          </a:solidFill>
                          <a:latin typeface="Calibri"/>
                          <a:ea typeface="Calibri"/>
                          <a:cs typeface="Calibri"/>
                        </a:rPr>
                        <a:t>20</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Cortex Cloud</a:t>
                      </a:r>
                    </a:p>
                  </a:txBody>
                  <a:tcPr marL="114300" marR="114300" marT="38100" marB="38100">
                    <a:lnR w="5715">
                      <a:solidFill>
                        <a:srgbClr val="D3DCE2"/>
                      </a:solidFill>
                      <a:prstDash val="solid"/>
                    </a:lnR>
                    <a:lnB w="5715">
                      <a:solidFill>
                        <a:srgbClr val="D3DCE2"/>
                      </a:solidFill>
                      <a:prstDash val="solid"/>
                    </a:lnB>
                    <a:solidFill>
                      <a:srgbClr val="F1F4F6"/>
                    </a:solidFill>
                  </a:tcPr>
                </a:tc>
                <a:tc>
                  <a:txBody>
                    <a:bodyPr/>
                    <a:lstStyle/>
                    <a:p>
                      <a:r>
                        <a:rPr sz="1500">
                          <a:solidFill>
                            <a:srgbClr val="23313D"/>
                          </a:solidFill>
                          <a:latin typeface="Calibri"/>
                          <a:ea typeface="Calibri"/>
                          <a:cs typeface="Calibri"/>
                        </a:rPr>
                        <a:t>126</a:t>
                      </a:r>
                    </a:p>
                  </a:txBody>
                  <a:tcPr marL="114300" marR="114300" marT="38100" marB="38100">
                    <a:lnR w="5715">
                      <a:solidFill>
                        <a:srgbClr val="D3DCE2"/>
                      </a:solidFill>
                      <a:prstDash val="solid"/>
                    </a:lnR>
                    <a:lnB w="5715">
                      <a:solidFill>
                        <a:srgbClr val="D3DCE2"/>
                      </a:solidFill>
                      <a:prstDash val="solid"/>
                    </a:lnB>
                    <a:solidFill>
                      <a:srgbClr val="F1F4F6"/>
                    </a:solidFill>
                  </a:tcPr>
                </a:tc>
              </a:tr>
            </a:tbl>
          </a:graphicData>
        </a:graphic>
      </p:graphicFrame>
      <p:sp>
        <p:nvSpPr>
          <p:cNvPr id="7" name="">
            <a:extLst xmlns:a="http://schemas.openxmlformats.org/drawingml/2006/main">
              <a:ext uri="{FF2B5EF4-FFF2-40B4-BE49-F238E27FC236}">
                <a16:creationId xmlns:a16="http://schemas.microsoft.com/office/drawing/2014/main" id="{A4D6CCD5-3CBF-4DFE-8BA7-8FB4A6940E42}"/>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Distinct eligible order count. Support products remain part of purchasing EDA, while the cancellation model uses security subscriptions.</a:t>
            </a:r>
          </a:p>
        </p:txBody>
      </p:sp>
    </p:spTree>
    <p:extLst>
      <p:ext uri="{BB962C8B-B14F-4D97-AF65-F5344CB8AC3E}">
        <p14:creationId xmlns:p14="http://schemas.microsoft.com/office/powerpoint/2010/main" val="5112319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955094-A13B-43B6-9AA4-AB907C4F88E5}"/>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279656-BE8B-4AA8-AE88-BDA9A8A95A3C}"/>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F5437D4-04DF-4404-8940-BB00EE525594}"/>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Appendix: health rules and model scoring</a:t>
            </a:r>
          </a:p>
        </p:txBody>
      </p:sp>
      <p:sp>
        <p:nvSpPr>
          <p:cNvPr id="4" name="">
            <a:extLst xmlns:a="http://schemas.openxmlformats.org/drawingml/2006/main">
              <a:ext uri="{FF2B5EF4-FFF2-40B4-BE49-F238E27FC236}">
                <a16:creationId xmlns:a16="http://schemas.microsoft.com/office/drawing/2014/main" id="{296C13EF-E699-4CBD-918E-B4B7B6B23F74}"/>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27</a:t>
            </a:r>
          </a:p>
        </p:txBody>
      </p:sp>
      <p:sp>
        <p:nvSpPr>
          <p:cNvPr id="5" name="">
            <a:extLst xmlns:a="http://schemas.openxmlformats.org/drawingml/2006/main">
              <a:ext uri="{FF2B5EF4-FFF2-40B4-BE49-F238E27FC236}">
                <a16:creationId xmlns:a16="http://schemas.microsoft.com/office/drawing/2014/main" id="{EC6FE9DE-A96E-40BB-B7AE-61D9D5E98ABE}"/>
              </a:ext>
            </a:extLst>
          </p:cNvPr>
          <p:cNvSpPr>
            <a:spLocks xmlns:a="http://schemas.openxmlformats.org/drawingml/2006/main" noGrp="1"/>
          </p:cNvSpPr>
          <p:nvPr/>
        </p:nvSpPr>
        <p:spPr>
          <a:xfrm xmlns:a="http://schemas.openxmlformats.org/drawingml/2006/main">
            <a:off x="533400" y="1381125"/>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F5A1F"/>
                </a:solidFill>
                <a:latin typeface="Calibri"/>
                <a:ea typeface="Calibri"/>
                <a:cs typeface="Calibri"/>
              </a:defRPr>
            </a:defPPr>
          </a:lstStyle>
          <a:p xmlns:a="http://schemas.openxmlformats.org/drawingml/2006/main">
            <a:pPr>
              <a:defRPr sz="2325" b="1">
                <a:solidFill>
                  <a:srgbClr val="FF5A1F"/>
                </a:solidFill>
                <a:latin typeface="Calibri"/>
                <a:ea typeface="Calibri"/>
                <a:cs typeface="Calibri"/>
              </a:defRPr>
            </a:pPr>
            <a:r>
              <a:rPr sz="2325" b="1">
                <a:solidFill>
                  <a:srgbClr val="FF5A1F"/>
                </a:solidFill>
                <a:latin typeface="Calibri"/>
                <a:ea typeface="Calibri"/>
                <a:cs typeface="Calibri"/>
              </a:rPr>
              <a:t>Health score =</a:t>
            </a:r>
          </a:p>
        </p:txBody>
      </p:sp>
      <p:graphicFrame>
        <p:nvGraphicFramePr>
          <p:cNvPr id="6" name="">
            <a:extLst xmlns:a="http://schemas.openxmlformats.org/drawingml/2006/main">
              <a:ext uri="{FF2B5EF4-FFF2-40B4-BE49-F238E27FC236}">
                <a16:creationId xmlns:a16="http://schemas.microsoft.com/office/drawing/2014/main" id="{2EEC35AA-3064-4F37-92B1-DFC6DC8584D5}"/>
              </a:ext>
            </a:extLst>
          </p:cNvPr>
          <p:cNvGraphicFramePr/>
          <p:nvPr/>
        </p:nvGraphicFramePr>
        <p:xfrm>
          <a:off xmlns:a="http://schemas.openxmlformats.org/drawingml/2006/main" x="533400" y="2095500"/>
          <a:ext xmlns:a="http://schemas.openxmlformats.org/drawingml/2006/main" cx="11125200" cy="2762250"/>
        </p:xfrm>
        <a:graphic xmlns:a="http://schemas.openxmlformats.org/drawingml/2006/main">
          <a:graphicData uri="http://schemas.openxmlformats.org/drawingml/2006/table">
            <a:tbl>
              <a:tblPr/>
              <a:tblGrid>
                <a:gridCol w="3143250"/>
                <a:gridCol w="1333500"/>
                <a:gridCol w="6648450"/>
              </a:tblGrid>
              <a:tr h="552450">
                <a:tc>
                  <a:txBody>
                    <a:bodyPr/>
                    <a:lstStyle/>
                    <a:p>
                      <a:r>
                        <a:rPr sz="1800" b="1">
                          <a:solidFill>
                            <a:srgbClr val="FFFFFF"/>
                          </a:solidFill>
                          <a:latin typeface="Calibri"/>
                          <a:ea typeface="Calibri"/>
                          <a:cs typeface="Calibri"/>
                        </a:rPr>
                        <a:t>Component</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800" b="1">
                          <a:solidFill>
                            <a:srgbClr val="FFFFFF"/>
                          </a:solidFill>
                          <a:latin typeface="Calibri"/>
                          <a:ea typeface="Calibri"/>
                          <a:cs typeface="Calibri"/>
                        </a:rPr>
                        <a:t>Weight</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800" b="1">
                          <a:solidFill>
                            <a:srgbClr val="FFFFFF"/>
                          </a:solidFill>
                          <a:latin typeface="Calibri"/>
                          <a:ea typeface="Calibri"/>
                          <a:cs typeface="Calibri"/>
                        </a:rPr>
                        <a:t>Calculation</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552450">
                <a:tc>
                  <a:txBody>
                    <a:bodyPr/>
                    <a:lstStyle/>
                    <a:p>
                      <a:r>
                        <a:rPr sz="1800">
                          <a:solidFill>
                            <a:srgbClr val="23313D"/>
                          </a:solidFill>
                          <a:latin typeface="Calibri"/>
                          <a:ea typeface="Calibri"/>
                          <a:cs typeface="Calibri"/>
                        </a:rPr>
                        <a:t>Deployment gap</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35%</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1 minus deployment reach</a:t>
                      </a:r>
                    </a:p>
                  </a:txBody>
                  <a:tcPr marL="114300" marR="114300" marT="76200" marB="76200">
                    <a:lnR w="5715">
                      <a:solidFill>
                        <a:srgbClr val="D3DCE2"/>
                      </a:solidFill>
                      <a:prstDash val="solid"/>
                    </a:lnR>
                    <a:lnB w="5715">
                      <a:solidFill>
                        <a:srgbClr val="D3DCE2"/>
                      </a:solidFill>
                      <a:prstDash val="solid"/>
                    </a:lnB>
                    <a:solidFill>
                      <a:srgbClr val="FFFFFF"/>
                    </a:solidFill>
                  </a:tcPr>
                </a:tc>
              </a:tr>
              <a:tr h="552450">
                <a:tc>
                  <a:txBody>
                    <a:bodyPr/>
                    <a:lstStyle/>
                    <a:p>
                      <a:r>
                        <a:rPr sz="1800">
                          <a:solidFill>
                            <a:srgbClr val="23313D"/>
                          </a:solidFill>
                          <a:latin typeface="Calibri"/>
                          <a:ea typeface="Calibri"/>
                          <a:cs typeface="Calibri"/>
                        </a:rPr>
                        <a:t>Poor workflow results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30%</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1 minus workflow success</a:t>
                      </a:r>
                    </a:p>
                  </a:txBody>
                  <a:tcPr marL="114300" marR="114300" marT="76200" marB="76200">
                    <a:lnR w="5715">
                      <a:solidFill>
                        <a:srgbClr val="D3DCE2"/>
                      </a:solidFill>
                      <a:prstDash val="solid"/>
                    </a:lnR>
                    <a:lnB w="5715">
                      <a:solidFill>
                        <a:srgbClr val="D3DCE2"/>
                      </a:solidFill>
                      <a:prstDash val="solid"/>
                    </a:lnB>
                    <a:solidFill>
                      <a:srgbClr val="F1F4F6"/>
                    </a:solidFill>
                  </a:tcPr>
                </a:tc>
              </a:tr>
              <a:tr h="552450">
                <a:tc>
                  <a:txBody>
                    <a:bodyPr/>
                    <a:lstStyle/>
                    <a:p>
                      <a:r>
                        <a:rPr sz="1800">
                          <a:solidFill>
                            <a:srgbClr val="23313D"/>
                          </a:solidFill>
                          <a:latin typeface="Calibri"/>
                          <a:ea typeface="Calibri"/>
                          <a:cs typeface="Calibri"/>
                        </a:rPr>
                        <a:t>Service pain</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25%</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800">
                          <a:solidFill>
                            <a:srgbClr val="23313D"/>
                          </a:solidFill>
                          <a:latin typeface="Calibri"/>
                          <a:ea typeface="Calibri"/>
                          <a:cs typeface="Calibri"/>
                        </a:rPr>
                        <a:t>60% impact-hours score + 40% breached-ticket score</a:t>
                      </a:r>
                    </a:p>
                  </a:txBody>
                  <a:tcPr marL="114300" marR="114300" marT="76200" marB="76200">
                    <a:lnR w="5715">
                      <a:solidFill>
                        <a:srgbClr val="D3DCE2"/>
                      </a:solidFill>
                      <a:prstDash val="solid"/>
                    </a:lnR>
                    <a:lnB w="5715">
                      <a:solidFill>
                        <a:srgbClr val="D3DCE2"/>
                      </a:solidFill>
                      <a:prstDash val="solid"/>
                    </a:lnB>
                    <a:solidFill>
                      <a:srgbClr val="FFFFFF"/>
                    </a:solidFill>
                  </a:tcPr>
                </a:tc>
              </a:tr>
              <a:tr h="552450">
                <a:tc>
                  <a:txBody>
                    <a:bodyPr/>
                    <a:lstStyle/>
                    <a:p>
                      <a:r>
                        <a:rPr sz="1800">
                          <a:solidFill>
                            <a:srgbClr val="23313D"/>
                          </a:solidFill>
                          <a:latin typeface="Calibri"/>
                          <a:ea typeface="Calibri"/>
                          <a:cs typeface="Calibri"/>
                        </a:rPr>
                        <a:t>Recorded budget concern</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10%</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800">
                          <a:solidFill>
                            <a:srgbClr val="23313D"/>
                          </a:solidFill>
                          <a:latin typeface="Calibri"/>
                          <a:ea typeface="Calibri"/>
                          <a:cs typeface="Calibri"/>
                        </a:rPr>
                        <a:t>1 if a dated concern exists, otherwise 0</a:t>
                      </a:r>
                    </a:p>
                  </a:txBody>
                  <a:tcPr marL="114300" marR="114300" marT="76200" marB="76200">
                    <a:lnR w="5715">
                      <a:solidFill>
                        <a:srgbClr val="D3DCE2"/>
                      </a:solidFill>
                      <a:prstDash val="solid"/>
                    </a:lnR>
                    <a:lnB w="5715">
                      <a:solidFill>
                        <a:srgbClr val="D3DCE2"/>
                      </a:solidFill>
                      <a:prstDash val="solid"/>
                    </a:lnB>
                    <a:solidFill>
                      <a:srgbClr val="F1F4F6"/>
                    </a:solidFill>
                  </a:tcPr>
                </a:tc>
              </a:tr>
            </a:tbl>
          </a:graphicData>
        </a:graphic>
      </p:graphicFrame>
      <p:sp>
        <p:nvSpPr>
          <p:cNvPr id="7" name="">
            <a:extLst xmlns:a="http://schemas.openxmlformats.org/drawingml/2006/main">
              <a:ext uri="{FF2B5EF4-FFF2-40B4-BE49-F238E27FC236}">
                <a16:creationId xmlns:a16="http://schemas.microsoft.com/office/drawing/2014/main" id="{F33310A1-E674-4613-847C-3397AA0D967B}"/>
              </a:ext>
            </a:extLst>
          </p:cNvPr>
          <p:cNvSpPr>
            <a:spLocks xmlns:a="http://schemas.openxmlformats.org/drawingml/2006/main" noGrp="1"/>
          </p:cNvSpPr>
          <p:nvPr/>
        </p:nvSpPr>
        <p:spPr>
          <a:xfrm xmlns:a="http://schemas.openxmlformats.org/drawingml/2006/main">
            <a:off x="533400" y="52387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8C95"/>
                </a:solidFill>
                <a:latin typeface="Calibri"/>
                <a:ea typeface="Calibri"/>
                <a:cs typeface="Calibri"/>
              </a:defRPr>
            </a:defPPr>
          </a:lstStyle>
          <a:p xmlns:a="http://schemas.openxmlformats.org/drawingml/2006/main">
            <a:pPr>
              <a:defRPr sz="1875" b="1">
                <a:solidFill>
                  <a:srgbClr val="008C95"/>
                </a:solidFill>
                <a:latin typeface="Calibri"/>
                <a:ea typeface="Calibri"/>
                <a:cs typeface="Calibri"/>
              </a:defRPr>
            </a:pPr>
            <a:r>
              <a:rPr sz="1875" b="1">
                <a:solidFill>
                  <a:srgbClr val="008C95"/>
                </a:solidFill>
                <a:latin typeface="Calibri"/>
                <a:ea typeface="Calibri"/>
                <a:cs typeface="Calibri"/>
              </a:rPr>
              <a:t>Learned model: 100 shallow trees, maximum depth 3, learning rate 0.05</a:t>
            </a:r>
          </a:p>
        </p:txBody>
      </p:sp>
      <p:sp>
        <p:nvSpPr>
          <p:cNvPr id="8" name="">
            <a:extLst xmlns:a="http://schemas.openxmlformats.org/drawingml/2006/main">
              <a:ext uri="{FF2B5EF4-FFF2-40B4-BE49-F238E27FC236}">
                <a16:creationId xmlns:a16="http://schemas.microsoft.com/office/drawing/2014/main" id="{32B53496-49CB-42E4-BB00-BDE332E8C423}"/>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Scores support relative ranking. Missing deployment reach currently receives a full gap penalty. Both scoring approaches remain uncalibrated.</a:t>
            </a:r>
          </a:p>
        </p:txBody>
      </p:sp>
    </p:spTree>
    <p:extLst>
      <p:ext uri="{BB962C8B-B14F-4D97-AF65-F5344CB8AC3E}">
        <p14:creationId xmlns:p14="http://schemas.microsoft.com/office/powerpoint/2010/main" val="131774960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F002EE-E694-45E3-90F2-18B94ED971D2}"/>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56A13B-BEFB-4B11-852F-04BA2592A5CD}"/>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0796B0-470A-4097-A4EF-87B39A033632}"/>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Appendix: robustness and uncertainty</a:t>
            </a:r>
          </a:p>
        </p:txBody>
      </p:sp>
      <p:sp>
        <p:nvSpPr>
          <p:cNvPr id="4" name="">
            <a:extLst xmlns:a="http://schemas.openxmlformats.org/drawingml/2006/main">
              <a:ext uri="{FF2B5EF4-FFF2-40B4-BE49-F238E27FC236}">
                <a16:creationId xmlns:a16="http://schemas.microsoft.com/office/drawing/2014/main" id="{0BA81288-1527-4CAD-A65E-A771A154AAFA}"/>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28</a:t>
            </a:r>
          </a:p>
        </p:txBody>
      </p:sp>
      <p:graphicFrame>
        <p:nvGraphicFramePr>
          <p:cNvPr id="5" name="">
            <a:extLst xmlns:a="http://schemas.openxmlformats.org/drawingml/2006/main">
              <a:ext uri="{FF2B5EF4-FFF2-40B4-BE49-F238E27FC236}">
                <a16:creationId xmlns:a16="http://schemas.microsoft.com/office/drawing/2014/main" id="{C430C7B4-CDF8-4B24-8373-2139CB619A1D}"/>
              </a:ext>
            </a:extLst>
          </p:cNvPr>
          <p:cNvGraphicFramePr/>
          <p:nvPr/>
        </p:nvGraphicFramePr>
        <p:xfrm>
          <a:off xmlns:a="http://schemas.openxmlformats.org/drawingml/2006/main" x="533400" y="1381125"/>
          <a:ext xmlns:a="http://schemas.openxmlformats.org/drawingml/2006/main" cx="11125200" cy="3143250"/>
        </p:xfrm>
        <a:graphic xmlns:a="http://schemas.openxmlformats.org/drawingml/2006/main">
          <a:graphicData uri="http://schemas.openxmlformats.org/drawingml/2006/table">
            <a:tbl>
              <a:tblPr/>
              <a:tblGrid>
                <a:gridCol w="4762500"/>
                <a:gridCol w="2667000"/>
                <a:gridCol w="3695700"/>
              </a:tblGrid>
              <a:tr h="449036">
                <a:tc>
                  <a:txBody>
                    <a:bodyPr/>
                    <a:lstStyle/>
                    <a:p>
                      <a:r>
                        <a:rPr sz="1725" b="1">
                          <a:solidFill>
                            <a:srgbClr val="FFFFFF"/>
                          </a:solidFill>
                          <a:latin typeface="Calibri"/>
                          <a:ea typeface="Calibri"/>
                          <a:cs typeface="Calibri"/>
                        </a:rPr>
                        <a:t>Feature block removed</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AP without block</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AP change</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449036">
                <a:tc>
                  <a:txBody>
                    <a:bodyPr/>
                    <a:lstStyle/>
                    <a:p>
                      <a:r>
                        <a:rPr sz="1725">
                          <a:solidFill>
                            <a:srgbClr val="23313D"/>
                          </a:solidFill>
                          <a:latin typeface="Calibri"/>
                          <a:ea typeface="Calibri"/>
                          <a:cs typeface="Calibri"/>
                        </a:rPr>
                        <a:t>Deployment</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0.3346</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+0.0064</a:t>
                      </a:r>
                    </a:p>
                  </a:txBody>
                  <a:tcPr marL="114300" marR="114300" marT="76200" marB="76200">
                    <a:lnR w="5715">
                      <a:solidFill>
                        <a:srgbClr val="D3DCE2"/>
                      </a:solidFill>
                      <a:prstDash val="solid"/>
                    </a:lnR>
                    <a:lnB w="5715">
                      <a:solidFill>
                        <a:srgbClr val="D3DCE2"/>
                      </a:solidFill>
                      <a:prstDash val="solid"/>
                    </a:lnB>
                    <a:solidFill>
                      <a:srgbClr val="FFFFFF"/>
                    </a:solidFill>
                  </a:tcPr>
                </a:tc>
              </a:tr>
              <a:tr h="449036">
                <a:tc>
                  <a:txBody>
                    <a:bodyPr/>
                    <a:lstStyle/>
                    <a:p>
                      <a:r>
                        <a:rPr sz="1725">
                          <a:solidFill>
                            <a:srgbClr val="23313D"/>
                          </a:solidFill>
                          <a:latin typeface="Calibri"/>
                          <a:ea typeface="Calibri"/>
                          <a:cs typeface="Calibri"/>
                        </a:rPr>
                        <a:t>Productive use</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0.2436</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-0.0846</a:t>
                      </a:r>
                    </a:p>
                  </a:txBody>
                  <a:tcPr marL="114300" marR="114300" marT="76200" marB="76200">
                    <a:lnR w="5715">
                      <a:solidFill>
                        <a:srgbClr val="D3DCE2"/>
                      </a:solidFill>
                      <a:prstDash val="solid"/>
                    </a:lnR>
                    <a:lnB w="5715">
                      <a:solidFill>
                        <a:srgbClr val="D3DCE2"/>
                      </a:solidFill>
                      <a:prstDash val="solid"/>
                    </a:lnB>
                    <a:solidFill>
                      <a:srgbClr val="F1F4F6"/>
                    </a:solidFill>
                  </a:tcPr>
                </a:tc>
              </a:tr>
              <a:tr h="449036">
                <a:tc>
                  <a:txBody>
                    <a:bodyPr/>
                    <a:lstStyle/>
                    <a:p>
                      <a:r>
                        <a:rPr sz="1725">
                          <a:solidFill>
                            <a:srgbClr val="23313D"/>
                          </a:solidFill>
                          <a:latin typeface="Calibri"/>
                          <a:ea typeface="Calibri"/>
                          <a:cs typeface="Calibri"/>
                        </a:rPr>
                        <a:t>Coverage</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0.3240</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-0.0042</a:t>
                      </a:r>
                    </a:p>
                  </a:txBody>
                  <a:tcPr marL="114300" marR="114300" marT="76200" marB="76200">
                    <a:lnR w="5715">
                      <a:solidFill>
                        <a:srgbClr val="D3DCE2"/>
                      </a:solidFill>
                      <a:prstDash val="solid"/>
                    </a:lnR>
                    <a:lnB w="5715">
                      <a:solidFill>
                        <a:srgbClr val="D3DCE2"/>
                      </a:solidFill>
                      <a:prstDash val="solid"/>
                    </a:lnB>
                    <a:solidFill>
                      <a:srgbClr val="FFFFFF"/>
                    </a:solidFill>
                  </a:tcPr>
                </a:tc>
              </a:tr>
              <a:tr h="449036">
                <a:tc>
                  <a:txBody>
                    <a:bodyPr/>
                    <a:lstStyle/>
                    <a:p>
                      <a:r>
                        <a:rPr sz="1725">
                          <a:solidFill>
                            <a:srgbClr val="23313D"/>
                          </a:solidFill>
                          <a:latin typeface="Calibri"/>
                          <a:ea typeface="Calibri"/>
                          <a:cs typeface="Calibri"/>
                        </a:rPr>
                        <a:t>Support</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0.3267</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-0.0015</a:t>
                      </a:r>
                    </a:p>
                  </a:txBody>
                  <a:tcPr marL="114300" marR="114300" marT="76200" marB="76200">
                    <a:lnR w="5715">
                      <a:solidFill>
                        <a:srgbClr val="D3DCE2"/>
                      </a:solidFill>
                      <a:prstDash val="solid"/>
                    </a:lnR>
                    <a:lnB w="5715">
                      <a:solidFill>
                        <a:srgbClr val="D3DCE2"/>
                      </a:solidFill>
                      <a:prstDash val="solid"/>
                    </a:lnB>
                    <a:solidFill>
                      <a:srgbClr val="F1F4F6"/>
                    </a:solidFill>
                  </a:tcPr>
                </a:tc>
              </a:tr>
              <a:tr h="449036">
                <a:tc>
                  <a:txBody>
                    <a:bodyPr/>
                    <a:lstStyle/>
                    <a:p>
                      <a:r>
                        <a:rPr sz="1725">
                          <a:solidFill>
                            <a:srgbClr val="23313D"/>
                          </a:solidFill>
                          <a:latin typeface="Calibri"/>
                          <a:ea typeface="Calibri"/>
                          <a:cs typeface="Calibri"/>
                        </a:rPr>
                        <a:t>Commercial</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0.3240</a:t>
                      </a:r>
                    </a:p>
                  </a:txBody>
                  <a:tcPr marL="114300" marR="114300" marT="76200" marB="76200">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-0.0042</a:t>
                      </a:r>
                    </a:p>
                  </a:txBody>
                  <a:tcPr marL="114300" marR="114300" marT="76200" marB="76200">
                    <a:lnR w="5715">
                      <a:solidFill>
                        <a:srgbClr val="D3DCE2"/>
                      </a:solidFill>
                      <a:prstDash val="solid"/>
                    </a:lnR>
                    <a:lnB w="5715">
                      <a:solidFill>
                        <a:srgbClr val="D3DCE2"/>
                      </a:solidFill>
                      <a:prstDash val="solid"/>
                    </a:lnB>
                    <a:solidFill>
                      <a:srgbClr val="FFFFFF"/>
                    </a:solidFill>
                  </a:tcPr>
                </a:tc>
              </a:tr>
              <a:tr h="449036">
                <a:tc>
                  <a:txBody>
                    <a:bodyPr/>
                    <a:lstStyle/>
                    <a:p>
                      <a:r>
                        <a:rPr sz="1725">
                          <a:solidFill>
                            <a:srgbClr val="23313D"/>
                          </a:solidFill>
                          <a:latin typeface="Calibri"/>
                          <a:ea typeface="Calibri"/>
                          <a:cs typeface="Calibri"/>
                        </a:rPr>
                        <a:t>Relationship</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0.3272</a:t>
                      </a:r>
                    </a:p>
                  </a:txBody>
                  <a:tcPr marL="114300" marR="114300" marT="76200" marB="76200">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-0.0010</a:t>
                      </a:r>
                    </a:p>
                  </a:txBody>
                  <a:tcPr marL="114300" marR="114300" marT="76200" marB="76200">
                    <a:lnR w="5715">
                      <a:solidFill>
                        <a:srgbClr val="D3DCE2"/>
                      </a:solidFill>
                      <a:prstDash val="solid"/>
                    </a:lnR>
                    <a:lnB w="5715">
                      <a:solidFill>
                        <a:srgbClr val="D3DCE2"/>
                      </a:solidFill>
                      <a:prstDash val="solid"/>
                    </a:lnB>
                    <a:solidFill>
                      <a:srgbClr val="F1F4F6"/>
                    </a:solidFill>
                  </a:tcPr>
                </a:tc>
              </a:tr>
            </a:tbl>
          </a:graphicData>
        </a:graphic>
      </p:graphicFrame>
      <p:sp>
        <p:nvSpPr>
          <p:cNvPr id="6" name="">
            <a:extLst xmlns:a="http://schemas.openxmlformats.org/drawingml/2006/main">
              <a:ext uri="{FF2B5EF4-FFF2-40B4-BE49-F238E27FC236}">
                <a16:creationId xmlns:a16="http://schemas.microsoft.com/office/drawing/2014/main" id="{54DCADD7-BF9A-40AA-8079-9B5E82BE0116}"/>
              </a:ext>
            </a:extLst>
          </p:cNvPr>
          <p:cNvSpPr>
            <a:spLocks xmlns:a="http://schemas.openxmlformats.org/drawingml/2006/main" noGrp="1"/>
          </p:cNvSpPr>
          <p:nvPr/>
        </p:nvSpPr>
        <p:spPr>
          <a:xfrm xmlns:a="http://schemas.openxmlformats.org/drawingml/2006/main">
            <a:off x="533400" y="5000625"/>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3313D"/>
                </a:solidFill>
                <a:latin typeface="Calibri"/>
                <a:ea typeface="Calibri"/>
                <a:cs typeface="Calibri"/>
              </a:defRPr>
            </a:defPPr>
          </a:lstStyle>
          <a:p xmlns:a="http://schemas.openxmlformats.org/drawingml/2006/main">
            <a:pPr>
              <a:defRPr sz="1875" b="0">
                <a:solidFill>
                  <a:srgbClr val="23313D"/>
                </a:solidFill>
                <a:latin typeface="Calibri"/>
                <a:ea typeface="Calibri"/>
                <a:cs typeface="Calibri"/>
              </a:defRPr>
            </a:pPr>
            <a:r>
              <a:rPr sz="1875" b="0">
                <a:solidFill>
                  <a:srgbClr val="23313D"/>
                </a:solidFill>
                <a:latin typeface="Calibri"/>
                <a:ea typeface="Calibri"/>
                <a:cs typeface="Calibri"/>
              </a:rPr>
              <a:t>Unseen-parent check: 1,079 observations, 50 cancellations. Refit AP 0.3131.</a:t>
            </a:r>
          </a:p>
        </p:txBody>
      </p:sp>
      <p:sp>
        <p:nvSpPr>
          <p:cNvPr id="7" name="">
            <a:extLst xmlns:a="http://schemas.openxmlformats.org/drawingml/2006/main">
              <a:ext uri="{FF2B5EF4-FFF2-40B4-BE49-F238E27FC236}">
                <a16:creationId xmlns:a16="http://schemas.microsoft.com/office/drawing/2014/main" id="{D31B1C93-4488-4861-9731-8A923719B360}"/>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Same model settings for block tests. A sensitivity result or a favorable point estimate does not establish a robust business improvement.</a:t>
            </a:r>
          </a:p>
        </p:txBody>
      </p:sp>
    </p:spTree>
    <p:extLst>
      <p:ext uri="{BB962C8B-B14F-4D97-AF65-F5344CB8AC3E}">
        <p14:creationId xmlns:p14="http://schemas.microsoft.com/office/powerpoint/2010/main" val="141064478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B96B19-EEA4-4DE0-A136-19040B95C021}"/>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96A7FF-E273-472E-B363-10FBC4D1ED66}"/>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01C11B-3CCC-49CA-AB33-97397C89565F}"/>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Subscription value reconciliation</a:t>
            </a:r>
          </a:p>
        </p:txBody>
      </p:sp>
      <p:sp>
        <p:nvSpPr>
          <p:cNvPr id="4" name="">
            <a:extLst xmlns:a="http://schemas.openxmlformats.org/drawingml/2006/main">
              <a:ext uri="{FF2B5EF4-FFF2-40B4-BE49-F238E27FC236}">
                <a16:creationId xmlns:a16="http://schemas.microsoft.com/office/drawing/2014/main" id="{B6F1BC6B-5E03-40B8-9626-0648947AFB9B}"/>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29</a:t>
            </a:r>
          </a:p>
        </p:txBody>
      </p:sp>
      <p:graphicFrame>
        <p:nvGraphicFramePr>
          <p:cNvPr id="5" name="">
            <a:extLst xmlns:a="http://schemas.openxmlformats.org/drawingml/2006/main">
              <a:ext uri="{FF2B5EF4-FFF2-40B4-BE49-F238E27FC236}">
                <a16:creationId xmlns:a16="http://schemas.microsoft.com/office/drawing/2014/main" id="{465C84ED-AD3E-4F0C-A9F0-E18F773C0565}"/>
              </a:ext>
            </a:extLst>
          </p:cNvPr>
          <p:cNvGraphicFramePr/>
          <p:nvPr/>
        </p:nvGraphicFramePr>
        <p:xfrm>
          <a:off xmlns:a="http://schemas.openxmlformats.org/drawingml/2006/main" x="533400" y="1190625"/>
          <a:ext xmlns:a="http://schemas.openxmlformats.org/drawingml/2006/main" cx="11125200" cy="4667250"/>
        </p:xfrm>
        <a:graphic xmlns:a="http://schemas.openxmlformats.org/drawingml/2006/main">
          <a:graphicData uri="http://schemas.openxmlformats.org/drawingml/2006/table">
            <a:tbl>
              <a:tblPr/>
              <a:tblGrid>
                <a:gridCol w="7620000"/>
                <a:gridCol w="3505200"/>
              </a:tblGrid>
              <a:tr h="388938">
                <a:tc>
                  <a:txBody>
                    <a:bodyPr/>
                    <a:lstStyle/>
                    <a:p>
                      <a:r>
                        <a:rPr sz="1575" b="1">
                          <a:solidFill>
                            <a:srgbClr val="FFFFFF"/>
                          </a:solidFill>
                          <a:latin typeface="Calibri"/>
                          <a:ea typeface="Calibri"/>
                          <a:cs typeface="Calibri"/>
                        </a:rPr>
                        <a:t>Component</a:t>
                      </a:r>
                    </a:p>
                  </a:txBody>
                  <a:tcPr marL="114300" marR="114300" marT="38100" marB="381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575" b="1">
                          <a:solidFill>
                            <a:srgbClr val="FFFFFF"/>
                          </a:solidFill>
                          <a:latin typeface="Calibri"/>
                          <a:ea typeface="Calibri"/>
                          <a:cs typeface="Calibri"/>
                        </a:rPr>
                        <a:t>Change / value ($M)</a:t>
                      </a:r>
                    </a:p>
                  </a:txBody>
                  <a:tcPr marL="114300" marR="114300" marT="38100" marB="381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388938">
                <a:tc>
                  <a:txBody>
                    <a:bodyPr/>
                    <a:lstStyle/>
                    <a:p>
                      <a:r>
                        <a:rPr sz="1575">
                          <a:solidFill>
                            <a:srgbClr val="23313D"/>
                          </a:solidFill>
                          <a:latin typeface="Calibri"/>
                          <a:ea typeface="Calibri"/>
                          <a:cs typeface="Calibri"/>
                        </a:rPr>
                        <a:t>Opening annual recurring value</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75">
                          <a:solidFill>
                            <a:srgbClr val="23313D"/>
                          </a:solidFill>
                          <a:latin typeface="Calibri"/>
                          <a:ea typeface="Calibri"/>
                          <a:cs typeface="Calibri"/>
                        </a:rPr>
                        <a:t>850.0</a:t>
                      </a:r>
                    </a:p>
                  </a:txBody>
                  <a:tcPr marL="114300" marR="114300" marT="38100" marB="38100">
                    <a:lnR w="5715">
                      <a:solidFill>
                        <a:srgbClr val="D3DCE2"/>
                      </a:solidFill>
                      <a:prstDash val="solid"/>
                    </a:lnR>
                    <a:lnB w="5715">
                      <a:solidFill>
                        <a:srgbClr val="D3DCE2"/>
                      </a:solidFill>
                      <a:prstDash val="solid"/>
                    </a:lnB>
                    <a:solidFill>
                      <a:srgbClr val="FFFFFF"/>
                    </a:solidFill>
                  </a:tcPr>
                </a:tc>
              </a:tr>
              <a:tr h="388938">
                <a:tc>
                  <a:txBody>
                    <a:bodyPr/>
                    <a:lstStyle/>
                    <a:p>
                      <a:r>
                        <a:rPr sz="1575">
                          <a:solidFill>
                            <a:srgbClr val="23313D"/>
                          </a:solidFill>
                          <a:latin typeface="Calibri"/>
                          <a:ea typeface="Calibri"/>
                          <a:cs typeface="Calibri"/>
                        </a:rPr>
                        <a:t>Account loss</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75">
                          <a:solidFill>
                            <a:srgbClr val="23313D"/>
                          </a:solidFill>
                          <a:latin typeface="Calibri"/>
                          <a:ea typeface="Calibri"/>
                          <a:cs typeface="Calibri"/>
                        </a:rPr>
                        <a:t>−9.7</a:t>
                      </a:r>
                    </a:p>
                  </a:txBody>
                  <a:tcPr marL="114300" marR="114300" marT="38100" marB="38100">
                    <a:lnR w="5715">
                      <a:solidFill>
                        <a:srgbClr val="D3DCE2"/>
                      </a:solidFill>
                      <a:prstDash val="solid"/>
                    </a:lnR>
                    <a:lnB w="5715">
                      <a:solidFill>
                        <a:srgbClr val="D3DCE2"/>
                      </a:solidFill>
                      <a:prstDash val="solid"/>
                    </a:lnB>
                    <a:solidFill>
                      <a:srgbClr val="F1F4F6"/>
                    </a:solidFill>
                  </a:tcPr>
                </a:tc>
              </a:tr>
              <a:tr h="388938">
                <a:tc>
                  <a:txBody>
                    <a:bodyPr/>
                    <a:lstStyle/>
                    <a:p>
                      <a:r>
                        <a:rPr sz="1575">
                          <a:solidFill>
                            <a:srgbClr val="23313D"/>
                          </a:solidFill>
                          <a:latin typeface="Calibri"/>
                          <a:ea typeface="Calibri"/>
                          <a:cs typeface="Calibri"/>
                        </a:rPr>
                        <a:t>Partial product loss</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75">
                          <a:solidFill>
                            <a:srgbClr val="23313D"/>
                          </a:solidFill>
                          <a:latin typeface="Calibri"/>
                          <a:ea typeface="Calibri"/>
                          <a:cs typeface="Calibri"/>
                        </a:rPr>
                        <a:t>−21.5</a:t>
                      </a:r>
                    </a:p>
                  </a:txBody>
                  <a:tcPr marL="114300" marR="114300" marT="38100" marB="38100">
                    <a:lnR w="5715">
                      <a:solidFill>
                        <a:srgbClr val="D3DCE2"/>
                      </a:solidFill>
                      <a:prstDash val="solid"/>
                    </a:lnR>
                    <a:lnB w="5715">
                      <a:solidFill>
                        <a:srgbClr val="D3DCE2"/>
                      </a:solidFill>
                      <a:prstDash val="solid"/>
                    </a:lnB>
                    <a:solidFill>
                      <a:srgbClr val="FFFFFF"/>
                    </a:solidFill>
                  </a:tcPr>
                </a:tc>
              </a:tr>
              <a:tr h="388938">
                <a:tc>
                  <a:txBody>
                    <a:bodyPr/>
                    <a:lstStyle/>
                    <a:p>
                      <a:r>
                        <a:rPr sz="1575">
                          <a:solidFill>
                            <a:srgbClr val="23313D"/>
                          </a:solidFill>
                          <a:latin typeface="Calibri"/>
                          <a:ea typeface="Calibri"/>
                          <a:cs typeface="Calibri"/>
                        </a:rPr>
                        <a:t>Expansion</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75">
                          <a:solidFill>
                            <a:srgbClr val="23313D"/>
                          </a:solidFill>
                          <a:latin typeface="Calibri"/>
                          <a:ea typeface="Calibri"/>
                          <a:cs typeface="Calibri"/>
                        </a:rPr>
                        <a:t>+9.9</a:t>
                      </a:r>
                    </a:p>
                  </a:txBody>
                  <a:tcPr marL="114300" marR="114300" marT="38100" marB="38100">
                    <a:lnR w="5715">
                      <a:solidFill>
                        <a:srgbClr val="D3DCE2"/>
                      </a:solidFill>
                      <a:prstDash val="solid"/>
                    </a:lnR>
                    <a:lnB w="5715">
                      <a:solidFill>
                        <a:srgbClr val="D3DCE2"/>
                      </a:solidFill>
                      <a:prstDash val="solid"/>
                    </a:lnB>
                    <a:solidFill>
                      <a:srgbClr val="F1F4F6"/>
                    </a:solidFill>
                  </a:tcPr>
                </a:tc>
              </a:tr>
              <a:tr h="388938">
                <a:tc>
                  <a:txBody>
                    <a:bodyPr/>
                    <a:lstStyle/>
                    <a:p>
                      <a:r>
                        <a:rPr sz="1575">
                          <a:solidFill>
                            <a:srgbClr val="23313D"/>
                          </a:solidFill>
                          <a:latin typeface="Calibri"/>
                          <a:ea typeface="Calibri"/>
                          <a:cs typeface="Calibri"/>
                        </a:rPr>
                        <a:t>Contraction</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75">
                          <a:solidFill>
                            <a:srgbClr val="23313D"/>
                          </a:solidFill>
                          <a:latin typeface="Calibri"/>
                          <a:ea typeface="Calibri"/>
                          <a:cs typeface="Calibri"/>
                        </a:rPr>
                        <a:t>-3.1</a:t>
                      </a:r>
                    </a:p>
                  </a:txBody>
                  <a:tcPr marL="114300" marR="114300" marT="38100" marB="38100">
                    <a:lnR w="5715">
                      <a:solidFill>
                        <a:srgbClr val="D3DCE2"/>
                      </a:solidFill>
                      <a:prstDash val="solid"/>
                    </a:lnR>
                    <a:lnB w="5715">
                      <a:solidFill>
                        <a:srgbClr val="D3DCE2"/>
                      </a:solidFill>
                      <a:prstDash val="solid"/>
                    </a:lnB>
                    <a:solidFill>
                      <a:srgbClr val="FFFFFF"/>
                    </a:solidFill>
                  </a:tcPr>
                </a:tc>
              </a:tr>
              <a:tr h="388938">
                <a:tc>
                  <a:txBody>
                    <a:bodyPr/>
                    <a:lstStyle/>
                    <a:p>
                      <a:r>
                        <a:rPr sz="1575">
                          <a:solidFill>
                            <a:srgbClr val="23313D"/>
                          </a:solidFill>
                          <a:latin typeface="Calibri"/>
                          <a:ea typeface="Calibri"/>
                          <a:cs typeface="Calibri"/>
                        </a:rPr>
                        <a:t>New business</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75">
                          <a:solidFill>
                            <a:srgbClr val="23313D"/>
                          </a:solidFill>
                          <a:latin typeface="Calibri"/>
                          <a:ea typeface="Calibri"/>
                          <a:cs typeface="Calibri"/>
                        </a:rPr>
                        <a:t>+115.6</a:t>
                      </a:r>
                    </a:p>
                  </a:txBody>
                  <a:tcPr marL="114300" marR="114300" marT="38100" marB="38100">
                    <a:lnR w="5715">
                      <a:solidFill>
                        <a:srgbClr val="D3DCE2"/>
                      </a:solidFill>
                      <a:prstDash val="solid"/>
                    </a:lnR>
                    <a:lnB w="5715">
                      <a:solidFill>
                        <a:srgbClr val="D3DCE2"/>
                      </a:solidFill>
                      <a:prstDash val="solid"/>
                    </a:lnB>
                    <a:solidFill>
                      <a:srgbClr val="F1F4F6"/>
                    </a:solidFill>
                  </a:tcPr>
                </a:tc>
              </a:tr>
              <a:tr h="388938">
                <a:tc>
                  <a:txBody>
                    <a:bodyPr/>
                    <a:lstStyle/>
                    <a:p>
                      <a:r>
                        <a:rPr sz="1575">
                          <a:solidFill>
                            <a:srgbClr val="23313D"/>
                          </a:solidFill>
                          <a:latin typeface="Calibri"/>
                          <a:ea typeface="Calibri"/>
                          <a:cs typeface="Calibri"/>
                        </a:rPr>
                        <a:t>Reactivation</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75">
                          <a:solidFill>
                            <a:srgbClr val="23313D"/>
                          </a:solidFill>
                          <a:latin typeface="Calibri"/>
                          <a:ea typeface="Calibri"/>
                          <a:cs typeface="Calibri"/>
                        </a:rPr>
                        <a:t>+3.6</a:t>
                      </a:r>
                    </a:p>
                  </a:txBody>
                  <a:tcPr marL="114300" marR="114300" marT="38100" marB="38100">
                    <a:lnR w="5715">
                      <a:solidFill>
                        <a:srgbClr val="D3DCE2"/>
                      </a:solidFill>
                      <a:prstDash val="solid"/>
                    </a:lnR>
                    <a:lnB w="5715">
                      <a:solidFill>
                        <a:srgbClr val="D3DCE2"/>
                      </a:solidFill>
                      <a:prstDash val="solid"/>
                    </a:lnB>
                    <a:solidFill>
                      <a:srgbClr val="FFFFFF"/>
                    </a:solidFill>
                  </a:tcPr>
                </a:tc>
              </a:tr>
              <a:tr h="388938">
                <a:tc>
                  <a:txBody>
                    <a:bodyPr/>
                    <a:lstStyle/>
                    <a:p>
                      <a:r>
                        <a:rPr sz="1575">
                          <a:solidFill>
                            <a:srgbClr val="23313D"/>
                          </a:solidFill>
                          <a:latin typeface="Calibri"/>
                          <a:ea typeface="Calibri"/>
                          <a:cs typeface="Calibri"/>
                        </a:rPr>
                        <a:t>Renewal gaps</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75">
                          <a:solidFill>
                            <a:srgbClr val="23313D"/>
                          </a:solidFill>
                          <a:latin typeface="Calibri"/>
                          <a:ea typeface="Calibri"/>
                          <a:cs typeface="Calibri"/>
                        </a:rPr>
                        <a:t>+11.30</a:t>
                      </a:r>
                    </a:p>
                  </a:txBody>
                  <a:tcPr marL="114300" marR="114300" marT="38100" marB="38100">
                    <a:lnR w="5715">
                      <a:solidFill>
                        <a:srgbClr val="D3DCE2"/>
                      </a:solidFill>
                      <a:prstDash val="solid"/>
                    </a:lnR>
                    <a:lnB w="5715">
                      <a:solidFill>
                        <a:srgbClr val="D3DCE2"/>
                      </a:solidFill>
                      <a:prstDash val="solid"/>
                    </a:lnB>
                    <a:solidFill>
                      <a:srgbClr val="F1F4F6"/>
                    </a:solidFill>
                  </a:tcPr>
                </a:tc>
              </a:tr>
              <a:tr h="388938">
                <a:tc>
                  <a:txBody>
                    <a:bodyPr/>
                    <a:lstStyle/>
                    <a:p>
                      <a:r>
                        <a:rPr sz="1575">
                          <a:solidFill>
                            <a:srgbClr val="23313D"/>
                          </a:solidFill>
                          <a:latin typeface="Calibri"/>
                          <a:ea typeface="Calibri"/>
                          <a:cs typeface="Calibri"/>
                        </a:rPr>
                        <a:t>Unresolved lineage</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75">
                          <a:solidFill>
                            <a:srgbClr val="23313D"/>
                          </a:solidFill>
                          <a:latin typeface="Calibri"/>
                          <a:ea typeface="Calibri"/>
                          <a:cs typeface="Calibri"/>
                        </a:rPr>
                        <a:t>+1.09</a:t>
                      </a:r>
                    </a:p>
                  </a:txBody>
                  <a:tcPr marL="114300" marR="114300" marT="38100" marB="38100">
                    <a:lnR w="5715">
                      <a:solidFill>
                        <a:srgbClr val="D3DCE2"/>
                      </a:solidFill>
                      <a:prstDash val="solid"/>
                    </a:lnR>
                    <a:lnB w="5715">
                      <a:solidFill>
                        <a:srgbClr val="D3DCE2"/>
                      </a:solidFill>
                      <a:prstDash val="solid"/>
                    </a:lnB>
                    <a:solidFill>
                      <a:srgbClr val="FFFFFF"/>
                    </a:solidFill>
                  </a:tcPr>
                </a:tc>
              </a:tr>
              <a:tr h="388938">
                <a:tc>
                  <a:txBody>
                    <a:bodyPr/>
                    <a:lstStyle/>
                    <a:p>
                      <a:r>
                        <a:rPr sz="1575">
                          <a:solidFill>
                            <a:srgbClr val="23313D"/>
                          </a:solidFill>
                          <a:latin typeface="Calibri"/>
                          <a:ea typeface="Calibri"/>
                          <a:cs typeface="Calibri"/>
                        </a:rPr>
                        <a:t>Residual</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575">
                          <a:solidFill>
                            <a:srgbClr val="23313D"/>
                          </a:solidFill>
                          <a:latin typeface="Calibri"/>
                          <a:ea typeface="Calibri"/>
                          <a:cs typeface="Calibri"/>
                        </a:rPr>
                        <a:t>0.00</a:t>
                      </a:r>
                    </a:p>
                  </a:txBody>
                  <a:tcPr marL="114300" marR="114300" marT="38100" marB="38100">
                    <a:lnR w="5715">
                      <a:solidFill>
                        <a:srgbClr val="D3DCE2"/>
                      </a:solidFill>
                      <a:prstDash val="solid"/>
                    </a:lnR>
                    <a:lnB w="5715">
                      <a:solidFill>
                        <a:srgbClr val="D3DCE2"/>
                      </a:solidFill>
                      <a:prstDash val="solid"/>
                    </a:lnB>
                    <a:solidFill>
                      <a:srgbClr val="F1F4F6"/>
                    </a:solidFill>
                  </a:tcPr>
                </a:tc>
              </a:tr>
              <a:tr h="388938">
                <a:tc>
                  <a:txBody>
                    <a:bodyPr/>
                    <a:lstStyle/>
                    <a:p>
                      <a:r>
                        <a:rPr sz="1575">
                          <a:solidFill>
                            <a:srgbClr val="23313D"/>
                          </a:solidFill>
                          <a:latin typeface="Calibri"/>
                          <a:ea typeface="Calibri"/>
                          <a:cs typeface="Calibri"/>
                        </a:rPr>
                        <a:t>Closing annual recurring value</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575">
                          <a:solidFill>
                            <a:srgbClr val="23313D"/>
                          </a:solidFill>
                          <a:latin typeface="Calibri"/>
                          <a:ea typeface="Calibri"/>
                          <a:cs typeface="Calibri"/>
                        </a:rPr>
                        <a:t>957.1</a:t>
                      </a:r>
                    </a:p>
                  </a:txBody>
                  <a:tcPr marL="114300" marR="114300" marT="38100" marB="38100">
                    <a:lnR w="5715">
                      <a:solidFill>
                        <a:srgbClr val="D3DCE2"/>
                      </a:solidFill>
                      <a:prstDash val="solid"/>
                    </a:lnR>
                    <a:lnB w="5715">
                      <a:solidFill>
                        <a:srgbClr val="D3DCE2"/>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BA02216-8601-4CD7-94B8-071D501F249D}"/>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October 2024 to September 2025. Snapshot losses differ from confirmed cancellation events. Unrounded source bridge reconciles to zero.</a:t>
            </a:r>
          </a:p>
        </p:txBody>
      </p:sp>
    </p:spTree>
    <p:extLst>
      <p:ext uri="{BB962C8B-B14F-4D97-AF65-F5344CB8AC3E}">
        <p14:creationId xmlns:p14="http://schemas.microsoft.com/office/powerpoint/2010/main" val="117259820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BFB4FD-AF29-4A98-831D-0DA3971B9AEB}"/>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DE562C-F3EC-428A-A106-1A15F2328436}"/>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33ED5F8-0B9F-4FFA-9FC5-6121DB931F81}"/>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Appendix: pilot design and sample size</a:t>
            </a:r>
          </a:p>
        </p:txBody>
      </p:sp>
      <p:sp>
        <p:nvSpPr>
          <p:cNvPr id="4" name="">
            <a:extLst xmlns:a="http://schemas.openxmlformats.org/drawingml/2006/main">
              <a:ext uri="{FF2B5EF4-FFF2-40B4-BE49-F238E27FC236}">
                <a16:creationId xmlns:a16="http://schemas.microsoft.com/office/drawing/2014/main" id="{DB5EDDB6-7424-4CD1-A9D0-54A8B78A7B0F}"/>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30</a:t>
            </a:r>
          </a:p>
        </p:txBody>
      </p:sp>
      <p:graphicFrame>
        <p:nvGraphicFramePr>
          <p:cNvPr id="5" name="">
            <a:extLst xmlns:a="http://schemas.openxmlformats.org/drawingml/2006/main">
              <a:ext uri="{FF2B5EF4-FFF2-40B4-BE49-F238E27FC236}">
                <a16:creationId xmlns:a16="http://schemas.microsoft.com/office/drawing/2014/main" id="{26CDC813-E634-4DF0-9553-C8F6F24A9CC2}"/>
              </a:ext>
            </a:extLst>
          </p:cNvPr>
          <p:cNvGraphicFramePr/>
          <p:nvPr/>
        </p:nvGraphicFramePr>
        <p:xfrm>
          <a:off xmlns:a="http://schemas.openxmlformats.org/drawingml/2006/main" x="533400" y="1381125"/>
          <a:ext xmlns:a="http://schemas.openxmlformats.org/drawingml/2006/main" cx="11125200" cy="3714750"/>
        </p:xfrm>
        <a:graphic xmlns:a="http://schemas.openxmlformats.org/drawingml/2006/main">
          <a:graphicData uri="http://schemas.openxmlformats.org/drawingml/2006/table">
            <a:tbl>
              <a:tblPr/>
              <a:tblGrid>
                <a:gridCol w="3143250"/>
                <a:gridCol w="7981950"/>
              </a:tblGrid>
              <a:tr h="530679">
                <a:tc>
                  <a:txBody>
                    <a:bodyPr/>
                    <a:lstStyle/>
                    <a:p>
                      <a:r>
                        <a:rPr sz="1725" b="1">
                          <a:solidFill>
                            <a:srgbClr val="FFFFFF"/>
                          </a:solidFill>
                          <a:latin typeface="Calibri"/>
                          <a:ea typeface="Calibri"/>
                          <a:cs typeface="Calibri"/>
                        </a:rPr>
                        <a:t>Design choice</a:t>
                      </a:r>
                    </a:p>
                  </a:txBody>
                  <a:tcPr marL="114300" marR="114300" marT="76200" marB="762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Working proposal</a:t>
                      </a:r>
                    </a:p>
                  </a:txBody>
                  <a:tcPr marL="114300" marR="114300" marT="76200" marB="762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530679">
                <a:tc>
                  <a:txBody>
                    <a:bodyPr/>
                    <a:lstStyle/>
                    <a:p>
                      <a:r>
                        <a:rPr sz="1725">
                          <a:solidFill>
                            <a:srgbClr val="23313D"/>
                          </a:solidFill>
                          <a:latin typeface="Calibri"/>
                          <a:ea typeface="Calibri"/>
                          <a:cs typeface="Calibri"/>
                        </a:rPr>
                        <a:t>Assignment</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Screen first, then randomize by parent organization</a:t>
                      </a:r>
                    </a:p>
                  </a:txBody>
                  <a:tcPr marL="114300" marR="114300" marT="76200" marB="76200">
                    <a:lnR w="5715">
                      <a:solidFill>
                        <a:srgbClr val="D3DCE2"/>
                      </a:solidFill>
                      <a:prstDash val="solid"/>
                    </a:lnR>
                    <a:lnB w="5715">
                      <a:solidFill>
                        <a:srgbClr val="D3DCE2"/>
                      </a:solidFill>
                      <a:prstDash val="solid"/>
                    </a:lnB>
                    <a:solidFill>
                      <a:srgbClr val="FFFFFF"/>
                    </a:solidFill>
                  </a:tcPr>
                </a:tc>
              </a:tr>
              <a:tr h="530679">
                <a:tc>
                  <a:txBody>
                    <a:bodyPr/>
                    <a:lstStyle/>
                    <a:p>
                      <a:r>
                        <a:rPr sz="1725">
                          <a:solidFill>
                            <a:srgbClr val="23313D"/>
                          </a:solidFill>
                          <a:latin typeface="Calibri"/>
                          <a:ea typeface="Calibri"/>
                          <a:cs typeface="Calibri"/>
                        </a:rPr>
                        <a:t>Treatment</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A named customer-success owner and an agreed recovery milestone</a:t>
                      </a:r>
                    </a:p>
                  </a:txBody>
                  <a:tcPr marL="114300" marR="114300" marT="76200" marB="76200">
                    <a:lnR w="5715">
                      <a:solidFill>
                        <a:srgbClr val="D3DCE2"/>
                      </a:solidFill>
                      <a:prstDash val="solid"/>
                    </a:lnR>
                    <a:lnB w="5715">
                      <a:solidFill>
                        <a:srgbClr val="D3DCE2"/>
                      </a:solidFill>
                      <a:prstDash val="solid"/>
                    </a:lnB>
                    <a:solidFill>
                      <a:srgbClr val="F1F4F6"/>
                    </a:solidFill>
                  </a:tcPr>
                </a:tc>
              </a:tr>
              <a:tr h="530679">
                <a:tc>
                  <a:txBody>
                    <a:bodyPr/>
                    <a:lstStyle/>
                    <a:p>
                      <a:r>
                        <a:rPr sz="1725">
                          <a:solidFill>
                            <a:srgbClr val="23313D"/>
                          </a:solidFill>
                          <a:latin typeface="Calibri"/>
                          <a:ea typeface="Calibri"/>
                          <a:cs typeface="Calibri"/>
                        </a:rPr>
                        <a:t>Primary outcome</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Recorded cancellation through expiry + 90 days</a:t>
                      </a:r>
                    </a:p>
                  </a:txBody>
                  <a:tcPr marL="114300" marR="114300" marT="76200" marB="76200">
                    <a:lnR w="5715">
                      <a:solidFill>
                        <a:srgbClr val="D3DCE2"/>
                      </a:solidFill>
                      <a:prstDash val="solid"/>
                    </a:lnR>
                    <a:lnB w="5715">
                      <a:solidFill>
                        <a:srgbClr val="D3DCE2"/>
                      </a:solidFill>
                      <a:prstDash val="solid"/>
                    </a:lnB>
                    <a:solidFill>
                      <a:srgbClr val="FFFFFF"/>
                    </a:solidFill>
                  </a:tcPr>
                </a:tc>
              </a:tr>
              <a:tr h="530679">
                <a:tc>
                  <a:txBody>
                    <a:bodyPr/>
                    <a:lstStyle/>
                    <a:p>
                      <a:r>
                        <a:rPr sz="1725">
                          <a:solidFill>
                            <a:srgbClr val="23313D"/>
                          </a:solidFill>
                          <a:latin typeface="Calibri"/>
                          <a:ea typeface="Calibri"/>
                          <a:cs typeface="Calibri"/>
                        </a:rPr>
                        <a:t>Delivery measures</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Timely contact, action completed, staff time and product recovery</a:t>
                      </a:r>
                    </a:p>
                  </a:txBody>
                  <a:tcPr marL="114300" marR="114300" marT="76200" marB="76200">
                    <a:lnR w="5715">
                      <a:solidFill>
                        <a:srgbClr val="D3DCE2"/>
                      </a:solidFill>
                      <a:prstDash val="solid"/>
                    </a:lnR>
                    <a:lnB w="5715">
                      <a:solidFill>
                        <a:srgbClr val="D3DCE2"/>
                      </a:solidFill>
                      <a:prstDash val="solid"/>
                    </a:lnB>
                    <a:solidFill>
                      <a:srgbClr val="F1F4F6"/>
                    </a:solidFill>
                  </a:tcPr>
                </a:tc>
              </a:tr>
              <a:tr h="530679">
                <a:tc>
                  <a:txBody>
                    <a:bodyPr/>
                    <a:lstStyle/>
                    <a:p>
                      <a:r>
                        <a:rPr sz="1725">
                          <a:solidFill>
                            <a:srgbClr val="23313D"/>
                          </a:solidFill>
                          <a:latin typeface="Calibri"/>
                          <a:ea typeface="Calibri"/>
                          <a:cs typeface="Calibri"/>
                        </a:rPr>
                        <a:t>Illustrative power</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15% to 9% cancellation requires about 460 independent accounts per arm</a:t>
                      </a:r>
                    </a:p>
                  </a:txBody>
                  <a:tcPr marL="114300" marR="114300" marT="76200" marB="76200">
                    <a:lnR w="5715">
                      <a:solidFill>
                        <a:srgbClr val="D3DCE2"/>
                      </a:solidFill>
                      <a:prstDash val="solid"/>
                    </a:lnR>
                    <a:lnB w="5715">
                      <a:solidFill>
                        <a:srgbClr val="D3DCE2"/>
                      </a:solidFill>
                      <a:prstDash val="solid"/>
                    </a:lnB>
                    <a:solidFill>
                      <a:srgbClr val="FFFFFF"/>
                    </a:solidFill>
                  </a:tcPr>
                </a:tc>
              </a:tr>
              <a:tr h="530679">
                <a:tc>
                  <a:txBody>
                    <a:bodyPr/>
                    <a:lstStyle/>
                    <a:p>
                      <a:r>
                        <a:rPr sz="1725">
                          <a:solidFill>
                            <a:srgbClr val="23313D"/>
                          </a:solidFill>
                          <a:latin typeface="Calibri"/>
                          <a:ea typeface="Calibri"/>
                          <a:cs typeface="Calibri"/>
                        </a:rPr>
                        <a:t>Interpretation</a:t>
                      </a:r>
                    </a:p>
                  </a:txBody>
                  <a:tcPr marL="114300" marR="114300" marT="76200" marB="762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A small pilot tests delivery. A larger trial is needed to estimate effect.</a:t>
                      </a:r>
                    </a:p>
                  </a:txBody>
                  <a:tcPr marL="114300" marR="114300" marT="76200" marB="76200">
                    <a:lnR w="5715">
                      <a:solidFill>
                        <a:srgbClr val="D3DCE2"/>
                      </a:solidFill>
                      <a:prstDash val="solid"/>
                    </a:lnR>
                    <a:lnB w="5715">
                      <a:solidFill>
                        <a:srgbClr val="D3DCE2"/>
                      </a:solidFill>
                      <a:prstDash val="solid"/>
                    </a:lnB>
                    <a:solidFill>
                      <a:srgbClr val="F1F4F6"/>
                    </a:solidFill>
                  </a:tcPr>
                </a:tc>
              </a:tr>
            </a:tbl>
          </a:graphicData>
        </a:graphic>
      </p:graphicFrame>
      <p:sp>
        <p:nvSpPr>
          <p:cNvPr id="6" name="">
            <a:extLst xmlns:a="http://schemas.openxmlformats.org/drawingml/2006/main">
              <a:ext uri="{FF2B5EF4-FFF2-40B4-BE49-F238E27FC236}">
                <a16:creationId xmlns:a16="http://schemas.microsoft.com/office/drawing/2014/main" id="{51BC709E-B4D7-4A38-A2B5-AAE844F6637D}"/>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The 15% baseline and 6 percentage-point improvement are assumptions. Recalculate for enrollment, parent clustering and attrition.</a:t>
            </a:r>
          </a:p>
        </p:txBody>
      </p:sp>
    </p:spTree>
    <p:extLst>
      <p:ext uri="{BB962C8B-B14F-4D97-AF65-F5344CB8AC3E}">
        <p14:creationId xmlns:p14="http://schemas.microsoft.com/office/powerpoint/2010/main" val="2268342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091E44-5F72-40D2-832E-814659579AAF}"/>
              </a:ext>
            </a:extLst>
          </p:cNvPr>
          <p:cNvSpPr>
            <a:spLocks xmlns:a="http://schemas.openxmlformats.org/drawingml/2006/main" noGrp="1"/>
          </p:cNvSpPr>
          <p:nvPr/>
        </p:nvSpPr>
        <p:spPr>
          <a:xfrm xmlns:a="http://schemas.openxmlformats.org/drawingml/2006/main">
            <a:off x="0" y="0"/>
            <a:ext cx="12192000" cy="857250"/>
          </a:xfrm>
          <a:prstGeom xmlns:a="http://schemas.openxmlformats.org/drawingml/2006/main" prst="rect">
            <a:avLst/>
          </a:prstGeom>
          <a:solidFill xmlns:a="http://schemas.openxmlformats.org/drawingml/2006/main">
            <a:srgbClr val="0D1B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6FB436-16DD-43E7-9743-2144D7957D1A}"/>
              </a:ext>
            </a:extLst>
          </p:cNvPr>
          <p:cNvSpPr>
            <a:spLocks xmlns:a="http://schemas.openxmlformats.org/drawingml/2006/main" noGrp="1"/>
          </p:cNvSpPr>
          <p:nvPr/>
        </p:nvSpPr>
        <p:spPr>
          <a:xfrm xmlns:a="http://schemas.openxmlformats.org/drawingml/2006/main">
            <a:off x="0" y="857250"/>
            <a:ext cx="12192000" cy="38100"/>
          </a:xfrm>
          <a:prstGeom xmlns:a="http://schemas.openxmlformats.org/drawingml/2006/main" prst="rect">
            <a:avLst/>
          </a:prstGeom>
          <a:solidFill xmlns:a="http://schemas.openxmlformats.org/drawingml/2006/main">
            <a:srgbClr val="FF5A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5AB0F27-D61F-4E31-8F3C-74CCA3C73E99}"/>
              </a:ext>
            </a:extLst>
          </p:cNvPr>
          <p:cNvSpPr>
            <a:spLocks xmlns:a="http://schemas.openxmlformats.org/drawingml/2006/main" noGrp="1"/>
          </p:cNvSpPr>
          <p:nvPr/>
        </p:nvSpPr>
        <p:spPr>
          <a:xfrm xmlns:a="http://schemas.openxmlformats.org/drawingml/2006/main">
            <a:off x="533400" y="2190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Appendix: business and modeling terms</a:t>
            </a:r>
          </a:p>
        </p:txBody>
      </p:sp>
      <p:sp>
        <p:nvSpPr>
          <p:cNvPr id="4" name="">
            <a:extLst xmlns:a="http://schemas.openxmlformats.org/drawingml/2006/main">
              <a:ext uri="{FF2B5EF4-FFF2-40B4-BE49-F238E27FC236}">
                <a16:creationId xmlns:a16="http://schemas.microsoft.com/office/drawing/2014/main" id="{A4CC13E7-D9AD-43AB-B356-C18F0C865DC5}"/>
              </a:ext>
            </a:extLst>
          </p:cNvPr>
          <p:cNvSpPr>
            <a:spLocks xmlns:a="http://schemas.openxmlformats.org/drawingml/2006/main" noGrp="1"/>
          </p:cNvSpPr>
          <p:nvPr/>
        </p:nvSpPr>
        <p:spPr>
          <a:xfrm xmlns:a="http://schemas.openxmlformats.org/drawingml/2006/main">
            <a:off x="11534775" y="2286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FF5A1F"/>
                </a:solidFill>
                <a:latin typeface="Calibri"/>
                <a:ea typeface="Calibri"/>
                <a:cs typeface="Calibri"/>
              </a:defRPr>
            </a:defPPr>
          </a:lstStyle>
          <a:p xmlns:a="http://schemas.openxmlformats.org/drawingml/2006/main">
            <a:pPr>
              <a:defRPr sz="1575" b="1">
                <a:solidFill>
                  <a:srgbClr val="FF5A1F"/>
                </a:solidFill>
                <a:latin typeface="Calibri"/>
                <a:ea typeface="Calibri"/>
                <a:cs typeface="Calibri"/>
              </a:defRPr>
            </a:pPr>
            <a:r>
              <a:rPr sz="1575" b="1">
                <a:solidFill>
                  <a:srgbClr val="FF5A1F"/>
                </a:solidFill>
                <a:latin typeface="Calibri"/>
                <a:ea typeface="Calibri"/>
                <a:cs typeface="Calibri"/>
              </a:rPr>
              <a:t>31</a:t>
            </a:r>
          </a:p>
        </p:txBody>
      </p:sp>
      <p:graphicFrame>
        <p:nvGraphicFramePr>
          <p:cNvPr id="5" name="">
            <a:extLst xmlns:a="http://schemas.openxmlformats.org/drawingml/2006/main">
              <a:ext uri="{FF2B5EF4-FFF2-40B4-BE49-F238E27FC236}">
                <a16:creationId xmlns:a16="http://schemas.microsoft.com/office/drawing/2014/main" id="{071EB77C-97E5-414F-A565-D202A73F9EB4}"/>
              </a:ext>
            </a:extLst>
          </p:cNvPr>
          <p:cNvGraphicFramePr/>
          <p:nvPr/>
        </p:nvGraphicFramePr>
        <p:xfrm>
          <a:off xmlns:a="http://schemas.openxmlformats.org/drawingml/2006/main" x="533400" y="1333500"/>
          <a:ext xmlns:a="http://schemas.openxmlformats.org/drawingml/2006/main" cx="11125200" cy="4238625"/>
        </p:xfrm>
        <a:graphic xmlns:a="http://schemas.openxmlformats.org/drawingml/2006/main">
          <a:graphicData uri="http://schemas.openxmlformats.org/drawingml/2006/table">
            <a:tbl>
              <a:tblPr/>
              <a:tblGrid>
                <a:gridCol w="3619500"/>
                <a:gridCol w="7505700"/>
              </a:tblGrid>
              <a:tr h="529828">
                <a:tc>
                  <a:txBody>
                    <a:bodyPr/>
                    <a:lstStyle/>
                    <a:p>
                      <a:r>
                        <a:rPr sz="1725" b="1">
                          <a:solidFill>
                            <a:srgbClr val="FFFFFF"/>
                          </a:solidFill>
                          <a:latin typeface="Calibri"/>
                          <a:ea typeface="Calibri"/>
                          <a:cs typeface="Calibri"/>
                        </a:rPr>
                        <a:t>Term</a:t>
                      </a:r>
                    </a:p>
                  </a:txBody>
                  <a:tcPr marL="114300" marR="114300" marT="38100" marB="38100">
                    <a:lnL w="5715">
                      <a:solidFill>
                        <a:srgbClr val="D3DCE2"/>
                      </a:solidFill>
                      <a:prstDash val="solid"/>
                    </a:lnL>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c>
                  <a:txBody>
                    <a:bodyPr/>
                    <a:lstStyle/>
                    <a:p>
                      <a:r>
                        <a:rPr sz="1725" b="1">
                          <a:solidFill>
                            <a:srgbClr val="FFFFFF"/>
                          </a:solidFill>
                          <a:latin typeface="Calibri"/>
                          <a:ea typeface="Calibri"/>
                          <a:cs typeface="Calibri"/>
                        </a:rPr>
                        <a:t>Plain meaning</a:t>
                      </a:r>
                    </a:p>
                  </a:txBody>
                  <a:tcPr marL="114300" marR="114300" marT="38100" marB="38100">
                    <a:lnR w="5715">
                      <a:solidFill>
                        <a:srgbClr val="D3DCE2"/>
                      </a:solidFill>
                      <a:prstDash val="solid"/>
                    </a:lnR>
                    <a:lnT w="5715">
                      <a:solidFill>
                        <a:srgbClr val="D3DCE2"/>
                      </a:solidFill>
                      <a:prstDash val="solid"/>
                    </a:lnT>
                    <a:lnB w="5715">
                      <a:solidFill>
                        <a:srgbClr val="D3DCE2"/>
                      </a:solidFill>
                      <a:prstDash val="solid"/>
                    </a:lnB>
                    <a:solidFill>
                      <a:srgbClr val="0D1B2A"/>
                    </a:solidFill>
                  </a:tcPr>
                </a:tc>
              </a:tr>
              <a:tr h="529828">
                <a:tc>
                  <a:txBody>
                    <a:bodyPr/>
                    <a:lstStyle/>
                    <a:p>
                      <a:r>
                        <a:rPr sz="1725">
                          <a:solidFill>
                            <a:srgbClr val="23313D"/>
                          </a:solidFill>
                          <a:latin typeface="Calibri"/>
                          <a:ea typeface="Calibri"/>
                          <a:cs typeface="Calibri"/>
                        </a:rPr>
                        <a:t>ACV: annual contract value</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Subscription contract value expressed per year</a:t>
                      </a:r>
                    </a:p>
                  </a:txBody>
                  <a:tcPr marL="114300" marR="114300" marT="38100" marB="38100">
                    <a:lnR w="5715">
                      <a:solidFill>
                        <a:srgbClr val="D3DCE2"/>
                      </a:solidFill>
                      <a:prstDash val="solid"/>
                    </a:lnR>
                    <a:lnB w="5715">
                      <a:solidFill>
                        <a:srgbClr val="D3DCE2"/>
                      </a:solidFill>
                      <a:prstDash val="solid"/>
                    </a:lnB>
                    <a:solidFill>
                      <a:srgbClr val="FFFFFF"/>
                    </a:solidFill>
                  </a:tcPr>
                </a:tc>
              </a:tr>
              <a:tr h="529828">
                <a:tc>
                  <a:txBody>
                    <a:bodyPr/>
                    <a:lstStyle/>
                    <a:p>
                      <a:r>
                        <a:rPr sz="1725">
                          <a:solidFill>
                            <a:srgbClr val="23313D"/>
                          </a:solidFill>
                          <a:latin typeface="Calibri"/>
                          <a:ea typeface="Calibri"/>
                          <a:cs typeface="Calibri"/>
                        </a:rPr>
                        <a:t>ARR: annual recurring revenue</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Annual run rate of active subscriptions at a reporting snapshot</a:t>
                      </a:r>
                    </a:p>
                  </a:txBody>
                  <a:tcPr marL="114300" marR="114300" marT="38100" marB="38100">
                    <a:lnR w="5715">
                      <a:solidFill>
                        <a:srgbClr val="D3DCE2"/>
                      </a:solidFill>
                      <a:prstDash val="solid"/>
                    </a:lnR>
                    <a:lnB w="5715">
                      <a:solidFill>
                        <a:srgbClr val="D3DCE2"/>
                      </a:solidFill>
                      <a:prstDash val="solid"/>
                    </a:lnB>
                    <a:solidFill>
                      <a:srgbClr val="F1F4F6"/>
                    </a:solidFill>
                  </a:tcPr>
                </a:tc>
              </a:tr>
              <a:tr h="529828">
                <a:tc>
                  <a:txBody>
                    <a:bodyPr/>
                    <a:lstStyle/>
                    <a:p>
                      <a:r>
                        <a:rPr sz="1725">
                          <a:solidFill>
                            <a:srgbClr val="23313D"/>
                          </a:solidFill>
                          <a:latin typeface="Calibri"/>
                          <a:ea typeface="Calibri"/>
                          <a:cs typeface="Calibri"/>
                        </a:rPr>
                        <a:t>GRR / NRR</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Opening-customer annual value retained without / with expansion</a:t>
                      </a:r>
                    </a:p>
                  </a:txBody>
                  <a:tcPr marL="114300" marR="114300" marT="38100" marB="38100">
                    <a:lnR w="5715">
                      <a:solidFill>
                        <a:srgbClr val="D3DCE2"/>
                      </a:solidFill>
                      <a:prstDash val="solid"/>
                    </a:lnR>
                    <a:lnB w="5715">
                      <a:solidFill>
                        <a:srgbClr val="D3DCE2"/>
                      </a:solidFill>
                      <a:prstDash val="solid"/>
                    </a:lnB>
                    <a:solidFill>
                      <a:srgbClr val="FFFFFF"/>
                    </a:solidFill>
                  </a:tcPr>
                </a:tc>
              </a:tr>
              <a:tr h="529828">
                <a:tc>
                  <a:txBody>
                    <a:bodyPr/>
                    <a:lstStyle/>
                    <a:p>
                      <a:r>
                        <a:rPr sz="1725">
                          <a:solidFill>
                            <a:srgbClr val="23313D"/>
                          </a:solidFill>
                          <a:latin typeface="Calibri"/>
                          <a:ea typeface="Calibri"/>
                          <a:cs typeface="Calibri"/>
                        </a:rPr>
                        <a:t>Precision / recall</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Cancellations per review. Share of cancellations reached.</a:t>
                      </a:r>
                    </a:p>
                  </a:txBody>
                  <a:tcPr marL="114300" marR="114300" marT="38100" marB="38100">
                    <a:lnR w="5715">
                      <a:solidFill>
                        <a:srgbClr val="D3DCE2"/>
                      </a:solidFill>
                      <a:prstDash val="solid"/>
                    </a:lnR>
                    <a:lnB w="5715">
                      <a:solidFill>
                        <a:srgbClr val="D3DCE2"/>
                      </a:solidFill>
                      <a:prstDash val="solid"/>
                    </a:lnB>
                    <a:solidFill>
                      <a:srgbClr val="F1F4F6"/>
                    </a:solidFill>
                  </a:tcPr>
                </a:tc>
              </a:tr>
              <a:tr h="529828">
                <a:tc>
                  <a:txBody>
                    <a:bodyPr/>
                    <a:lstStyle/>
                    <a:p>
                      <a:r>
                        <a:rPr sz="1725">
                          <a:solidFill>
                            <a:srgbClr val="23313D"/>
                          </a:solidFill>
                          <a:latin typeface="Calibri"/>
                          <a:ea typeface="Calibri"/>
                          <a:cs typeface="Calibri"/>
                        </a:rPr>
                        <a:t>Average precision (AP)</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A summary of precision as the ranking recovers more cancellations</a:t>
                      </a:r>
                    </a:p>
                  </a:txBody>
                  <a:tcPr marL="114300" marR="114300" marT="38100" marB="38100">
                    <a:lnR w="5715">
                      <a:solidFill>
                        <a:srgbClr val="D3DCE2"/>
                      </a:solidFill>
                      <a:prstDash val="solid"/>
                    </a:lnR>
                    <a:lnB w="5715">
                      <a:solidFill>
                        <a:srgbClr val="D3DCE2"/>
                      </a:solidFill>
                      <a:prstDash val="solid"/>
                    </a:lnB>
                    <a:solidFill>
                      <a:srgbClr val="FFFFFF"/>
                    </a:solidFill>
                  </a:tcPr>
                </a:tc>
              </a:tr>
              <a:tr h="529828">
                <a:tc>
                  <a:txBody>
                    <a:bodyPr/>
                    <a:lstStyle/>
                    <a:p>
                      <a:r>
                        <a:rPr sz="1725">
                          <a:solidFill>
                            <a:srgbClr val="23313D"/>
                          </a:solidFill>
                          <a:latin typeface="Calibri"/>
                          <a:ea typeface="Calibri"/>
                          <a:cs typeface="Calibri"/>
                        </a:rPr>
                        <a:t>P1 ticket / CSM</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1F4F6"/>
                    </a:solidFill>
                  </a:tcPr>
                </a:tc>
                <a:tc>
                  <a:txBody>
                    <a:bodyPr/>
                    <a:lstStyle/>
                    <a:p>
                      <a:r>
                        <a:rPr sz="1725">
                          <a:solidFill>
                            <a:srgbClr val="23313D"/>
                          </a:solidFill>
                          <a:latin typeface="Calibri"/>
                          <a:ea typeface="Calibri"/>
                          <a:cs typeface="Calibri"/>
                        </a:rPr>
                        <a:t>A critical support case / customer-success manager</a:t>
                      </a:r>
                    </a:p>
                  </a:txBody>
                  <a:tcPr marL="114300" marR="114300" marT="38100" marB="38100">
                    <a:lnR w="5715">
                      <a:solidFill>
                        <a:srgbClr val="D3DCE2"/>
                      </a:solidFill>
                      <a:prstDash val="solid"/>
                    </a:lnR>
                    <a:lnB w="5715">
                      <a:solidFill>
                        <a:srgbClr val="D3DCE2"/>
                      </a:solidFill>
                      <a:prstDash val="solid"/>
                    </a:lnB>
                    <a:solidFill>
                      <a:srgbClr val="F1F4F6"/>
                    </a:solidFill>
                  </a:tcPr>
                </a:tc>
              </a:tr>
              <a:tr h="529828">
                <a:tc>
                  <a:txBody>
                    <a:bodyPr/>
                    <a:lstStyle/>
                    <a:p>
                      <a:r>
                        <a:rPr sz="1725">
                          <a:solidFill>
                            <a:srgbClr val="23313D"/>
                          </a:solidFill>
                          <a:latin typeface="Calibri"/>
                          <a:ea typeface="Calibri"/>
                          <a:cs typeface="Calibri"/>
                        </a:rPr>
                        <a:t>Lead contract</a:t>
                      </a:r>
                    </a:p>
                  </a:txBody>
                  <a:tcPr marL="114300" marR="114300" marT="38100" marB="38100">
                    <a:lnL w="5715">
                      <a:solidFill>
                        <a:srgbClr val="D3DCE2"/>
                      </a:solidFill>
                      <a:prstDash val="solid"/>
                    </a:lnL>
                    <a:lnR w="5715">
                      <a:solidFill>
                        <a:srgbClr val="D3DCE2"/>
                      </a:solidFill>
                      <a:prstDash val="solid"/>
                    </a:lnR>
                    <a:lnB w="5715">
                      <a:solidFill>
                        <a:srgbClr val="D3DCE2"/>
                      </a:solidFill>
                      <a:prstDash val="solid"/>
                    </a:lnB>
                    <a:solidFill>
                      <a:srgbClr val="FFFFFF"/>
                    </a:solidFill>
                  </a:tcPr>
                </a:tc>
                <a:tc>
                  <a:txBody>
                    <a:bodyPr/>
                    <a:lstStyle/>
                    <a:p>
                      <a:r>
                        <a:rPr sz="1725">
                          <a:solidFill>
                            <a:srgbClr val="23313D"/>
                          </a:solidFill>
                          <a:latin typeface="Calibri"/>
                          <a:ea typeface="Calibri"/>
                          <a:cs typeface="Calibri"/>
                        </a:rPr>
                        <a:t>The highest-ranked contract used to represent an account for review</a:t>
                      </a:r>
                    </a:p>
                  </a:txBody>
                  <a:tcPr marL="114300" marR="114300" marT="38100" marB="38100">
                    <a:lnR w="5715">
                      <a:solidFill>
                        <a:srgbClr val="D3DCE2"/>
                      </a:solidFill>
                      <a:prstDash val="solid"/>
                    </a:lnR>
                    <a:lnB w="5715">
                      <a:solidFill>
                        <a:srgbClr val="D3DCE2"/>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A28CD49-6240-4463-BA1A-87167AAA1B71}"/>
              </a:ext>
            </a:extLst>
          </p:cNvPr>
          <p:cNvSpPr>
            <a:spLocks xmlns:a="http://schemas.openxmlformats.org/drawingml/2006/main" noGrp="1"/>
          </p:cNvSpPr>
          <p:nvPr/>
        </p:nvSpPr>
        <p:spPr>
          <a:xfrm xmlns:a="http://schemas.openxmlformats.org/drawingml/2006/main">
            <a:off x="533400" y="6248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271"/>
                </a:solidFill>
                <a:latin typeface="Calibri"/>
                <a:ea typeface="Calibri"/>
                <a:cs typeface="Calibri"/>
              </a:defRPr>
            </a:defPPr>
          </a:lstStyle>
          <a:p xmlns:a="http://schemas.openxmlformats.org/drawingml/2006/main">
            <a:pPr>
              <a:defRPr sz="1275" b="0">
                <a:solidFill>
                  <a:srgbClr val="526271"/>
                </a:solidFill>
                <a:latin typeface="Calibri"/>
                <a:ea typeface="Calibri"/>
                <a:cs typeface="Calibri"/>
              </a:defRPr>
            </a:pPr>
            <a:r>
              <a:rPr sz="1275" b="0">
                <a:solidFill>
                  <a:srgbClr val="526271"/>
                </a:solidFill>
                <a:latin typeface="Calibri"/>
                <a:ea typeface="Calibri"/>
                <a:cs typeface="Calibri"/>
              </a:rPr>
              <a:t>An uncalibrated risk score orders contracts. It does not establish the probability of cancellation or the amount an intervention could save.</a:t>
            </a:r>
          </a:p>
        </p:txBody>
      </p:sp>
    </p:spTree>
    <p:extLst>
      <p:ext uri="{BB962C8B-B14F-4D97-AF65-F5344CB8AC3E}">
        <p14:creationId xmlns:p14="http://schemas.microsoft.com/office/powerpoint/2010/main" val="9054031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2026-10-14T15:29:07.6380000Z</dcterms:created>
  <dcterms:modified xsi:type="dcterms:W3CDTF">2026-10-14T15:29:07.6380000Z</dcterms:modified>
</coreProperties>
</file>